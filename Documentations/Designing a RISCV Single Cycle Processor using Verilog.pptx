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sldIdLst>
    <p:sldId id="256" r:id="rId2"/>
    <p:sldId id="259" r:id="rId3"/>
    <p:sldId id="258" r:id="rId4"/>
    <p:sldId id="260" r:id="rId5"/>
    <p:sldId id="261" r:id="rId6"/>
    <p:sldId id="262" r:id="rId7"/>
    <p:sldId id="263" r:id="rId8"/>
    <p:sldId id="265" r:id="rId9"/>
    <p:sldId id="274" r:id="rId10"/>
    <p:sldId id="271" r:id="rId11"/>
    <p:sldId id="272" r:id="rId12"/>
    <p:sldId id="273" r:id="rId13"/>
    <p:sldId id="275" r:id="rId14"/>
    <p:sldId id="276" r:id="rId15"/>
    <p:sldId id="277" r:id="rId16"/>
    <p:sldId id="278" r:id="rId17"/>
    <p:sldId id="279" r:id="rId18"/>
    <p:sldId id="280" r:id="rId19"/>
    <p:sldId id="266" r:id="rId20"/>
    <p:sldId id="267" r:id="rId21"/>
    <p:sldId id="268" r:id="rId22"/>
    <p:sldId id="270" r:id="rId23"/>
    <p:sldId id="281" r:id="rId24"/>
    <p:sldId id="282" r:id="rId25"/>
    <p:sldId id="283" r:id="rId26"/>
    <p:sldId id="284" r:id="rId27"/>
    <p:sldId id="285" r:id="rId28"/>
    <p:sldId id="287" r:id="rId29"/>
    <p:sldId id="288" r:id="rId30"/>
    <p:sldId id="289" r:id="rId31"/>
    <p:sldId id="290" r:id="rId32"/>
    <p:sldId id="291" r:id="rId33"/>
    <p:sldId id="292" r:id="rId34"/>
    <p:sldId id="293" r:id="rId35"/>
    <p:sldId id="294" r:id="rId36"/>
    <p:sldId id="295" r:id="rId37"/>
    <p:sldId id="296" r:id="rId38"/>
    <p:sldId id="297" r:id="rId39"/>
    <p:sldId id="299" r:id="rId40"/>
    <p:sldId id="300" r:id="rId41"/>
    <p:sldId id="301" r:id="rId42"/>
    <p:sldId id="302" r:id="rId43"/>
    <p:sldId id="303" r:id="rId44"/>
    <p:sldId id="304" r:id="rId45"/>
    <p:sldId id="305" r:id="rId46"/>
    <p:sldId id="30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1" autoAdjust="0"/>
    <p:restoredTop sz="94474" autoAdjust="0"/>
  </p:normalViewPr>
  <p:slideViewPr>
    <p:cSldViewPr snapToGrid="0">
      <p:cViewPr varScale="1">
        <p:scale>
          <a:sx n="71" d="100"/>
          <a:sy n="71" d="100"/>
        </p:scale>
        <p:origin x="5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88714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82162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91401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88128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46846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0257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925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3483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2987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53653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8686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77277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0" r:id="rId6"/>
    <p:sldLayoutId id="2147483686" r:id="rId7"/>
    <p:sldLayoutId id="2147483687" r:id="rId8"/>
    <p:sldLayoutId id="2147483688" r:id="rId9"/>
    <p:sldLayoutId id="2147483689" r:id="rId10"/>
    <p:sldLayoutId id="214748369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edaplayground.com/x/XeZr"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hyperlink" Target="https://fraserinnovations.com/risc-v/risc-v-instruction-set-explan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A9B45F-B216-5476-0BFF-12E4E9985240}"/>
              </a:ext>
            </a:extLst>
          </p:cNvPr>
          <p:cNvSpPr>
            <a:spLocks noGrp="1"/>
          </p:cNvSpPr>
          <p:nvPr>
            <p:ph type="ctrTitle"/>
          </p:nvPr>
        </p:nvSpPr>
        <p:spPr>
          <a:xfrm>
            <a:off x="703400" y="908651"/>
            <a:ext cx="3620882" cy="3640345"/>
          </a:xfrm>
        </p:spPr>
        <p:txBody>
          <a:bodyPr anchor="t">
            <a:normAutofit/>
          </a:bodyPr>
          <a:lstStyle/>
          <a:p>
            <a:pPr>
              <a:lnSpc>
                <a:spcPct val="90000"/>
              </a:lnSpc>
            </a:pPr>
            <a:r>
              <a:rPr lang="en-IN" sz="4000" dirty="0"/>
              <a:t>Designing a </a:t>
            </a:r>
            <a:r>
              <a:rPr lang="en-IN" sz="4000"/>
              <a:t>Single Cycle RISCV </a:t>
            </a:r>
            <a:r>
              <a:rPr lang="en-IN" sz="4000" dirty="0"/>
              <a:t>Processor using Verilog HDL</a:t>
            </a:r>
          </a:p>
        </p:txBody>
      </p:sp>
      <p:sp>
        <p:nvSpPr>
          <p:cNvPr id="3" name="Subtitle 2">
            <a:extLst>
              <a:ext uri="{FF2B5EF4-FFF2-40B4-BE49-F238E27FC236}">
                <a16:creationId xmlns:a16="http://schemas.microsoft.com/office/drawing/2014/main" id="{5838DEFD-C329-F98E-83EA-A9E683D3E926}"/>
              </a:ext>
            </a:extLst>
          </p:cNvPr>
          <p:cNvSpPr>
            <a:spLocks noGrp="1"/>
          </p:cNvSpPr>
          <p:nvPr>
            <p:ph type="subTitle" idx="1"/>
          </p:nvPr>
        </p:nvSpPr>
        <p:spPr>
          <a:xfrm>
            <a:off x="703400" y="4945712"/>
            <a:ext cx="3380437" cy="850392"/>
          </a:xfrm>
        </p:spPr>
        <p:txBody>
          <a:bodyPr anchor="b">
            <a:normAutofit/>
          </a:bodyPr>
          <a:lstStyle/>
          <a:p>
            <a:r>
              <a:rPr lang="en-IN" sz="3200" b="1" i="1" dirty="0"/>
              <a:t>By Anish Rooj</a:t>
            </a:r>
          </a:p>
        </p:txBody>
      </p:sp>
      <p:cxnSp>
        <p:nvCxnSpPr>
          <p:cNvPr id="31" name="Straight Connector 3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n abstract genetic concept">
            <a:extLst>
              <a:ext uri="{FF2B5EF4-FFF2-40B4-BE49-F238E27FC236}">
                <a16:creationId xmlns:a16="http://schemas.microsoft.com/office/drawing/2014/main" id="{9C3F2500-D2B8-BBEB-4F02-901C5A5E3B33}"/>
              </a:ext>
            </a:extLst>
          </p:cNvPr>
          <p:cNvPicPr>
            <a:picLocks noChangeAspect="1"/>
          </p:cNvPicPr>
          <p:nvPr/>
        </p:nvPicPr>
        <p:blipFill>
          <a:blip r:embed="rId2"/>
          <a:srcRect t="5714" r="2" b="547"/>
          <a:stretch>
            <a:fillRect/>
          </a:stretch>
        </p:blipFill>
        <p:spPr>
          <a:xfrm>
            <a:off x="4876158" y="10"/>
            <a:ext cx="7315841" cy="6857990"/>
          </a:xfrm>
          <a:prstGeom prst="rect">
            <a:avLst/>
          </a:prstGeom>
        </p:spPr>
      </p:pic>
    </p:spTree>
    <p:extLst>
      <p:ext uri="{BB962C8B-B14F-4D97-AF65-F5344CB8AC3E}">
        <p14:creationId xmlns:p14="http://schemas.microsoft.com/office/powerpoint/2010/main" val="268382916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212C5-C29F-34B1-C638-7BCD54B9AFAB}"/>
              </a:ext>
            </a:extLst>
          </p:cNvPr>
          <p:cNvSpPr>
            <a:spLocks noGrp="1"/>
          </p:cNvSpPr>
          <p:nvPr>
            <p:ph idx="1"/>
          </p:nvPr>
        </p:nvSpPr>
        <p:spPr>
          <a:xfrm>
            <a:off x="700635" y="832513"/>
            <a:ext cx="10691265" cy="5129375"/>
          </a:xfrm>
        </p:spPr>
        <p:txBody>
          <a:bodyPr/>
          <a:lstStyle/>
          <a:p>
            <a:pPr marL="0" indent="0">
              <a:buNone/>
            </a:pPr>
            <a:r>
              <a:rPr lang="en-US" dirty="0"/>
              <a:t>Suppose, a user writes a C program and runs it. What exactly happens? </a:t>
            </a:r>
          </a:p>
          <a:p>
            <a:pPr marL="0" indent="0">
              <a:buNone/>
            </a:pPr>
            <a:br>
              <a:rPr lang="en-US" dirty="0"/>
            </a:br>
            <a:r>
              <a:rPr lang="en-US" dirty="0"/>
              <a:t>1. The </a:t>
            </a:r>
            <a:r>
              <a:rPr lang="en-US" b="1" dirty="0"/>
              <a:t>Compiler</a:t>
            </a:r>
            <a:r>
              <a:rPr lang="en-US" dirty="0"/>
              <a:t> processes the </a:t>
            </a:r>
            <a:r>
              <a:rPr lang="en-US" b="1" dirty="0"/>
              <a:t>.c</a:t>
            </a:r>
            <a:r>
              <a:rPr lang="en-US" dirty="0"/>
              <a:t> file through multiple stages (preprocessing, compilation, assembly, and linking), ultimately converting it into machine-level code understood by the processor.</a:t>
            </a:r>
          </a:p>
          <a:p>
            <a:pPr marL="0" indent="0">
              <a:buNone/>
            </a:pPr>
            <a:r>
              <a:rPr lang="en-US" dirty="0"/>
              <a:t>2. This machine code consists of low-level instructions (typically 32-bit wide for </a:t>
            </a:r>
            <a:r>
              <a:rPr lang="en-US" b="1" dirty="0"/>
              <a:t>RISC</a:t>
            </a:r>
            <a:r>
              <a:rPr lang="en-US" dirty="0"/>
              <a:t> architectures), which a single-cycle processor can execute step by step—one instruction per clock cycle.</a:t>
            </a:r>
          </a:p>
          <a:p>
            <a:pPr marL="0" indent="0">
              <a:buNone/>
            </a:pPr>
            <a:r>
              <a:rPr lang="en-US" dirty="0"/>
              <a:t>3. These </a:t>
            </a:r>
            <a:r>
              <a:rPr lang="en-US" b="1" dirty="0"/>
              <a:t>Instructions</a:t>
            </a:r>
            <a:r>
              <a:rPr lang="en-US" dirty="0"/>
              <a:t> are loaded into memory, and the </a:t>
            </a:r>
            <a:r>
              <a:rPr lang="en-US" b="1" dirty="0"/>
              <a:t>Program Counter</a:t>
            </a:r>
            <a:r>
              <a:rPr lang="en-US" dirty="0"/>
              <a:t> (PC) is initialized (usually to address 0). From there, the processor begins executing instructions sequentially using the </a:t>
            </a:r>
            <a:r>
              <a:rPr lang="en-US" b="1" dirty="0"/>
              <a:t>Fetch-Decode-Execute</a:t>
            </a:r>
            <a:r>
              <a:rPr lang="en-US" dirty="0"/>
              <a:t> cycle.</a:t>
            </a:r>
            <a:endParaRPr lang="en-IN" dirty="0"/>
          </a:p>
        </p:txBody>
      </p:sp>
      <p:sp>
        <p:nvSpPr>
          <p:cNvPr id="4" name="Title 1">
            <a:extLst>
              <a:ext uri="{FF2B5EF4-FFF2-40B4-BE49-F238E27FC236}">
                <a16:creationId xmlns:a16="http://schemas.microsoft.com/office/drawing/2014/main" id="{53CB28D1-7C6A-1080-3437-2178F37BD1C2}"/>
              </a:ext>
            </a:extLst>
          </p:cNvPr>
          <p:cNvSpPr txBox="1">
            <a:spLocks/>
          </p:cNvSpPr>
          <p:nvPr/>
        </p:nvSpPr>
        <p:spPr>
          <a:xfrm>
            <a:off x="750367" y="135684"/>
            <a:ext cx="10691265" cy="619594"/>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pPr algn="ctr"/>
            <a:r>
              <a:rPr lang="en-US" dirty="0"/>
              <a:t>What happens when you run a c program</a:t>
            </a:r>
            <a:endParaRPr lang="en-IN" dirty="0"/>
          </a:p>
        </p:txBody>
      </p:sp>
    </p:spTree>
    <p:extLst>
      <p:ext uri="{BB962C8B-B14F-4D97-AF65-F5344CB8AC3E}">
        <p14:creationId xmlns:p14="http://schemas.microsoft.com/office/powerpoint/2010/main" val="320810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6FB6-025A-F1FA-6DF6-9D6B07D38B41}"/>
              </a:ext>
            </a:extLst>
          </p:cNvPr>
          <p:cNvSpPr>
            <a:spLocks noGrp="1"/>
          </p:cNvSpPr>
          <p:nvPr>
            <p:ph type="title"/>
          </p:nvPr>
        </p:nvSpPr>
        <p:spPr>
          <a:xfrm>
            <a:off x="750367" y="135684"/>
            <a:ext cx="10691265" cy="619594"/>
          </a:xfrm>
        </p:spPr>
        <p:txBody>
          <a:bodyPr>
            <a:normAutofit fontScale="90000"/>
          </a:bodyPr>
          <a:lstStyle/>
          <a:p>
            <a:pPr algn="ctr"/>
            <a:r>
              <a:rPr lang="en-US" dirty="0"/>
              <a:t>What happens when you run a c program</a:t>
            </a:r>
            <a:endParaRPr lang="en-IN" dirty="0"/>
          </a:p>
        </p:txBody>
      </p:sp>
      <p:sp>
        <p:nvSpPr>
          <p:cNvPr id="4" name="Rectangle 3">
            <a:extLst>
              <a:ext uri="{FF2B5EF4-FFF2-40B4-BE49-F238E27FC236}">
                <a16:creationId xmlns:a16="http://schemas.microsoft.com/office/drawing/2014/main" id="{E50BCBA1-9F19-8430-F8C5-11BEF9BC023F}"/>
              </a:ext>
            </a:extLst>
          </p:cNvPr>
          <p:cNvSpPr/>
          <p:nvPr/>
        </p:nvSpPr>
        <p:spPr>
          <a:xfrm>
            <a:off x="899031" y="2501488"/>
            <a:ext cx="1783692" cy="1135743"/>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t>hellloWorld.c</a:t>
            </a:r>
            <a:endParaRPr lang="en-IN" b="1" dirty="0"/>
          </a:p>
        </p:txBody>
      </p:sp>
      <p:sp>
        <p:nvSpPr>
          <p:cNvPr id="5" name="Rectangle 4">
            <a:extLst>
              <a:ext uri="{FF2B5EF4-FFF2-40B4-BE49-F238E27FC236}">
                <a16:creationId xmlns:a16="http://schemas.microsoft.com/office/drawing/2014/main" id="{7A29DF56-B483-5DB3-C21A-107EA8271D16}"/>
              </a:ext>
            </a:extLst>
          </p:cNvPr>
          <p:cNvSpPr/>
          <p:nvPr/>
        </p:nvSpPr>
        <p:spPr>
          <a:xfrm>
            <a:off x="3003601" y="2196689"/>
            <a:ext cx="6052459" cy="1745343"/>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ysClr val="windowText" lastClr="000000"/>
              </a:solidFill>
            </a:endParaRPr>
          </a:p>
        </p:txBody>
      </p:sp>
      <p:sp>
        <p:nvSpPr>
          <p:cNvPr id="6" name="Rectangle 5">
            <a:extLst>
              <a:ext uri="{FF2B5EF4-FFF2-40B4-BE49-F238E27FC236}">
                <a16:creationId xmlns:a16="http://schemas.microsoft.com/office/drawing/2014/main" id="{601F487D-E1B0-A2BB-9EDF-B31114390F96}"/>
              </a:ext>
            </a:extLst>
          </p:cNvPr>
          <p:cNvSpPr/>
          <p:nvPr/>
        </p:nvSpPr>
        <p:spPr>
          <a:xfrm>
            <a:off x="9584412" y="2197791"/>
            <a:ext cx="1611086" cy="17453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 name="Rectangle 6">
            <a:extLst>
              <a:ext uri="{FF2B5EF4-FFF2-40B4-BE49-F238E27FC236}">
                <a16:creationId xmlns:a16="http://schemas.microsoft.com/office/drawing/2014/main" id="{0D48DC66-11FC-B85D-F33A-48CD478B9683}"/>
              </a:ext>
            </a:extLst>
          </p:cNvPr>
          <p:cNvSpPr/>
          <p:nvPr/>
        </p:nvSpPr>
        <p:spPr>
          <a:xfrm>
            <a:off x="3206802" y="2445247"/>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Pre-processing</a:t>
            </a:r>
          </a:p>
        </p:txBody>
      </p:sp>
      <p:sp>
        <p:nvSpPr>
          <p:cNvPr id="8" name="Rectangle 7">
            <a:extLst>
              <a:ext uri="{FF2B5EF4-FFF2-40B4-BE49-F238E27FC236}">
                <a16:creationId xmlns:a16="http://schemas.microsoft.com/office/drawing/2014/main" id="{44F05038-D07F-40FE-EE1D-CE744DA26809}"/>
              </a:ext>
            </a:extLst>
          </p:cNvPr>
          <p:cNvSpPr/>
          <p:nvPr/>
        </p:nvSpPr>
        <p:spPr>
          <a:xfrm>
            <a:off x="4716291" y="2445247"/>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Compilation</a:t>
            </a:r>
          </a:p>
        </p:txBody>
      </p:sp>
      <p:sp>
        <p:nvSpPr>
          <p:cNvPr id="9" name="Rectangle 8">
            <a:extLst>
              <a:ext uri="{FF2B5EF4-FFF2-40B4-BE49-F238E27FC236}">
                <a16:creationId xmlns:a16="http://schemas.microsoft.com/office/drawing/2014/main" id="{548F4097-94F7-183E-E6CA-E0E89DA08134}"/>
              </a:ext>
            </a:extLst>
          </p:cNvPr>
          <p:cNvSpPr/>
          <p:nvPr/>
        </p:nvSpPr>
        <p:spPr>
          <a:xfrm>
            <a:off x="6225780" y="2440194"/>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Assembly</a:t>
            </a:r>
          </a:p>
        </p:txBody>
      </p:sp>
      <p:sp>
        <p:nvSpPr>
          <p:cNvPr id="10" name="Rectangle 9">
            <a:extLst>
              <a:ext uri="{FF2B5EF4-FFF2-40B4-BE49-F238E27FC236}">
                <a16:creationId xmlns:a16="http://schemas.microsoft.com/office/drawing/2014/main" id="{F8D6CA31-7A80-59A8-A748-622F3E012E35}"/>
              </a:ext>
            </a:extLst>
          </p:cNvPr>
          <p:cNvSpPr/>
          <p:nvPr/>
        </p:nvSpPr>
        <p:spPr>
          <a:xfrm>
            <a:off x="7668526" y="2440194"/>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Linking</a:t>
            </a:r>
          </a:p>
        </p:txBody>
      </p:sp>
      <p:sp>
        <p:nvSpPr>
          <p:cNvPr id="11" name="Rectangle 10">
            <a:extLst>
              <a:ext uri="{FF2B5EF4-FFF2-40B4-BE49-F238E27FC236}">
                <a16:creationId xmlns:a16="http://schemas.microsoft.com/office/drawing/2014/main" id="{68284614-2D42-32F8-9408-E47912BC5D50}"/>
              </a:ext>
            </a:extLst>
          </p:cNvPr>
          <p:cNvSpPr/>
          <p:nvPr/>
        </p:nvSpPr>
        <p:spPr>
          <a:xfrm>
            <a:off x="899031" y="4350802"/>
            <a:ext cx="8157029" cy="1611086"/>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p>
        </p:txBody>
      </p:sp>
      <p:cxnSp>
        <p:nvCxnSpPr>
          <p:cNvPr id="12" name="Straight Arrow Connector 11">
            <a:extLst>
              <a:ext uri="{FF2B5EF4-FFF2-40B4-BE49-F238E27FC236}">
                <a16:creationId xmlns:a16="http://schemas.microsoft.com/office/drawing/2014/main" id="{0A974552-386B-DDD3-205E-FDF161D771A0}"/>
              </a:ext>
            </a:extLst>
          </p:cNvPr>
          <p:cNvCxnSpPr>
            <a:cxnSpLocks/>
          </p:cNvCxnSpPr>
          <p:nvPr/>
        </p:nvCxnSpPr>
        <p:spPr>
          <a:xfrm>
            <a:off x="9056060" y="2906465"/>
            <a:ext cx="49348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90A87FDC-6326-E634-93D3-3E1225A1D5FC}"/>
              </a:ext>
            </a:extLst>
          </p:cNvPr>
          <p:cNvCxnSpPr>
            <a:stCxn id="6" idx="2"/>
            <a:endCxn id="11" idx="3"/>
          </p:cNvCxnSpPr>
          <p:nvPr/>
        </p:nvCxnSpPr>
        <p:spPr>
          <a:xfrm flipH="1">
            <a:off x="9056060" y="3943136"/>
            <a:ext cx="1333895" cy="1213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F53878DE-AE44-034D-22FC-8156120B3FF9}"/>
              </a:ext>
            </a:extLst>
          </p:cNvPr>
          <p:cNvSpPr/>
          <p:nvPr/>
        </p:nvSpPr>
        <p:spPr>
          <a:xfrm>
            <a:off x="4120783" y="3585272"/>
            <a:ext cx="3335152" cy="369332"/>
          </a:xfrm>
          <a:prstGeom prst="rect">
            <a:avLst/>
          </a:prstGeom>
          <a:noFill/>
        </p:spPr>
        <p:txBody>
          <a:bodyPr wrap="square" lIns="91440" tIns="45720" rIns="91440" bIns="45720">
            <a:spAutoFit/>
          </a:bodyPr>
          <a:lstStyle/>
          <a:p>
            <a:pPr algn="ctr"/>
            <a:r>
              <a:rPr lang="en-US" b="1" dirty="0">
                <a:ln w="0"/>
                <a:effectLst>
                  <a:outerShdw blurRad="38100" dist="19050" dir="2700000" algn="tl" rotWithShape="0">
                    <a:schemeClr val="dk1">
                      <a:alpha val="40000"/>
                    </a:schemeClr>
                  </a:outerShdw>
                </a:effectLst>
              </a:rPr>
              <a:t>Compiler</a:t>
            </a:r>
            <a:endParaRPr lang="en-US" sz="1400" b="1" cap="none" spc="0" dirty="0">
              <a:ln w="0"/>
              <a:solidFill>
                <a:schemeClr val="tx1"/>
              </a:solidFill>
              <a:effectLst>
                <a:outerShdw blurRad="38100" dist="19050" dir="2700000" algn="tl" rotWithShape="0">
                  <a:schemeClr val="dk1">
                    <a:alpha val="40000"/>
                  </a:schemeClr>
                </a:outerShdw>
              </a:effectLst>
            </a:endParaRPr>
          </a:p>
        </p:txBody>
      </p:sp>
      <p:sp>
        <p:nvSpPr>
          <p:cNvPr id="15" name="Rectangle 14">
            <a:extLst>
              <a:ext uri="{FF2B5EF4-FFF2-40B4-BE49-F238E27FC236}">
                <a16:creationId xmlns:a16="http://schemas.microsoft.com/office/drawing/2014/main" id="{CE819913-F057-0997-01EE-78C3AEC40AFD}"/>
              </a:ext>
            </a:extLst>
          </p:cNvPr>
          <p:cNvSpPr/>
          <p:nvPr/>
        </p:nvSpPr>
        <p:spPr>
          <a:xfrm>
            <a:off x="144290" y="3279232"/>
            <a:ext cx="3335152" cy="369332"/>
          </a:xfrm>
          <a:prstGeom prst="rect">
            <a:avLst/>
          </a:prstGeom>
          <a:noFill/>
        </p:spPr>
        <p:txBody>
          <a:bodyPr wrap="square" lIns="91440" tIns="45720" rIns="91440" bIns="45720">
            <a:spAutoFit/>
          </a:bodyPr>
          <a:lstStyle/>
          <a:p>
            <a:pPr algn="ctr"/>
            <a:r>
              <a:rPr lang="en-US" b="1" dirty="0">
                <a:ln w="0"/>
                <a:effectLst>
                  <a:outerShdw blurRad="38100" dist="19050" dir="2700000" algn="tl" rotWithShape="0">
                    <a:schemeClr val="dk1">
                      <a:alpha val="40000"/>
                    </a:schemeClr>
                  </a:outerShdw>
                </a:effectLst>
              </a:rPr>
              <a:t>IDE</a:t>
            </a:r>
            <a:endParaRPr lang="en-US" sz="1400" b="1" cap="none" spc="0" dirty="0">
              <a:ln w="0"/>
              <a:solidFill>
                <a:schemeClr val="tx1"/>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03984C9D-FC43-A366-5C95-CA5CFE968E69}"/>
              </a:ext>
            </a:extLst>
          </p:cNvPr>
          <p:cNvSpPr/>
          <p:nvPr/>
        </p:nvSpPr>
        <p:spPr>
          <a:xfrm>
            <a:off x="7540245" y="4722730"/>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Fetch</a:t>
            </a:r>
          </a:p>
        </p:txBody>
      </p:sp>
      <p:sp>
        <p:nvSpPr>
          <p:cNvPr id="17" name="Rectangle 16">
            <a:extLst>
              <a:ext uri="{FF2B5EF4-FFF2-40B4-BE49-F238E27FC236}">
                <a16:creationId xmlns:a16="http://schemas.microsoft.com/office/drawing/2014/main" id="{068A0AE5-5C72-7319-F343-07C9EA0244DF}"/>
              </a:ext>
            </a:extLst>
          </p:cNvPr>
          <p:cNvSpPr/>
          <p:nvPr/>
        </p:nvSpPr>
        <p:spPr>
          <a:xfrm>
            <a:off x="6024431" y="4722730"/>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Decode</a:t>
            </a:r>
          </a:p>
        </p:txBody>
      </p:sp>
      <p:sp>
        <p:nvSpPr>
          <p:cNvPr id="18" name="Rectangle 17">
            <a:extLst>
              <a:ext uri="{FF2B5EF4-FFF2-40B4-BE49-F238E27FC236}">
                <a16:creationId xmlns:a16="http://schemas.microsoft.com/office/drawing/2014/main" id="{19DEED3E-6BA9-5DDC-EAB5-1DA8E3289A59}"/>
              </a:ext>
            </a:extLst>
          </p:cNvPr>
          <p:cNvSpPr/>
          <p:nvPr/>
        </p:nvSpPr>
        <p:spPr>
          <a:xfrm>
            <a:off x="4461300" y="4722730"/>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Execute</a:t>
            </a:r>
          </a:p>
        </p:txBody>
      </p:sp>
      <p:sp>
        <p:nvSpPr>
          <p:cNvPr id="19" name="Rectangle 18">
            <a:extLst>
              <a:ext uri="{FF2B5EF4-FFF2-40B4-BE49-F238E27FC236}">
                <a16:creationId xmlns:a16="http://schemas.microsoft.com/office/drawing/2014/main" id="{26264149-4E53-1A9E-956A-7197286E9157}"/>
              </a:ext>
            </a:extLst>
          </p:cNvPr>
          <p:cNvSpPr/>
          <p:nvPr/>
        </p:nvSpPr>
        <p:spPr>
          <a:xfrm>
            <a:off x="2803536" y="4722730"/>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Memory</a:t>
            </a:r>
            <a:br>
              <a:rPr lang="en-IN" b="1" dirty="0"/>
            </a:br>
            <a:r>
              <a:rPr lang="en-IN" b="1" dirty="0"/>
              <a:t>Access</a:t>
            </a:r>
          </a:p>
        </p:txBody>
      </p:sp>
      <p:sp>
        <p:nvSpPr>
          <p:cNvPr id="20" name="Rectangle 19">
            <a:extLst>
              <a:ext uri="{FF2B5EF4-FFF2-40B4-BE49-F238E27FC236}">
                <a16:creationId xmlns:a16="http://schemas.microsoft.com/office/drawing/2014/main" id="{F287F7B4-EC60-C02C-048A-EEAEDF5056EB}"/>
              </a:ext>
            </a:extLst>
          </p:cNvPr>
          <p:cNvSpPr/>
          <p:nvPr/>
        </p:nvSpPr>
        <p:spPr>
          <a:xfrm>
            <a:off x="1145772" y="4722730"/>
            <a:ext cx="1277257"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Write</a:t>
            </a:r>
            <a:br>
              <a:rPr lang="en-IN" b="1" dirty="0"/>
            </a:br>
            <a:r>
              <a:rPr lang="en-IN" b="1" dirty="0"/>
              <a:t>Back</a:t>
            </a:r>
          </a:p>
        </p:txBody>
      </p:sp>
      <p:cxnSp>
        <p:nvCxnSpPr>
          <p:cNvPr id="21" name="Straight Arrow Connector 20">
            <a:extLst>
              <a:ext uri="{FF2B5EF4-FFF2-40B4-BE49-F238E27FC236}">
                <a16:creationId xmlns:a16="http://schemas.microsoft.com/office/drawing/2014/main" id="{59E01B02-93C6-6BDF-EE8D-64233C4B7218}"/>
              </a:ext>
            </a:extLst>
          </p:cNvPr>
          <p:cNvCxnSpPr>
            <a:stCxn id="16" idx="1"/>
            <a:endCxn id="17" idx="3"/>
          </p:cNvCxnSpPr>
          <p:nvPr/>
        </p:nvCxnSpPr>
        <p:spPr>
          <a:xfrm flipH="1">
            <a:off x="7301688" y="5187187"/>
            <a:ext cx="2385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9F7F49AF-7938-87F6-042E-0A97E1E4C841}"/>
              </a:ext>
            </a:extLst>
          </p:cNvPr>
          <p:cNvCxnSpPr>
            <a:stCxn id="17" idx="1"/>
            <a:endCxn id="18" idx="3"/>
          </p:cNvCxnSpPr>
          <p:nvPr/>
        </p:nvCxnSpPr>
        <p:spPr>
          <a:xfrm flipH="1">
            <a:off x="5738557" y="5187187"/>
            <a:ext cx="285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16B6A16-6401-54FA-E006-4C9BB21445FF}"/>
              </a:ext>
            </a:extLst>
          </p:cNvPr>
          <p:cNvCxnSpPr>
            <a:stCxn id="18" idx="1"/>
            <a:endCxn id="19" idx="3"/>
          </p:cNvCxnSpPr>
          <p:nvPr/>
        </p:nvCxnSpPr>
        <p:spPr>
          <a:xfrm flipH="1">
            <a:off x="4080793" y="5187187"/>
            <a:ext cx="3805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55CEE6C7-40BE-BBC5-AF25-7659E480CF57}"/>
              </a:ext>
            </a:extLst>
          </p:cNvPr>
          <p:cNvCxnSpPr>
            <a:stCxn id="19" idx="1"/>
            <a:endCxn id="20" idx="3"/>
          </p:cNvCxnSpPr>
          <p:nvPr/>
        </p:nvCxnSpPr>
        <p:spPr>
          <a:xfrm flipH="1">
            <a:off x="2423029" y="5187187"/>
            <a:ext cx="3805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76CB2023-C45E-E6A7-D0B4-9B4C73F076BD}"/>
              </a:ext>
            </a:extLst>
          </p:cNvPr>
          <p:cNvCxnSpPr>
            <a:cxnSpLocks/>
            <a:endCxn id="8" idx="1"/>
          </p:cNvCxnSpPr>
          <p:nvPr/>
        </p:nvCxnSpPr>
        <p:spPr>
          <a:xfrm>
            <a:off x="4484059" y="2909704"/>
            <a:ext cx="232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Rounded Corners 25">
            <a:extLst>
              <a:ext uri="{FF2B5EF4-FFF2-40B4-BE49-F238E27FC236}">
                <a16:creationId xmlns:a16="http://schemas.microsoft.com/office/drawing/2014/main" id="{2DD0EA9B-0029-D00B-56E8-F9EACA5E08F7}"/>
              </a:ext>
            </a:extLst>
          </p:cNvPr>
          <p:cNvSpPr/>
          <p:nvPr/>
        </p:nvSpPr>
        <p:spPr>
          <a:xfrm>
            <a:off x="3090689" y="816963"/>
            <a:ext cx="1509484" cy="1318039"/>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1" dirty="0">
                <a:solidFill>
                  <a:schemeClr val="tx1"/>
                </a:solidFill>
              </a:rPr>
              <a:t>Handles directives like #include, #define.</a:t>
            </a:r>
          </a:p>
          <a:p>
            <a:r>
              <a:rPr lang="en-US" sz="1000" b="1" dirty="0">
                <a:solidFill>
                  <a:schemeClr val="tx1"/>
                </a:solidFill>
              </a:rPr>
              <a:t>Expands macros, includes headers.</a:t>
            </a:r>
          </a:p>
          <a:p>
            <a:r>
              <a:rPr lang="en-US" sz="1000" b="1" dirty="0">
                <a:solidFill>
                  <a:schemeClr val="tx1"/>
                </a:solidFill>
              </a:rPr>
              <a:t>Result: a "pure" C file (.</a:t>
            </a:r>
            <a:r>
              <a:rPr lang="en-US" sz="1000" b="1" dirty="0" err="1">
                <a:solidFill>
                  <a:schemeClr val="tx1"/>
                </a:solidFill>
              </a:rPr>
              <a:t>i</a:t>
            </a:r>
            <a:r>
              <a:rPr lang="en-US" sz="1000" b="1" dirty="0">
                <a:solidFill>
                  <a:schemeClr val="tx1"/>
                </a:solidFill>
              </a:rPr>
              <a:t>).</a:t>
            </a:r>
            <a:endParaRPr lang="en-IN" sz="1000" b="1" dirty="0">
              <a:solidFill>
                <a:schemeClr val="tx1"/>
              </a:solidFill>
            </a:endParaRPr>
          </a:p>
        </p:txBody>
      </p:sp>
      <p:cxnSp>
        <p:nvCxnSpPr>
          <p:cNvPr id="27" name="Straight Arrow Connector 26">
            <a:extLst>
              <a:ext uri="{FF2B5EF4-FFF2-40B4-BE49-F238E27FC236}">
                <a16:creationId xmlns:a16="http://schemas.microsoft.com/office/drawing/2014/main" id="{B3463D1F-282B-FEE9-69D4-E19FF176A91E}"/>
              </a:ext>
            </a:extLst>
          </p:cNvPr>
          <p:cNvCxnSpPr>
            <a:cxnSpLocks/>
            <a:stCxn id="7" idx="0"/>
            <a:endCxn id="26" idx="2"/>
          </p:cNvCxnSpPr>
          <p:nvPr/>
        </p:nvCxnSpPr>
        <p:spPr>
          <a:xfrm flipV="1">
            <a:off x="3845431" y="2135002"/>
            <a:ext cx="0" cy="3102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Rounded Corners 27">
            <a:extLst>
              <a:ext uri="{FF2B5EF4-FFF2-40B4-BE49-F238E27FC236}">
                <a16:creationId xmlns:a16="http://schemas.microsoft.com/office/drawing/2014/main" id="{71D272D2-7424-029F-35F5-C109ACC09D6A}"/>
              </a:ext>
            </a:extLst>
          </p:cNvPr>
          <p:cNvSpPr/>
          <p:nvPr/>
        </p:nvSpPr>
        <p:spPr>
          <a:xfrm>
            <a:off x="4658241" y="845015"/>
            <a:ext cx="1457899" cy="1284936"/>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dirty="0">
                <a:solidFill>
                  <a:schemeClr val="tx1"/>
                </a:solidFill>
              </a:rPr>
              <a:t>Converts C code → assembly (machine instructions in human-readable format).</a:t>
            </a:r>
          </a:p>
          <a:p>
            <a:r>
              <a:rPr lang="en-US" sz="900" b="1" dirty="0">
                <a:solidFill>
                  <a:schemeClr val="tx1"/>
                </a:solidFill>
              </a:rPr>
              <a:t>Performs optimizations, type checking, etc.</a:t>
            </a:r>
          </a:p>
          <a:p>
            <a:r>
              <a:rPr lang="en-US" sz="900" b="1" dirty="0">
                <a:solidFill>
                  <a:schemeClr val="tx1"/>
                </a:solidFill>
              </a:rPr>
              <a:t>Result: an assembly file (.s).</a:t>
            </a:r>
            <a:endParaRPr lang="en-IN" sz="900" b="1" dirty="0">
              <a:solidFill>
                <a:schemeClr val="tx1"/>
              </a:solidFill>
            </a:endParaRPr>
          </a:p>
        </p:txBody>
      </p:sp>
      <p:sp>
        <p:nvSpPr>
          <p:cNvPr id="30" name="Rectangle: Rounded Corners 29">
            <a:extLst>
              <a:ext uri="{FF2B5EF4-FFF2-40B4-BE49-F238E27FC236}">
                <a16:creationId xmlns:a16="http://schemas.microsoft.com/office/drawing/2014/main" id="{D46C4952-348D-F0D1-79EA-6E6AD795C38A}"/>
              </a:ext>
            </a:extLst>
          </p:cNvPr>
          <p:cNvSpPr/>
          <p:nvPr/>
        </p:nvSpPr>
        <p:spPr>
          <a:xfrm>
            <a:off x="6174210" y="827336"/>
            <a:ext cx="1380396" cy="1284936"/>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dirty="0">
                <a:solidFill>
                  <a:schemeClr val="tx1"/>
                </a:solidFill>
              </a:rPr>
              <a:t>Converts the assembly file into machine code (binary).</a:t>
            </a:r>
          </a:p>
          <a:p>
            <a:r>
              <a:rPr lang="en-US" sz="900" b="1" dirty="0">
                <a:solidFill>
                  <a:schemeClr val="tx1"/>
                </a:solidFill>
              </a:rPr>
              <a:t>Each instruction becomes a binary opcode.</a:t>
            </a:r>
          </a:p>
          <a:p>
            <a:r>
              <a:rPr lang="en-US" sz="900" b="1" dirty="0">
                <a:solidFill>
                  <a:schemeClr val="tx1"/>
                </a:solidFill>
              </a:rPr>
              <a:t>Result: object file (.o or .obj).</a:t>
            </a:r>
            <a:endParaRPr lang="en-IN" sz="900" b="1" dirty="0">
              <a:solidFill>
                <a:schemeClr val="tx1"/>
              </a:solidFill>
            </a:endParaRPr>
          </a:p>
        </p:txBody>
      </p:sp>
      <p:sp>
        <p:nvSpPr>
          <p:cNvPr id="31" name="Rectangle: Rounded Corners 30">
            <a:extLst>
              <a:ext uri="{FF2B5EF4-FFF2-40B4-BE49-F238E27FC236}">
                <a16:creationId xmlns:a16="http://schemas.microsoft.com/office/drawing/2014/main" id="{86681953-19DD-9572-C2DB-54E6D723A0E1}"/>
              </a:ext>
            </a:extLst>
          </p:cNvPr>
          <p:cNvSpPr/>
          <p:nvPr/>
        </p:nvSpPr>
        <p:spPr>
          <a:xfrm>
            <a:off x="7612675" y="827336"/>
            <a:ext cx="1388961" cy="1284936"/>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solidFill>
                  <a:schemeClr val="tx1"/>
                </a:solidFill>
              </a:rPr>
              <a:t>Combines all object files + standard library functions (like printf, malloc, etc.).</a:t>
            </a:r>
          </a:p>
          <a:p>
            <a:r>
              <a:rPr lang="en-US" sz="800" b="1" dirty="0">
                <a:solidFill>
                  <a:schemeClr val="tx1"/>
                </a:solidFill>
              </a:rPr>
              <a:t>Resolves external symbols and addresses.</a:t>
            </a:r>
          </a:p>
          <a:p>
            <a:r>
              <a:rPr lang="en-US" sz="800" b="1" dirty="0">
                <a:solidFill>
                  <a:schemeClr val="tx1"/>
                </a:solidFill>
              </a:rPr>
              <a:t>Final result: executable binary (</a:t>
            </a:r>
            <a:r>
              <a:rPr lang="en-US" sz="800" b="1" dirty="0" err="1">
                <a:solidFill>
                  <a:schemeClr val="tx1"/>
                </a:solidFill>
              </a:rPr>
              <a:t>a.out</a:t>
            </a:r>
            <a:r>
              <a:rPr lang="en-US" sz="800" b="1" dirty="0">
                <a:solidFill>
                  <a:schemeClr val="tx1"/>
                </a:solidFill>
              </a:rPr>
              <a:t>, .exe, etc.)</a:t>
            </a:r>
            <a:endParaRPr lang="en-IN" sz="800" b="1" dirty="0">
              <a:solidFill>
                <a:schemeClr val="tx1"/>
              </a:solidFill>
            </a:endParaRPr>
          </a:p>
        </p:txBody>
      </p:sp>
      <p:cxnSp>
        <p:nvCxnSpPr>
          <p:cNvPr id="32" name="Straight Arrow Connector 31">
            <a:extLst>
              <a:ext uri="{FF2B5EF4-FFF2-40B4-BE49-F238E27FC236}">
                <a16:creationId xmlns:a16="http://schemas.microsoft.com/office/drawing/2014/main" id="{6CE56B3E-4521-4C83-526A-2ADA17BB6C35}"/>
              </a:ext>
            </a:extLst>
          </p:cNvPr>
          <p:cNvCxnSpPr>
            <a:stCxn id="9" idx="3"/>
          </p:cNvCxnSpPr>
          <p:nvPr/>
        </p:nvCxnSpPr>
        <p:spPr>
          <a:xfrm>
            <a:off x="7503037" y="2904651"/>
            <a:ext cx="1714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968B9C28-10FB-964C-F904-2C41A38FCF5B}"/>
              </a:ext>
            </a:extLst>
          </p:cNvPr>
          <p:cNvCxnSpPr>
            <a:cxnSpLocks/>
            <a:endCxn id="9" idx="1"/>
          </p:cNvCxnSpPr>
          <p:nvPr/>
        </p:nvCxnSpPr>
        <p:spPr>
          <a:xfrm>
            <a:off x="5993548" y="2904651"/>
            <a:ext cx="232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4DECA68-1AAA-6766-9C6D-F9F9196AB8CC}"/>
              </a:ext>
            </a:extLst>
          </p:cNvPr>
          <p:cNvCxnSpPr>
            <a:cxnSpLocks/>
            <a:stCxn id="10" idx="0"/>
            <a:endCxn id="31" idx="2"/>
          </p:cNvCxnSpPr>
          <p:nvPr/>
        </p:nvCxnSpPr>
        <p:spPr>
          <a:xfrm flipV="1">
            <a:off x="8307155" y="2112272"/>
            <a:ext cx="1" cy="3279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a:extLst>
              <a:ext uri="{FF2B5EF4-FFF2-40B4-BE49-F238E27FC236}">
                <a16:creationId xmlns:a16="http://schemas.microsoft.com/office/drawing/2014/main" id="{DDBDEF36-22B3-4411-9889-7652F3EEA5AF}"/>
              </a:ext>
            </a:extLst>
          </p:cNvPr>
          <p:cNvSpPr/>
          <p:nvPr/>
        </p:nvSpPr>
        <p:spPr>
          <a:xfrm>
            <a:off x="9554630" y="3611511"/>
            <a:ext cx="1670650" cy="276999"/>
          </a:xfrm>
          <a:prstGeom prst="rect">
            <a:avLst/>
          </a:prstGeom>
          <a:noFill/>
        </p:spPr>
        <p:txBody>
          <a:bodyPr wrap="none" lIns="91440" tIns="45720" rIns="91440" bIns="45720">
            <a:spAutoFit/>
          </a:bodyPr>
          <a:lstStyle/>
          <a:p>
            <a:pPr algn="ctr"/>
            <a:r>
              <a:rPr lang="en-IN" sz="1200" b="1" dirty="0"/>
              <a:t>Loading into Memory</a:t>
            </a:r>
          </a:p>
        </p:txBody>
      </p:sp>
      <p:sp>
        <p:nvSpPr>
          <p:cNvPr id="37" name="Rectangle 36">
            <a:extLst>
              <a:ext uri="{FF2B5EF4-FFF2-40B4-BE49-F238E27FC236}">
                <a16:creationId xmlns:a16="http://schemas.microsoft.com/office/drawing/2014/main" id="{E1A2B59D-020D-90DA-EF5C-9D0AD04E6F80}"/>
              </a:ext>
            </a:extLst>
          </p:cNvPr>
          <p:cNvSpPr/>
          <p:nvPr/>
        </p:nvSpPr>
        <p:spPr>
          <a:xfrm>
            <a:off x="9716458" y="2440194"/>
            <a:ext cx="1357802" cy="928914"/>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rPr>
              <a:t>The Operating System (OS) loads the binary into RAM.</a:t>
            </a:r>
          </a:p>
          <a:p>
            <a:pPr algn="ctr"/>
            <a:r>
              <a:rPr lang="en-US" sz="700" b="1" dirty="0">
                <a:solidFill>
                  <a:schemeClr val="tx1"/>
                </a:solidFill>
              </a:rPr>
              <a:t>Creates a process with its own address space.</a:t>
            </a:r>
          </a:p>
          <a:p>
            <a:pPr algn="ctr"/>
            <a:r>
              <a:rPr lang="en-US" sz="700" b="1" dirty="0">
                <a:solidFill>
                  <a:schemeClr val="tx1"/>
                </a:solidFill>
              </a:rPr>
              <a:t>The Program Counter (PC) is set to the start of main().</a:t>
            </a:r>
            <a:endParaRPr lang="en-IN" sz="700" b="1" dirty="0">
              <a:solidFill>
                <a:schemeClr val="tx1"/>
              </a:solidFill>
            </a:endParaRPr>
          </a:p>
        </p:txBody>
      </p:sp>
      <p:cxnSp>
        <p:nvCxnSpPr>
          <p:cNvPr id="38" name="Straight Arrow Connector 37">
            <a:extLst>
              <a:ext uri="{FF2B5EF4-FFF2-40B4-BE49-F238E27FC236}">
                <a16:creationId xmlns:a16="http://schemas.microsoft.com/office/drawing/2014/main" id="{2DAAF3B2-B2B9-9BE3-28EE-64FDE402B831}"/>
              </a:ext>
            </a:extLst>
          </p:cNvPr>
          <p:cNvCxnSpPr>
            <a:stCxn id="4" idx="3"/>
            <a:endCxn id="5" idx="1"/>
          </p:cNvCxnSpPr>
          <p:nvPr/>
        </p:nvCxnSpPr>
        <p:spPr>
          <a:xfrm>
            <a:off x="2682723" y="3069360"/>
            <a:ext cx="32087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8F7F9C5-97DC-B0DF-D727-99D51078AA9A}"/>
              </a:ext>
            </a:extLst>
          </p:cNvPr>
          <p:cNvSpPr/>
          <p:nvPr/>
        </p:nvSpPr>
        <p:spPr>
          <a:xfrm>
            <a:off x="3206802" y="4261065"/>
            <a:ext cx="3335152" cy="461665"/>
          </a:xfrm>
          <a:prstGeom prst="rect">
            <a:avLst/>
          </a:prstGeom>
          <a:noFill/>
        </p:spPr>
        <p:txBody>
          <a:bodyPr wrap="square" lIns="91440" tIns="45720" rIns="91440" bIns="45720">
            <a:spAutoFit/>
          </a:bodyPr>
          <a:lstStyle/>
          <a:p>
            <a:pPr algn="ctr"/>
            <a:r>
              <a:rPr lang="en-US" sz="2400" b="1" dirty="0">
                <a:ln w="0"/>
                <a:effectLst>
                  <a:outerShdw blurRad="38100" dist="19050" dir="2700000" algn="tl" rotWithShape="0">
                    <a:schemeClr val="dk1">
                      <a:alpha val="40000"/>
                    </a:schemeClr>
                  </a:outerShdw>
                </a:effectLst>
              </a:rPr>
              <a:t>Processor</a:t>
            </a:r>
            <a:endParaRPr lang="en-US" sz="1400" b="1" cap="none" spc="0" dirty="0">
              <a:ln w="0"/>
              <a:solidFill>
                <a:schemeClr val="tx1"/>
              </a:solidFill>
              <a:effectLst>
                <a:outerShdw blurRad="38100" dist="19050" dir="2700000" algn="tl" rotWithShape="0">
                  <a:schemeClr val="dk1">
                    <a:alpha val="40000"/>
                  </a:schemeClr>
                </a:outerShdw>
              </a:effectLst>
            </a:endParaRPr>
          </a:p>
        </p:txBody>
      </p:sp>
      <p:cxnSp>
        <p:nvCxnSpPr>
          <p:cNvPr id="53" name="Straight Arrow Connector 52">
            <a:extLst>
              <a:ext uri="{FF2B5EF4-FFF2-40B4-BE49-F238E27FC236}">
                <a16:creationId xmlns:a16="http://schemas.microsoft.com/office/drawing/2014/main" id="{21EC00AA-1174-B797-D1FA-398C94AAF10F}"/>
              </a:ext>
            </a:extLst>
          </p:cNvPr>
          <p:cNvCxnSpPr>
            <a:endCxn id="28" idx="2"/>
          </p:cNvCxnSpPr>
          <p:nvPr/>
        </p:nvCxnSpPr>
        <p:spPr>
          <a:xfrm flipH="1" flipV="1">
            <a:off x="5387191" y="2129951"/>
            <a:ext cx="5080" cy="310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25AF2332-2B46-AB6A-0A78-CD16FA3C9D26}"/>
              </a:ext>
            </a:extLst>
          </p:cNvPr>
          <p:cNvCxnSpPr>
            <a:stCxn id="9" idx="0"/>
            <a:endCxn id="30" idx="2"/>
          </p:cNvCxnSpPr>
          <p:nvPr/>
        </p:nvCxnSpPr>
        <p:spPr>
          <a:xfrm flipH="1" flipV="1">
            <a:off x="6864408" y="2112272"/>
            <a:ext cx="1" cy="3279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11708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39F63C-3541-4F3F-334E-DF0176596885}"/>
              </a:ext>
            </a:extLst>
          </p:cNvPr>
          <p:cNvSpPr>
            <a:spLocks noGrp="1"/>
          </p:cNvSpPr>
          <p:nvPr>
            <p:ph idx="1"/>
          </p:nvPr>
        </p:nvSpPr>
        <p:spPr>
          <a:xfrm>
            <a:off x="750367" y="750627"/>
            <a:ext cx="10691265" cy="5363569"/>
          </a:xfrm>
        </p:spPr>
        <p:txBody>
          <a:bodyPr>
            <a:normAutofit fontScale="92500"/>
          </a:bodyPr>
          <a:lstStyle/>
          <a:p>
            <a:pPr marL="0" indent="0">
              <a:buNone/>
            </a:pPr>
            <a:r>
              <a:rPr lang="en-US" dirty="0">
                <a:latin typeface="Segoe UI" panose="020B0502040204020203" pitchFamily="34" charset="0"/>
                <a:cs typeface="Segoe UI" panose="020B0502040204020203" pitchFamily="34" charset="0"/>
              </a:rPr>
              <a:t>A </a:t>
            </a:r>
            <a:r>
              <a:rPr lang="en-US" b="1" dirty="0">
                <a:latin typeface="Segoe UI" panose="020B0502040204020203" pitchFamily="34" charset="0"/>
                <a:cs typeface="Segoe UI" panose="020B0502040204020203" pitchFamily="34" charset="0"/>
              </a:rPr>
              <a:t>Processor</a:t>
            </a:r>
            <a:r>
              <a:rPr lang="en-US" dirty="0">
                <a:latin typeface="Segoe UI" panose="020B0502040204020203" pitchFamily="34" charset="0"/>
                <a:cs typeface="Segoe UI" panose="020B0502040204020203" pitchFamily="34" charset="0"/>
              </a:rPr>
              <a:t>, also known as a </a:t>
            </a:r>
            <a:r>
              <a:rPr lang="en-US" b="1" dirty="0">
                <a:latin typeface="Segoe UI" panose="020B0502040204020203" pitchFamily="34" charset="0"/>
                <a:cs typeface="Segoe UI" panose="020B0502040204020203" pitchFamily="34" charset="0"/>
              </a:rPr>
              <a:t>CPU</a:t>
            </a:r>
            <a:r>
              <a:rPr lang="en-US" dirty="0">
                <a:latin typeface="Segoe UI" panose="020B0502040204020203" pitchFamily="34" charset="0"/>
                <a:cs typeface="Segoe UI" panose="020B0502040204020203" pitchFamily="34" charset="0"/>
              </a:rPr>
              <a:t> (Central Processing Unit), is the brain of a computer or digital system. It executes instructions from a program and coordinates the operations of the system. The processor operates through a well-defined cycle:</a:t>
            </a:r>
          </a:p>
          <a:p>
            <a:r>
              <a:rPr lang="en-US" b="1" u="sng" dirty="0">
                <a:latin typeface="Segoe UI" panose="020B0502040204020203" pitchFamily="34" charset="0"/>
                <a:cs typeface="Segoe UI" panose="020B0502040204020203" pitchFamily="34" charset="0"/>
              </a:rPr>
              <a:t>Fetch</a:t>
            </a:r>
            <a:r>
              <a:rPr lang="en-US" dirty="0">
                <a:latin typeface="Segoe UI" panose="020B0502040204020203" pitchFamily="34" charset="0"/>
                <a:cs typeface="Segoe UI" panose="020B0502040204020203" pitchFamily="34" charset="0"/>
              </a:rPr>
              <a:t> – Retrieve the next instruction from memory (address given by the </a:t>
            </a:r>
            <a:r>
              <a:rPr lang="en-US" b="1" dirty="0">
                <a:latin typeface="Segoe UI" panose="020B0502040204020203" pitchFamily="34" charset="0"/>
                <a:cs typeface="Segoe UI" panose="020B0502040204020203" pitchFamily="34" charset="0"/>
              </a:rPr>
              <a:t>Program Counter</a:t>
            </a:r>
            <a:r>
              <a:rPr lang="en-US" dirty="0">
                <a:latin typeface="Segoe UI" panose="020B0502040204020203" pitchFamily="34" charset="0"/>
                <a:cs typeface="Segoe UI" panose="020B0502040204020203" pitchFamily="34" charset="0"/>
              </a:rPr>
              <a:t>).</a:t>
            </a:r>
          </a:p>
          <a:p>
            <a:endParaRPr lang="en-US" dirty="0">
              <a:latin typeface="Segoe UI" panose="020B0502040204020203" pitchFamily="34" charset="0"/>
              <a:cs typeface="Segoe UI" panose="020B0502040204020203" pitchFamily="34" charset="0"/>
            </a:endParaRPr>
          </a:p>
          <a:p>
            <a:r>
              <a:rPr lang="en-US" b="1" u="sng" dirty="0">
                <a:latin typeface="Segoe UI" panose="020B0502040204020203" pitchFamily="34" charset="0"/>
                <a:cs typeface="Segoe UI" panose="020B0502040204020203" pitchFamily="34" charset="0"/>
              </a:rPr>
              <a:t>Decode</a:t>
            </a:r>
            <a:r>
              <a:rPr lang="en-US" dirty="0">
                <a:latin typeface="Segoe UI" panose="020B0502040204020203" pitchFamily="34" charset="0"/>
                <a:cs typeface="Segoe UI" panose="020B0502040204020203" pitchFamily="34" charset="0"/>
              </a:rPr>
              <a:t> – Interpret the instruction to determine the required operation and operands.</a:t>
            </a:r>
          </a:p>
          <a:p>
            <a:endParaRPr lang="en-US" dirty="0">
              <a:latin typeface="Segoe UI" panose="020B0502040204020203" pitchFamily="34" charset="0"/>
              <a:cs typeface="Segoe UI" panose="020B0502040204020203" pitchFamily="34" charset="0"/>
            </a:endParaRPr>
          </a:p>
          <a:p>
            <a:r>
              <a:rPr lang="en-US" b="1" u="sng" dirty="0">
                <a:latin typeface="Segoe UI" panose="020B0502040204020203" pitchFamily="34" charset="0"/>
                <a:cs typeface="Segoe UI" panose="020B0502040204020203" pitchFamily="34" charset="0"/>
              </a:rPr>
              <a:t>Memory Access </a:t>
            </a:r>
            <a:r>
              <a:rPr lang="en-US" dirty="0">
                <a:latin typeface="Segoe UI" panose="020B0502040204020203" pitchFamily="34" charset="0"/>
                <a:cs typeface="Segoe UI" panose="020B0502040204020203" pitchFamily="34" charset="0"/>
              </a:rPr>
              <a:t>– If the instruction requires data (e.g., </a:t>
            </a:r>
            <a:r>
              <a:rPr lang="en-US" dirty="0" err="1">
                <a:latin typeface="Segoe UI" panose="020B0502040204020203" pitchFamily="34" charset="0"/>
                <a:cs typeface="Segoe UI" panose="020B0502040204020203" pitchFamily="34" charset="0"/>
              </a:rPr>
              <a:t>lw</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sw</a:t>
            </a:r>
            <a:r>
              <a:rPr lang="en-US" dirty="0">
                <a:latin typeface="Segoe UI" panose="020B0502040204020203" pitchFamily="34" charset="0"/>
                <a:cs typeface="Segoe UI" panose="020B0502040204020203" pitchFamily="34" charset="0"/>
              </a:rPr>
              <a:t>), read from or write to memory at a computed address.</a:t>
            </a:r>
          </a:p>
          <a:p>
            <a:endParaRPr lang="en-US" dirty="0">
              <a:latin typeface="Segoe UI" panose="020B0502040204020203" pitchFamily="34" charset="0"/>
              <a:cs typeface="Segoe UI" panose="020B0502040204020203" pitchFamily="34" charset="0"/>
            </a:endParaRPr>
          </a:p>
          <a:p>
            <a:r>
              <a:rPr lang="en-US" b="1" u="sng" dirty="0">
                <a:latin typeface="Segoe UI" panose="020B0502040204020203" pitchFamily="34" charset="0"/>
                <a:cs typeface="Segoe UI" panose="020B0502040204020203" pitchFamily="34" charset="0"/>
              </a:rPr>
              <a:t>Execute</a:t>
            </a:r>
            <a:r>
              <a:rPr lang="en-US" dirty="0">
                <a:latin typeface="Segoe UI" panose="020B0502040204020203" pitchFamily="34" charset="0"/>
                <a:cs typeface="Segoe UI" panose="020B0502040204020203" pitchFamily="34" charset="0"/>
              </a:rPr>
              <a:t> – Perform the operation using the ALU (e.g., arithmetic, logic, branching).</a:t>
            </a:r>
          </a:p>
          <a:p>
            <a:endParaRPr lang="en-US" dirty="0">
              <a:latin typeface="Segoe UI" panose="020B0502040204020203" pitchFamily="34" charset="0"/>
              <a:cs typeface="Segoe UI" panose="020B0502040204020203" pitchFamily="34" charset="0"/>
            </a:endParaRPr>
          </a:p>
          <a:p>
            <a:r>
              <a:rPr lang="en-US" b="1" u="sng" dirty="0">
                <a:latin typeface="Segoe UI" panose="020B0502040204020203" pitchFamily="34" charset="0"/>
                <a:cs typeface="Segoe UI" panose="020B0502040204020203" pitchFamily="34" charset="0"/>
              </a:rPr>
              <a:t>Write Back </a:t>
            </a:r>
            <a:r>
              <a:rPr lang="en-US" dirty="0">
                <a:latin typeface="Segoe UI" panose="020B0502040204020203" pitchFamily="34" charset="0"/>
                <a:cs typeface="Segoe UI" panose="020B0502040204020203" pitchFamily="34" charset="0"/>
              </a:rPr>
              <a:t>– Store the result into a register or memory, depending on the instruction type.</a:t>
            </a:r>
            <a:endParaRPr lang="en-IN" dirty="0">
              <a:latin typeface="Segoe UI" panose="020B0502040204020203" pitchFamily="34" charset="0"/>
              <a:cs typeface="Segoe UI" panose="020B0502040204020203" pitchFamily="34" charset="0"/>
            </a:endParaRPr>
          </a:p>
        </p:txBody>
      </p:sp>
      <p:sp>
        <p:nvSpPr>
          <p:cNvPr id="4" name="Title 1">
            <a:extLst>
              <a:ext uri="{FF2B5EF4-FFF2-40B4-BE49-F238E27FC236}">
                <a16:creationId xmlns:a16="http://schemas.microsoft.com/office/drawing/2014/main" id="{9B53F35A-F7A9-0C38-744D-D5675E51F219}"/>
              </a:ext>
            </a:extLst>
          </p:cNvPr>
          <p:cNvSpPr txBox="1">
            <a:spLocks/>
          </p:cNvSpPr>
          <p:nvPr/>
        </p:nvSpPr>
        <p:spPr>
          <a:xfrm>
            <a:off x="286344" y="218364"/>
            <a:ext cx="10691265" cy="532264"/>
          </a:xfrm>
          <a:prstGeom prst="rect">
            <a:avLst/>
          </a:prstGeom>
        </p:spPr>
        <p:txBody>
          <a:bodyPr vert="horz" lIns="91440" tIns="45720" rIns="91440" bIns="45720" rtlCol="0" anchor="t">
            <a:normAutofit fontScale="825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pPr algn="ctr"/>
            <a:r>
              <a:rPr lang="en-US"/>
              <a:t>The </a:t>
            </a:r>
            <a:r>
              <a:rPr lang="en-US" sz="4400"/>
              <a:t>Processor</a:t>
            </a:r>
            <a:endParaRPr lang="en-IN" dirty="0"/>
          </a:p>
        </p:txBody>
      </p:sp>
    </p:spTree>
    <p:extLst>
      <p:ext uri="{BB962C8B-B14F-4D97-AF65-F5344CB8AC3E}">
        <p14:creationId xmlns:p14="http://schemas.microsoft.com/office/powerpoint/2010/main" val="226588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2B000-A8AD-6C1D-9164-2EC2E2741DD4}"/>
              </a:ext>
            </a:extLst>
          </p:cNvPr>
          <p:cNvSpPr>
            <a:spLocks noGrp="1"/>
          </p:cNvSpPr>
          <p:nvPr>
            <p:ph type="title"/>
          </p:nvPr>
        </p:nvSpPr>
        <p:spPr>
          <a:xfrm>
            <a:off x="700635" y="95534"/>
            <a:ext cx="10868426" cy="627797"/>
          </a:xfrm>
        </p:spPr>
        <p:txBody>
          <a:bodyPr>
            <a:noAutofit/>
          </a:bodyPr>
          <a:lstStyle/>
          <a:p>
            <a:pPr algn="ctr"/>
            <a:r>
              <a:rPr lang="en-US" sz="3200" dirty="0"/>
              <a:t>Different types of instruction set computers</a:t>
            </a:r>
            <a:endParaRPr lang="en-IN" sz="3200" dirty="0"/>
          </a:p>
        </p:txBody>
      </p:sp>
      <p:sp>
        <p:nvSpPr>
          <p:cNvPr id="3" name="Content Placeholder 2">
            <a:extLst>
              <a:ext uri="{FF2B5EF4-FFF2-40B4-BE49-F238E27FC236}">
                <a16:creationId xmlns:a16="http://schemas.microsoft.com/office/drawing/2014/main" id="{B1D1BC83-49A7-9028-2F01-A91E58AD0B94}"/>
              </a:ext>
            </a:extLst>
          </p:cNvPr>
          <p:cNvSpPr>
            <a:spLocks noGrp="1"/>
          </p:cNvSpPr>
          <p:nvPr>
            <p:ph idx="1"/>
          </p:nvPr>
        </p:nvSpPr>
        <p:spPr>
          <a:xfrm>
            <a:off x="700635" y="832513"/>
            <a:ext cx="10691265" cy="5129375"/>
          </a:xfrm>
        </p:spPr>
        <p:txBody>
          <a:bodyPr>
            <a:normAutofit/>
          </a:bodyPr>
          <a:lstStyle/>
          <a:p>
            <a:pPr marL="0" indent="0">
              <a:buNone/>
            </a:pPr>
            <a:r>
              <a:rPr lang="en-US" sz="1800" dirty="0"/>
              <a:t> </a:t>
            </a:r>
            <a:endParaRPr lang="en-IN" sz="1800" dirty="0"/>
          </a:p>
        </p:txBody>
      </p:sp>
      <p:graphicFrame>
        <p:nvGraphicFramePr>
          <p:cNvPr id="4" name="Table 3">
            <a:extLst>
              <a:ext uri="{FF2B5EF4-FFF2-40B4-BE49-F238E27FC236}">
                <a16:creationId xmlns:a16="http://schemas.microsoft.com/office/drawing/2014/main" id="{67C178C4-D0CB-083F-E236-60AD8AFBF661}"/>
              </a:ext>
            </a:extLst>
          </p:cNvPr>
          <p:cNvGraphicFramePr>
            <a:graphicFrameLocks noGrp="1"/>
          </p:cNvGraphicFramePr>
          <p:nvPr>
            <p:extLst>
              <p:ext uri="{D42A27DB-BD31-4B8C-83A1-F6EECF244321}">
                <p14:modId xmlns:p14="http://schemas.microsoft.com/office/powerpoint/2010/main" val="3866141923"/>
              </p:ext>
            </p:extLst>
          </p:nvPr>
        </p:nvGraphicFramePr>
        <p:xfrm>
          <a:off x="918664" y="791569"/>
          <a:ext cx="10354671" cy="5329746"/>
        </p:xfrm>
        <a:graphic>
          <a:graphicData uri="http://schemas.openxmlformats.org/drawingml/2006/table">
            <a:tbl>
              <a:tblPr firstRow="1" bandRow="1">
                <a:tableStyleId>{5C22544A-7EE6-4342-B048-85BDC9FD1C3A}</a:tableStyleId>
              </a:tblPr>
              <a:tblGrid>
                <a:gridCol w="3451557">
                  <a:extLst>
                    <a:ext uri="{9D8B030D-6E8A-4147-A177-3AD203B41FA5}">
                      <a16:colId xmlns:a16="http://schemas.microsoft.com/office/drawing/2014/main" val="3457662189"/>
                    </a:ext>
                  </a:extLst>
                </a:gridCol>
                <a:gridCol w="3451557">
                  <a:extLst>
                    <a:ext uri="{9D8B030D-6E8A-4147-A177-3AD203B41FA5}">
                      <a16:colId xmlns:a16="http://schemas.microsoft.com/office/drawing/2014/main" val="1971970490"/>
                    </a:ext>
                  </a:extLst>
                </a:gridCol>
                <a:gridCol w="3451557">
                  <a:extLst>
                    <a:ext uri="{9D8B030D-6E8A-4147-A177-3AD203B41FA5}">
                      <a16:colId xmlns:a16="http://schemas.microsoft.com/office/drawing/2014/main" val="143394638"/>
                    </a:ext>
                  </a:extLst>
                </a:gridCol>
              </a:tblGrid>
              <a:tr h="832220">
                <a:tc>
                  <a:txBody>
                    <a:bodyPr/>
                    <a:lstStyle/>
                    <a:p>
                      <a:pPr algn="ctr"/>
                      <a:r>
                        <a:rPr lang="en-US" dirty="0"/>
                        <a:t>FEATURE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REDUCED INSTRUCTION SET COMPUTER</a:t>
                      </a:r>
                      <a:endParaRPr lang="en-IN" dirty="0"/>
                    </a:p>
                    <a:p>
                      <a:pPr algn="ct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COMPLEX INSTRUCTION SET COMPUTER</a:t>
                      </a:r>
                      <a:endParaRPr lang="en-IN" dirty="0"/>
                    </a:p>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306378"/>
                  </a:ext>
                </a:extLst>
              </a:tr>
              <a:tr h="582554">
                <a:tc>
                  <a:txBody>
                    <a:bodyPr/>
                    <a:lstStyle/>
                    <a:p>
                      <a:pPr algn="ctr"/>
                      <a:r>
                        <a:rPr lang="en-IN" sz="1400" dirty="0"/>
                        <a:t>Instruction 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Simple, fixed-length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Complex, variable-length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917332"/>
                  </a:ext>
                </a:extLst>
              </a:tr>
              <a:tr h="582554">
                <a:tc>
                  <a:txBody>
                    <a:bodyPr/>
                    <a:lstStyle/>
                    <a:p>
                      <a:pPr algn="ctr"/>
                      <a:r>
                        <a:rPr lang="en-IN" sz="1400" dirty="0"/>
                        <a:t>Execution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Usually 1 cycle per instruction</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600" dirty="0"/>
                        <a:t>Multiple cycles per </a:t>
                      </a:r>
                      <a:r>
                        <a:rPr lang="fr-FR" sz="1600" dirty="0" err="1"/>
                        <a:t>complex</a:t>
                      </a:r>
                      <a:r>
                        <a:rPr lang="fr-FR" sz="1600" dirty="0"/>
                        <a:t> instruction</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493981"/>
                  </a:ext>
                </a:extLst>
              </a:tr>
              <a:tr h="337468">
                <a:tc>
                  <a:txBody>
                    <a:bodyPr/>
                    <a:lstStyle/>
                    <a:p>
                      <a:pPr algn="ctr"/>
                      <a:r>
                        <a:rPr lang="en-IN" sz="1600" dirty="0"/>
                        <a:t>Instruction 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Fixed (e.g., 32 bits)</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Variable (1–15 bytes in x86)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9858109"/>
                  </a:ext>
                </a:extLst>
              </a:tr>
              <a:tr h="582554">
                <a:tc>
                  <a:txBody>
                    <a:bodyPr/>
                    <a:lstStyle/>
                    <a:p>
                      <a:pPr algn="ctr"/>
                      <a:r>
                        <a:rPr lang="en-IN" sz="1600" dirty="0"/>
                        <a:t>Memory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Load/store architecture (register-only ops)</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Instructions can directly access memory</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615575"/>
                  </a:ext>
                </a:extLst>
              </a:tr>
              <a:tr h="582554">
                <a:tc>
                  <a:txBody>
                    <a:bodyPr/>
                    <a:lstStyle/>
                    <a:p>
                      <a:pPr algn="ctr"/>
                      <a:r>
                        <a:rPr lang="en-IN" sz="1600" dirty="0"/>
                        <a:t>Decoding Simplicity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Easy to decode (uniform format)</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Harder to decode (varied formats)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429828"/>
                  </a:ext>
                </a:extLst>
              </a:tr>
              <a:tr h="582554">
                <a:tc>
                  <a:txBody>
                    <a:bodyPr/>
                    <a:lstStyle/>
                    <a:p>
                      <a:pPr algn="ctr"/>
                      <a:r>
                        <a:rPr lang="en-IN" sz="1600" dirty="0"/>
                        <a:t>Pipelining &amp; Parallelism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Easier to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More difficult due to complex instructions</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8537842"/>
                  </a:ext>
                </a:extLst>
              </a:tr>
              <a:tr h="582554">
                <a:tc>
                  <a:txBody>
                    <a:bodyPr/>
                    <a:lstStyle/>
                    <a:p>
                      <a:pPr algn="ctr"/>
                      <a:r>
                        <a:rPr lang="en-IN" sz="1600" dirty="0"/>
                        <a:t>Compiler 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Heavily relies on compiler optimization</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Less compiler effort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260540"/>
                  </a:ext>
                </a:extLst>
              </a:tr>
              <a:tr h="582554">
                <a:tc>
                  <a:txBody>
                    <a:bodyPr/>
                    <a:lstStyle/>
                    <a:p>
                      <a:pPr algn="ctr"/>
                      <a:r>
                        <a:rPr lang="en-IN" sz="1600" dirty="0"/>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RISC-V, ARM, MIPS, SPARC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dirty="0"/>
                        <a:t>x86, VAX, Intel 8086, Motorola 68k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0619116"/>
                  </a:ext>
                </a:extLst>
              </a:tr>
            </a:tbl>
          </a:graphicData>
        </a:graphic>
      </p:graphicFrame>
    </p:spTree>
    <p:extLst>
      <p:ext uri="{BB962C8B-B14F-4D97-AF65-F5344CB8AC3E}">
        <p14:creationId xmlns:p14="http://schemas.microsoft.com/office/powerpoint/2010/main" val="3625684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BC5CB-E86B-4541-A922-964AF1DA0059}"/>
              </a:ext>
            </a:extLst>
          </p:cNvPr>
          <p:cNvSpPr>
            <a:spLocks noGrp="1"/>
          </p:cNvSpPr>
          <p:nvPr>
            <p:ph type="title"/>
          </p:nvPr>
        </p:nvSpPr>
        <p:spPr>
          <a:xfrm>
            <a:off x="750367" y="122830"/>
            <a:ext cx="10691265" cy="573206"/>
          </a:xfrm>
        </p:spPr>
        <p:txBody>
          <a:bodyPr>
            <a:normAutofit fontScale="90000"/>
          </a:bodyPr>
          <a:lstStyle/>
          <a:p>
            <a:pPr algn="ctr"/>
            <a:r>
              <a:rPr lang="en-US" dirty="0"/>
              <a:t>OUR goal</a:t>
            </a:r>
            <a:endParaRPr lang="en-IN" dirty="0"/>
          </a:p>
        </p:txBody>
      </p:sp>
      <p:sp>
        <p:nvSpPr>
          <p:cNvPr id="3" name="Content Placeholder 2">
            <a:extLst>
              <a:ext uri="{FF2B5EF4-FFF2-40B4-BE49-F238E27FC236}">
                <a16:creationId xmlns:a16="http://schemas.microsoft.com/office/drawing/2014/main" id="{AB1488A0-70D8-B71F-2F6A-7702067CDCB1}"/>
              </a:ext>
            </a:extLst>
          </p:cNvPr>
          <p:cNvSpPr>
            <a:spLocks noGrp="1"/>
          </p:cNvSpPr>
          <p:nvPr>
            <p:ph idx="1"/>
          </p:nvPr>
        </p:nvSpPr>
        <p:spPr>
          <a:xfrm>
            <a:off x="750367" y="818866"/>
            <a:ext cx="10691265" cy="5254388"/>
          </a:xfrm>
        </p:spPr>
        <p:txBody>
          <a:bodyPr>
            <a:norm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 this presentation, our goal is to design a </a:t>
            </a:r>
            <a:r>
              <a:rPr kumimoji="0" lang="en-US"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Simple</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Single-Cycle RISC-V Processor </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that supports a wide subset of the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RV32I</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base instruction set, including arithmetic, logical, memory, and control flow instructions.</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We will:</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i</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Implement the processor using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Verilog</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 Hardware Description Language used for designing digital circuits.</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ii) Test the processor using various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RISC-V</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assembly programs to verify functional correctness and instruction compatibility.</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iii) Focus on building a clean, modular design that follows standard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Datapath</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control principles.</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iv) Incorporate key components like the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Program Counter </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(PC),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Instruction Memory</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Register File</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ALU</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Data Memory</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a </a:t>
            </a:r>
            <a:r>
              <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Control Unit </a:t>
            </a: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realize the full execution cycle.</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 Emphasize the fetch-decode-execute-writeback cycle, with each instruction completed in a single clock cycle.</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7080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7409-2882-80A0-1099-9C67865D4D5F}"/>
              </a:ext>
            </a:extLst>
          </p:cNvPr>
          <p:cNvSpPr>
            <a:spLocks noGrp="1"/>
          </p:cNvSpPr>
          <p:nvPr>
            <p:ph type="title"/>
          </p:nvPr>
        </p:nvSpPr>
        <p:spPr>
          <a:xfrm>
            <a:off x="750367" y="95535"/>
            <a:ext cx="10691265" cy="641444"/>
          </a:xfrm>
        </p:spPr>
        <p:txBody>
          <a:bodyPr>
            <a:normAutofit fontScale="90000"/>
          </a:bodyPr>
          <a:lstStyle/>
          <a:p>
            <a:pPr algn="ctr"/>
            <a:r>
              <a:rPr lang="en-US" dirty="0"/>
              <a:t>The </a:t>
            </a:r>
            <a:r>
              <a:rPr lang="en-US" dirty="0" err="1"/>
              <a:t>risc</a:t>
            </a:r>
            <a:r>
              <a:rPr lang="en-US" dirty="0"/>
              <a:t>-v Base instructions format</a:t>
            </a:r>
            <a:endParaRPr lang="en-IN" dirty="0"/>
          </a:p>
        </p:txBody>
      </p:sp>
      <p:sp>
        <p:nvSpPr>
          <p:cNvPr id="3" name="Content Placeholder 2">
            <a:extLst>
              <a:ext uri="{FF2B5EF4-FFF2-40B4-BE49-F238E27FC236}">
                <a16:creationId xmlns:a16="http://schemas.microsoft.com/office/drawing/2014/main" id="{D1053992-5022-52A0-2576-4808AF43AF1D}"/>
              </a:ext>
            </a:extLst>
          </p:cNvPr>
          <p:cNvSpPr>
            <a:spLocks noGrp="1"/>
          </p:cNvSpPr>
          <p:nvPr>
            <p:ph idx="1"/>
          </p:nvPr>
        </p:nvSpPr>
        <p:spPr>
          <a:xfrm>
            <a:off x="700635" y="832513"/>
            <a:ext cx="10691265" cy="5295332"/>
          </a:xfrm>
        </p:spPr>
        <p:txBody>
          <a:bodyPr>
            <a:normAutofit/>
          </a:bodyPr>
          <a:lstStyle/>
          <a:p>
            <a:pPr marL="0" indent="0">
              <a:buNone/>
            </a:pPr>
            <a:r>
              <a:rPr lang="en-US" dirty="0">
                <a:latin typeface="Calibri" panose="020F0502020204030204" pitchFamily="34" charset="0"/>
                <a:cs typeface="Calibri" panose="020F0502020204030204" pitchFamily="34" charset="0"/>
              </a:rPr>
              <a:t>The RV32I base instruction set defines six fundamental instruction formats, each tailored to specific types of operations:</a:t>
            </a:r>
          </a:p>
          <a:p>
            <a:r>
              <a:rPr lang="en-US" b="1" u="sng" dirty="0">
                <a:latin typeface="Calibri" panose="020F0502020204030204" pitchFamily="34" charset="0"/>
                <a:cs typeface="Calibri" panose="020F0502020204030204" pitchFamily="34" charset="0"/>
              </a:rPr>
              <a:t>R-type:</a:t>
            </a:r>
            <a:r>
              <a:rPr lang="en-US" dirty="0">
                <a:latin typeface="Calibri" panose="020F0502020204030204" pitchFamily="34" charset="0"/>
                <a:cs typeface="Calibri" panose="020F0502020204030204" pitchFamily="34" charset="0"/>
              </a:rPr>
              <a:t> Used for register-to-register arithmetic and logical operations (e.g., </a:t>
            </a:r>
            <a:r>
              <a:rPr lang="en-US" b="1" dirty="0">
                <a:latin typeface="Calibri" panose="020F0502020204030204" pitchFamily="34" charset="0"/>
                <a:cs typeface="Calibri" panose="020F0502020204030204" pitchFamily="34" charset="0"/>
              </a:rPr>
              <a:t>add</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sub</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and</a:t>
            </a:r>
            <a:r>
              <a:rPr lang="en-US" dirty="0">
                <a:latin typeface="Calibri" panose="020F0502020204030204" pitchFamily="34" charset="0"/>
                <a:cs typeface="Calibri" panose="020F0502020204030204" pitchFamily="34" charset="0"/>
              </a:rPr>
              <a:t>).</a:t>
            </a:r>
          </a:p>
          <a:p>
            <a:r>
              <a:rPr lang="en-US" b="1" u="sng" dirty="0">
                <a:latin typeface="Calibri" panose="020F0502020204030204" pitchFamily="34" charset="0"/>
                <a:cs typeface="Calibri" panose="020F0502020204030204" pitchFamily="34" charset="0"/>
              </a:rPr>
              <a:t>I-type:</a:t>
            </a:r>
            <a:r>
              <a:rPr lang="en-US" dirty="0">
                <a:latin typeface="Calibri" panose="020F0502020204030204" pitchFamily="34" charset="0"/>
                <a:cs typeface="Calibri" panose="020F0502020204030204" pitchFamily="34" charset="0"/>
              </a:rPr>
              <a:t> Used for immediate operations, load instructions, and system instructions like </a:t>
            </a:r>
            <a:r>
              <a:rPr lang="en-US" b="1" dirty="0" err="1">
                <a:latin typeface="Calibri" panose="020F0502020204030204" pitchFamily="34" charset="0"/>
                <a:cs typeface="Calibri" panose="020F0502020204030204" pitchFamily="34" charset="0"/>
              </a:rPr>
              <a:t>jalr</a:t>
            </a:r>
            <a:r>
              <a:rPr lang="en-US" dirty="0">
                <a:latin typeface="Calibri" panose="020F0502020204030204" pitchFamily="34" charset="0"/>
                <a:cs typeface="Calibri" panose="020F0502020204030204" pitchFamily="34" charset="0"/>
              </a:rPr>
              <a:t> and </a:t>
            </a:r>
            <a:r>
              <a:rPr lang="en-US" b="1" dirty="0" err="1">
                <a:latin typeface="Calibri" panose="020F0502020204030204" pitchFamily="34" charset="0"/>
                <a:cs typeface="Calibri" panose="020F0502020204030204" pitchFamily="34" charset="0"/>
              </a:rPr>
              <a:t>ecall</a:t>
            </a:r>
            <a:r>
              <a:rPr lang="en-US" dirty="0">
                <a:latin typeface="Calibri" panose="020F0502020204030204" pitchFamily="34" charset="0"/>
                <a:cs typeface="Calibri" panose="020F0502020204030204" pitchFamily="34" charset="0"/>
              </a:rPr>
              <a:t>.</a:t>
            </a:r>
          </a:p>
          <a:p>
            <a:r>
              <a:rPr lang="en-US" b="1" u="sng" dirty="0">
                <a:latin typeface="Calibri" panose="020F0502020204030204" pitchFamily="34" charset="0"/>
                <a:cs typeface="Calibri" panose="020F0502020204030204" pitchFamily="34" charset="0"/>
              </a:rPr>
              <a:t>S-type:</a:t>
            </a:r>
            <a:r>
              <a:rPr lang="en-US" dirty="0">
                <a:latin typeface="Calibri" panose="020F0502020204030204" pitchFamily="34" charset="0"/>
                <a:cs typeface="Calibri" panose="020F0502020204030204" pitchFamily="34" charset="0"/>
              </a:rPr>
              <a:t> Used for store instructions, where data from a register is stored to memory (e.g., </a:t>
            </a:r>
            <a:r>
              <a:rPr lang="en-US" b="1" dirty="0" err="1">
                <a:latin typeface="Calibri" panose="020F0502020204030204" pitchFamily="34" charset="0"/>
                <a:cs typeface="Calibri" panose="020F0502020204030204" pitchFamily="34" charset="0"/>
              </a:rPr>
              <a:t>sw</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sb</a:t>
            </a:r>
            <a:r>
              <a:rPr lang="en-US"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sh</a:t>
            </a:r>
            <a:r>
              <a:rPr lang="en-US" dirty="0">
                <a:latin typeface="Calibri" panose="020F0502020204030204" pitchFamily="34" charset="0"/>
                <a:cs typeface="Calibri" panose="020F0502020204030204" pitchFamily="34" charset="0"/>
              </a:rPr>
              <a:t>).</a:t>
            </a:r>
          </a:p>
          <a:p>
            <a:r>
              <a:rPr lang="en-US" b="1" u="sng" dirty="0">
                <a:latin typeface="Calibri" panose="020F0502020204030204" pitchFamily="34" charset="0"/>
                <a:cs typeface="Calibri" panose="020F0502020204030204" pitchFamily="34" charset="0"/>
              </a:rPr>
              <a:t>B-type:</a:t>
            </a:r>
            <a:r>
              <a:rPr lang="en-US" dirty="0">
                <a:latin typeface="Calibri" panose="020F0502020204030204" pitchFamily="34" charset="0"/>
                <a:cs typeface="Calibri" panose="020F0502020204030204" pitchFamily="34" charset="0"/>
              </a:rPr>
              <a:t> Used for conditional branch instructions that alter control flow based on comparisons (e.g., </a:t>
            </a:r>
            <a:r>
              <a:rPr lang="en-US" b="1" dirty="0" err="1">
                <a:latin typeface="Calibri" panose="020F0502020204030204" pitchFamily="34" charset="0"/>
                <a:cs typeface="Calibri" panose="020F0502020204030204" pitchFamily="34" charset="0"/>
              </a:rPr>
              <a:t>beq</a:t>
            </a:r>
            <a:r>
              <a:rPr lang="en-US"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bne</a:t>
            </a:r>
            <a:r>
              <a:rPr lang="en-US"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blt</a:t>
            </a:r>
            <a:r>
              <a:rPr lang="en-US" dirty="0">
                <a:latin typeface="Calibri" panose="020F0502020204030204" pitchFamily="34" charset="0"/>
                <a:cs typeface="Calibri" panose="020F0502020204030204" pitchFamily="34" charset="0"/>
              </a:rPr>
              <a:t>).</a:t>
            </a:r>
          </a:p>
          <a:p>
            <a:r>
              <a:rPr lang="en-US" b="1" u="sng" dirty="0">
                <a:latin typeface="Calibri" panose="020F0502020204030204" pitchFamily="34" charset="0"/>
                <a:cs typeface="Calibri" panose="020F0502020204030204" pitchFamily="34" charset="0"/>
              </a:rPr>
              <a:t>U-type:</a:t>
            </a:r>
            <a:r>
              <a:rPr lang="en-US" dirty="0">
                <a:latin typeface="Calibri" panose="020F0502020204030204" pitchFamily="34" charset="0"/>
                <a:cs typeface="Calibri" panose="020F0502020204030204" pitchFamily="34" charset="0"/>
              </a:rPr>
              <a:t> Used for instructions requiring large immediate values placed in the upper bits, such as </a:t>
            </a:r>
            <a:r>
              <a:rPr lang="en-US" b="1" dirty="0" err="1">
                <a:latin typeface="Calibri" panose="020F0502020204030204" pitchFamily="34" charset="0"/>
                <a:cs typeface="Calibri" panose="020F0502020204030204" pitchFamily="34" charset="0"/>
              </a:rPr>
              <a:t>lui</a:t>
            </a:r>
            <a:r>
              <a:rPr lang="en-US" dirty="0">
                <a:latin typeface="Calibri" panose="020F0502020204030204" pitchFamily="34" charset="0"/>
                <a:cs typeface="Calibri" panose="020F0502020204030204" pitchFamily="34" charset="0"/>
              </a:rPr>
              <a:t> and </a:t>
            </a:r>
            <a:r>
              <a:rPr lang="en-US" b="1" dirty="0" err="1">
                <a:latin typeface="Calibri" panose="020F0502020204030204" pitchFamily="34" charset="0"/>
                <a:cs typeface="Calibri" panose="020F0502020204030204" pitchFamily="34" charset="0"/>
              </a:rPr>
              <a:t>auipc</a:t>
            </a:r>
            <a:r>
              <a:rPr lang="en-US" dirty="0">
                <a:latin typeface="Calibri" panose="020F0502020204030204" pitchFamily="34" charset="0"/>
                <a:cs typeface="Calibri" panose="020F0502020204030204" pitchFamily="34" charset="0"/>
              </a:rPr>
              <a:t>.</a:t>
            </a:r>
          </a:p>
          <a:p>
            <a:r>
              <a:rPr lang="en-US" b="1" u="sng" dirty="0">
                <a:latin typeface="Calibri" panose="020F0502020204030204" pitchFamily="34" charset="0"/>
                <a:cs typeface="Calibri" panose="020F0502020204030204" pitchFamily="34" charset="0"/>
              </a:rPr>
              <a:t>J-type:</a:t>
            </a:r>
            <a:r>
              <a:rPr lang="en-US" dirty="0">
                <a:latin typeface="Calibri" panose="020F0502020204030204" pitchFamily="34" charset="0"/>
                <a:cs typeface="Calibri" panose="020F0502020204030204" pitchFamily="34" charset="0"/>
              </a:rPr>
              <a:t> Used for unconditional jump instructions like </a:t>
            </a:r>
            <a:r>
              <a:rPr lang="en-US" b="1" dirty="0" err="1">
                <a:latin typeface="Calibri" panose="020F0502020204030204" pitchFamily="34" charset="0"/>
                <a:cs typeface="Calibri" panose="020F0502020204030204" pitchFamily="34" charset="0"/>
              </a:rPr>
              <a:t>jal</a:t>
            </a:r>
            <a:r>
              <a:rPr lang="en-US" dirty="0">
                <a:latin typeface="Calibri" panose="020F0502020204030204" pitchFamily="34" charset="0"/>
                <a:cs typeface="Calibri" panose="020F0502020204030204" pitchFamily="34" charset="0"/>
              </a:rPr>
              <a:t>, enabling long-range jumps in code execution.</a:t>
            </a:r>
          </a:p>
        </p:txBody>
      </p:sp>
    </p:spTree>
    <p:extLst>
      <p:ext uri="{BB962C8B-B14F-4D97-AF65-F5344CB8AC3E}">
        <p14:creationId xmlns:p14="http://schemas.microsoft.com/office/powerpoint/2010/main" val="1141511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045D-A82E-D033-E98A-7FB279A33DDB}"/>
              </a:ext>
            </a:extLst>
          </p:cNvPr>
          <p:cNvSpPr>
            <a:spLocks noGrp="1"/>
          </p:cNvSpPr>
          <p:nvPr>
            <p:ph type="title"/>
          </p:nvPr>
        </p:nvSpPr>
        <p:spPr>
          <a:xfrm>
            <a:off x="750367" y="184913"/>
            <a:ext cx="10691265" cy="653142"/>
          </a:xfrm>
        </p:spPr>
        <p:txBody>
          <a:bodyPr>
            <a:noAutofit/>
          </a:bodyPr>
          <a:lstStyle/>
          <a:p>
            <a:pPr algn="ctr"/>
            <a:r>
              <a:rPr lang="en-US" sz="3200" dirty="0"/>
              <a:t>RV32I Instruction Formats: A Classroom Analogy</a:t>
            </a:r>
            <a:endParaRPr lang="en-IN" sz="3200" dirty="0"/>
          </a:p>
        </p:txBody>
      </p:sp>
      <p:sp>
        <p:nvSpPr>
          <p:cNvPr id="3" name="Content Placeholder 2">
            <a:extLst>
              <a:ext uri="{FF2B5EF4-FFF2-40B4-BE49-F238E27FC236}">
                <a16:creationId xmlns:a16="http://schemas.microsoft.com/office/drawing/2014/main" id="{8B123B03-BAE8-E741-5E01-273C051B1887}"/>
              </a:ext>
            </a:extLst>
          </p:cNvPr>
          <p:cNvSpPr>
            <a:spLocks noGrp="1"/>
          </p:cNvSpPr>
          <p:nvPr>
            <p:ph idx="1"/>
          </p:nvPr>
        </p:nvSpPr>
        <p:spPr>
          <a:xfrm>
            <a:off x="700635" y="838055"/>
            <a:ext cx="11172051" cy="5123833"/>
          </a:xfrm>
        </p:spPr>
        <p:txBody>
          <a:bodyPr>
            <a:normAutofit fontScale="92500" lnSpcReduction="10000"/>
          </a:bodyPr>
          <a:lstStyle/>
          <a:p>
            <a:pPr marL="0" indent="0">
              <a:buNone/>
            </a:pPr>
            <a:r>
              <a:rPr lang="en-US" dirty="0">
                <a:latin typeface="Calibri" panose="020F0502020204030204" pitchFamily="34" charset="0"/>
                <a:cs typeface="Calibri" panose="020F0502020204030204" pitchFamily="34" charset="0"/>
              </a:rPr>
              <a:t>The RV32I instruction set contains many instructions, but they all fit into six basic formats. You can think of these instructions like students in different classes.</a:t>
            </a:r>
          </a:p>
          <a:p>
            <a:pPr marL="0" indent="0">
              <a:buNone/>
            </a:pPr>
            <a:r>
              <a:rPr lang="en-US" dirty="0">
                <a:latin typeface="Calibri" panose="020F0502020204030204" pitchFamily="34" charset="0"/>
                <a:cs typeface="Calibri" panose="020F0502020204030204" pitchFamily="34" charset="0"/>
              </a:rPr>
              <a:t>To identify a specific instruction, we follow a 3-step process — similar to identifying a student in a school:</a:t>
            </a:r>
          </a:p>
          <a:p>
            <a:r>
              <a:rPr lang="en-US" b="1" u="sng" dirty="0">
                <a:latin typeface="Calibri" panose="020F0502020204030204" pitchFamily="34" charset="0"/>
                <a:cs typeface="Calibri" panose="020F0502020204030204" pitchFamily="34" charset="0"/>
              </a:rPr>
              <a:t>Class (Opcode) </a:t>
            </a:r>
            <a:r>
              <a:rPr lang="en-US" dirty="0">
                <a:latin typeface="Calibri" panose="020F0502020204030204" pitchFamily="34" charset="0"/>
                <a:cs typeface="Calibri" panose="020F0502020204030204" pitchFamily="34" charset="0"/>
              </a:rPr>
              <a:t>– This tells us which group the instruction belongs to (e.g., R-type, I-type, etc.).</a:t>
            </a:r>
          </a:p>
          <a:p>
            <a:r>
              <a:rPr lang="en-US" b="1" u="sng" dirty="0">
                <a:latin typeface="Calibri" panose="020F0502020204030204" pitchFamily="34" charset="0"/>
                <a:cs typeface="Calibri" panose="020F0502020204030204" pitchFamily="34" charset="0"/>
              </a:rPr>
              <a:t>Section (funct7) </a:t>
            </a:r>
            <a:r>
              <a:rPr lang="en-US" dirty="0">
                <a:latin typeface="Calibri" panose="020F0502020204030204" pitchFamily="34" charset="0"/>
                <a:cs typeface="Calibri" panose="020F0502020204030204" pitchFamily="34" charset="0"/>
              </a:rPr>
              <a:t>– Within a class, students may be split into different sections. This helps further narrow down the instruction's category.</a:t>
            </a:r>
          </a:p>
          <a:p>
            <a:r>
              <a:rPr lang="en-US" b="1" u="sng" dirty="0">
                <a:latin typeface="Calibri" panose="020F0502020204030204" pitchFamily="34" charset="0"/>
                <a:cs typeface="Calibri" panose="020F0502020204030204" pitchFamily="34" charset="0"/>
              </a:rPr>
              <a:t>Roll Number (funct3) </a:t>
            </a:r>
            <a:r>
              <a:rPr lang="en-US" dirty="0">
                <a:latin typeface="Calibri" panose="020F0502020204030204" pitchFamily="34" charset="0"/>
                <a:cs typeface="Calibri" panose="020F0502020204030204" pitchFamily="34" charset="0"/>
              </a:rPr>
              <a:t>– Finally, each instruction (student) has a unique identifier within that section.</a:t>
            </a:r>
          </a:p>
          <a:p>
            <a:pPr marL="0" indent="0">
              <a:buNone/>
            </a:pPr>
            <a:r>
              <a:rPr lang="en-IN" dirty="0">
                <a:latin typeface="Calibri" panose="020F0502020204030204" pitchFamily="34" charset="0"/>
                <a:cs typeface="Calibri" panose="020F0502020204030204" pitchFamily="34" charset="0"/>
              </a:rPr>
              <a:t>Also, there are three different fields :</a:t>
            </a:r>
            <a:br>
              <a:rPr lang="en-IN" dirty="0">
                <a:latin typeface="Calibri" panose="020F0502020204030204" pitchFamily="34" charset="0"/>
                <a:cs typeface="Calibri" panose="020F0502020204030204" pitchFamily="34" charset="0"/>
              </a:rPr>
            </a:br>
            <a:r>
              <a:rPr lang="en-IN" dirty="0" err="1">
                <a:latin typeface="Calibri" panose="020F0502020204030204" pitchFamily="34" charset="0"/>
                <a:cs typeface="Calibri" panose="020F0502020204030204" pitchFamily="34" charset="0"/>
              </a:rPr>
              <a:t>i</a:t>
            </a:r>
            <a:r>
              <a:rPr lang="en-IN" dirty="0">
                <a:latin typeface="Calibri" panose="020F0502020204030204" pitchFamily="34" charset="0"/>
                <a:cs typeface="Calibri" panose="020F0502020204030204" pitchFamily="34" charset="0"/>
              </a:rPr>
              <a:t>) </a:t>
            </a:r>
            <a:r>
              <a:rPr lang="en-US" b="1" u="sng" dirty="0">
                <a:latin typeface="Calibri" panose="020F0502020204030204" pitchFamily="34" charset="0"/>
                <a:cs typeface="Calibri" panose="020F0502020204030204" pitchFamily="34" charset="0"/>
              </a:rPr>
              <a:t>rs1 and rs2 </a:t>
            </a:r>
            <a:r>
              <a:rPr lang="en-US" dirty="0">
                <a:latin typeface="Calibri" panose="020F0502020204030204" pitchFamily="34" charset="0"/>
                <a:cs typeface="Calibri" panose="020F0502020204030204" pitchFamily="34" charset="0"/>
              </a:rPr>
              <a:t>– This tells us about the addresses of the source registers. Source Registers are generally operands. There are two Sources i.e. </a:t>
            </a:r>
            <a:r>
              <a:rPr lang="en-US" b="1" dirty="0">
                <a:latin typeface="Calibri" panose="020F0502020204030204" pitchFamily="34" charset="0"/>
                <a:cs typeface="Calibri" panose="020F0502020204030204" pitchFamily="34" charset="0"/>
              </a:rPr>
              <a:t>rs1</a:t>
            </a:r>
            <a:r>
              <a:rPr lang="en-US" dirty="0">
                <a:latin typeface="Calibri" panose="020F0502020204030204" pitchFamily="34" charset="0"/>
                <a:cs typeface="Calibri" panose="020F0502020204030204" pitchFamily="34" charset="0"/>
              </a:rPr>
              <a:t> and </a:t>
            </a:r>
            <a:r>
              <a:rPr lang="en-US" b="1" dirty="0">
                <a:latin typeface="Calibri" panose="020F0502020204030204" pitchFamily="34" charset="0"/>
                <a:cs typeface="Calibri" panose="020F0502020204030204" pitchFamily="34" charset="0"/>
              </a:rPr>
              <a:t>rs2</a:t>
            </a:r>
            <a:r>
              <a:rPr lang="en-US" dirty="0">
                <a:latin typeface="Calibri" panose="020F0502020204030204" pitchFamily="34" charset="0"/>
                <a:cs typeface="Calibri" panose="020F0502020204030204" pitchFamily="34" charset="0"/>
              </a:rPr>
              <a:t> in the Instruction Formats. </a:t>
            </a:r>
            <a:r>
              <a:rPr lang="en-US" b="1" dirty="0">
                <a:latin typeface="Calibri" panose="020F0502020204030204" pitchFamily="34" charset="0"/>
                <a:cs typeface="Calibri" panose="020F0502020204030204" pitchFamily="34" charset="0"/>
              </a:rPr>
              <a:t>rs1</a:t>
            </a:r>
            <a:r>
              <a:rPr lang="en-US" dirty="0">
                <a:latin typeface="Calibri" panose="020F0502020204030204" pitchFamily="34" charset="0"/>
                <a:cs typeface="Calibri" panose="020F0502020204030204" pitchFamily="34" charset="0"/>
              </a:rPr>
              <a:t> and </a:t>
            </a:r>
            <a:r>
              <a:rPr lang="en-US" b="1" dirty="0">
                <a:latin typeface="Calibri" panose="020F0502020204030204" pitchFamily="34" charset="0"/>
                <a:cs typeface="Calibri" panose="020F0502020204030204" pitchFamily="34" charset="0"/>
              </a:rPr>
              <a:t>rs2</a:t>
            </a:r>
            <a:r>
              <a:rPr lang="en-US" dirty="0">
                <a:latin typeface="Calibri" panose="020F0502020204030204" pitchFamily="34" charset="0"/>
                <a:cs typeface="Calibri" panose="020F0502020204030204" pitchFamily="34" charset="0"/>
              </a:rPr>
              <a:t> are used in </a:t>
            </a:r>
            <a:r>
              <a:rPr lang="en-US" b="1" dirty="0">
                <a:latin typeface="Calibri" panose="020F0502020204030204" pitchFamily="34" charset="0"/>
                <a:cs typeface="Calibri" panose="020F0502020204030204" pitchFamily="34" charset="0"/>
              </a:rPr>
              <a:t>R</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S</a:t>
            </a:r>
            <a:r>
              <a:rPr lang="en-US" dirty="0">
                <a:latin typeface="Calibri" panose="020F0502020204030204" pitchFamily="34" charset="0"/>
                <a:cs typeface="Calibri" panose="020F0502020204030204" pitchFamily="34" charset="0"/>
              </a:rPr>
              <a:t>, and </a:t>
            </a:r>
            <a:r>
              <a:rPr lang="en-US" b="1" dirty="0">
                <a:latin typeface="Calibri" panose="020F0502020204030204" pitchFamily="34" charset="0"/>
                <a:cs typeface="Calibri" panose="020F0502020204030204" pitchFamily="34" charset="0"/>
              </a:rPr>
              <a:t>B</a:t>
            </a:r>
            <a:r>
              <a:rPr lang="en-US" dirty="0">
                <a:latin typeface="Calibri" panose="020F0502020204030204" pitchFamily="34" charset="0"/>
                <a:cs typeface="Calibri" panose="020F0502020204030204" pitchFamily="34" charset="0"/>
              </a:rPr>
              <a:t>-type instructions</a:t>
            </a:r>
          </a:p>
          <a:p>
            <a:pPr marL="0" indent="0">
              <a:buNone/>
            </a:pPr>
            <a:r>
              <a:rPr lang="en-US" dirty="0">
                <a:latin typeface="Calibri" panose="020F0502020204030204" pitchFamily="34" charset="0"/>
                <a:cs typeface="Calibri" panose="020F0502020204030204" pitchFamily="34" charset="0"/>
              </a:rPr>
              <a:t>ii) </a:t>
            </a:r>
            <a:r>
              <a:rPr lang="en-US" b="1" u="sng" dirty="0" err="1">
                <a:latin typeface="Calibri" panose="020F0502020204030204" pitchFamily="34" charset="0"/>
                <a:cs typeface="Calibri" panose="020F0502020204030204" pitchFamily="34" charset="0"/>
              </a:rPr>
              <a:t>rd</a:t>
            </a:r>
            <a:r>
              <a:rPr lang="en-US" b="1" u="sng"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This tells us about the address of the destination register --- register at which the result will be stored. Rd is used in </a:t>
            </a:r>
            <a:r>
              <a:rPr lang="en-US" b="1" dirty="0">
                <a:latin typeface="Calibri" panose="020F0502020204030204" pitchFamily="34" charset="0"/>
                <a:cs typeface="Calibri" panose="020F0502020204030204" pitchFamily="34" charset="0"/>
              </a:rPr>
              <a:t>R</a:t>
            </a:r>
            <a:r>
              <a:rPr lang="en-US" dirty="0">
                <a:latin typeface="Calibri" panose="020F0502020204030204" pitchFamily="34" charset="0"/>
                <a:cs typeface="Calibri" panose="020F0502020204030204" pitchFamily="34" charset="0"/>
              </a:rPr>
              <a:t>-type, </a:t>
            </a:r>
            <a:r>
              <a:rPr lang="en-US" b="1" dirty="0">
                <a:latin typeface="Calibri" panose="020F0502020204030204" pitchFamily="34" charset="0"/>
                <a:cs typeface="Calibri" panose="020F0502020204030204" pitchFamily="34" charset="0"/>
              </a:rPr>
              <a:t>I</a:t>
            </a:r>
            <a:r>
              <a:rPr lang="en-US" dirty="0">
                <a:latin typeface="Calibri" panose="020F0502020204030204" pitchFamily="34" charset="0"/>
                <a:cs typeface="Calibri" panose="020F0502020204030204" pitchFamily="34" charset="0"/>
              </a:rPr>
              <a:t>-type, </a:t>
            </a:r>
            <a:r>
              <a:rPr lang="en-US" b="1" dirty="0">
                <a:latin typeface="Calibri" panose="020F0502020204030204" pitchFamily="34" charset="0"/>
                <a:cs typeface="Calibri" panose="020F0502020204030204" pitchFamily="34" charset="0"/>
              </a:rPr>
              <a:t>J</a:t>
            </a:r>
            <a:r>
              <a:rPr lang="en-US" dirty="0">
                <a:latin typeface="Calibri" panose="020F0502020204030204" pitchFamily="34" charset="0"/>
                <a:cs typeface="Calibri" panose="020F0502020204030204" pitchFamily="34" charset="0"/>
              </a:rPr>
              <a:t>-type, </a:t>
            </a:r>
            <a:r>
              <a:rPr lang="en-US" b="1" dirty="0">
                <a:latin typeface="Calibri" panose="020F0502020204030204" pitchFamily="34" charset="0"/>
                <a:cs typeface="Calibri" panose="020F0502020204030204" pitchFamily="34" charset="0"/>
              </a:rPr>
              <a:t>U</a:t>
            </a:r>
            <a:r>
              <a:rPr lang="en-US" dirty="0">
                <a:latin typeface="Calibri" panose="020F0502020204030204" pitchFamily="34" charset="0"/>
                <a:cs typeface="Calibri" panose="020F0502020204030204" pitchFamily="34" charset="0"/>
              </a:rPr>
              <a:t>-type instructions.</a:t>
            </a:r>
          </a:p>
          <a:p>
            <a:pPr marL="0" indent="0">
              <a:buNone/>
            </a:pPr>
            <a:r>
              <a:rPr lang="en-US" dirty="0">
                <a:latin typeface="Calibri" panose="020F0502020204030204" pitchFamily="34" charset="0"/>
                <a:cs typeface="Calibri" panose="020F0502020204030204" pitchFamily="34" charset="0"/>
              </a:rPr>
              <a:t>iii) </a:t>
            </a:r>
            <a:r>
              <a:rPr lang="en-US" b="1" u="sng" dirty="0">
                <a:latin typeface="Calibri" panose="020F0502020204030204" pitchFamily="34" charset="0"/>
                <a:cs typeface="Calibri" panose="020F0502020204030204" pitchFamily="34" charset="0"/>
              </a:rPr>
              <a:t>Imm </a:t>
            </a:r>
            <a:r>
              <a:rPr lang="en-US" dirty="0">
                <a:latin typeface="Calibri" panose="020F0502020204030204" pitchFamily="34" charset="0"/>
                <a:cs typeface="Calibri" panose="020F0502020204030204" pitchFamily="34" charset="0"/>
              </a:rPr>
              <a:t>– Finally, </a:t>
            </a:r>
            <a:r>
              <a:rPr lang="en-US" b="1" dirty="0" err="1">
                <a:latin typeface="Calibri" panose="020F0502020204030204" pitchFamily="34" charset="0"/>
                <a:cs typeface="Calibri" panose="020F0502020204030204" pitchFamily="34" charset="0"/>
              </a:rPr>
              <a:t>imm</a:t>
            </a:r>
            <a:r>
              <a:rPr lang="en-US" dirty="0">
                <a:latin typeface="Calibri" panose="020F0502020204030204" pitchFamily="34" charset="0"/>
                <a:cs typeface="Calibri" panose="020F0502020204030204" pitchFamily="34" charset="0"/>
              </a:rPr>
              <a:t> or </a:t>
            </a:r>
            <a:r>
              <a:rPr lang="en-US" b="1" dirty="0">
                <a:latin typeface="Calibri" panose="020F0502020204030204" pitchFamily="34" charset="0"/>
                <a:cs typeface="Calibri" panose="020F0502020204030204" pitchFamily="34" charset="0"/>
              </a:rPr>
              <a:t>immediate</a:t>
            </a:r>
            <a:r>
              <a:rPr lang="en-US" dirty="0">
                <a:latin typeface="Calibri" panose="020F0502020204030204" pitchFamily="34" charset="0"/>
                <a:cs typeface="Calibri" panose="020F0502020204030204" pitchFamily="34" charset="0"/>
              </a:rPr>
              <a:t> refers to a Constant value with which many operations can be done.</a:t>
            </a:r>
          </a:p>
          <a:p>
            <a:pPr marL="0" indent="0">
              <a:buNone/>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8593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8F54E-2527-1959-FF69-C0D54D3BA0E2}"/>
              </a:ext>
            </a:extLst>
          </p:cNvPr>
          <p:cNvSpPr>
            <a:spLocks noGrp="1"/>
          </p:cNvSpPr>
          <p:nvPr>
            <p:ph type="title"/>
          </p:nvPr>
        </p:nvSpPr>
        <p:spPr>
          <a:xfrm>
            <a:off x="750367" y="40341"/>
            <a:ext cx="10691265" cy="658906"/>
          </a:xfrm>
        </p:spPr>
        <p:txBody>
          <a:bodyPr>
            <a:normAutofit fontScale="90000"/>
          </a:bodyPr>
          <a:lstStyle/>
          <a:p>
            <a:pPr algn="ctr"/>
            <a:r>
              <a:rPr lang="en-US" dirty="0"/>
              <a:t>Risc-v base instruction formats</a:t>
            </a:r>
            <a:endParaRPr lang="en-IN" dirty="0"/>
          </a:p>
        </p:txBody>
      </p:sp>
      <p:graphicFrame>
        <p:nvGraphicFramePr>
          <p:cNvPr id="4" name="Content Placeholder 3">
            <a:extLst>
              <a:ext uri="{FF2B5EF4-FFF2-40B4-BE49-F238E27FC236}">
                <a16:creationId xmlns:a16="http://schemas.microsoft.com/office/drawing/2014/main" id="{EAF6B0E2-15FF-3EF5-93E6-FD77BDA6777B}"/>
              </a:ext>
            </a:extLst>
          </p:cNvPr>
          <p:cNvGraphicFramePr>
            <a:graphicFrameLocks noGrp="1"/>
          </p:cNvGraphicFramePr>
          <p:nvPr>
            <p:ph idx="1"/>
            <p:extLst>
              <p:ext uri="{D42A27DB-BD31-4B8C-83A1-F6EECF244321}">
                <p14:modId xmlns:p14="http://schemas.microsoft.com/office/powerpoint/2010/main" val="2664148305"/>
              </p:ext>
            </p:extLst>
          </p:nvPr>
        </p:nvGraphicFramePr>
        <p:xfrm>
          <a:off x="749824" y="1066053"/>
          <a:ext cx="10691808" cy="370840"/>
        </p:xfrm>
        <a:graphic>
          <a:graphicData uri="http://schemas.openxmlformats.org/drawingml/2006/table">
            <a:tbl>
              <a:tblPr firstRow="1" bandRow="1">
                <a:tableStyleId>{5940675A-B579-460E-94D1-54222C63F5DA}</a:tableStyleId>
              </a:tblPr>
              <a:tblGrid>
                <a:gridCol w="2396788">
                  <a:extLst>
                    <a:ext uri="{9D8B030D-6E8A-4147-A177-3AD203B41FA5}">
                      <a16:colId xmlns:a16="http://schemas.microsoft.com/office/drawing/2014/main" val="2057782362"/>
                    </a:ext>
                  </a:extLst>
                </a:gridCol>
                <a:gridCol w="1694329">
                  <a:extLst>
                    <a:ext uri="{9D8B030D-6E8A-4147-A177-3AD203B41FA5}">
                      <a16:colId xmlns:a16="http://schemas.microsoft.com/office/drawing/2014/main" val="1544187250"/>
                    </a:ext>
                  </a:extLst>
                </a:gridCol>
                <a:gridCol w="1640541">
                  <a:extLst>
                    <a:ext uri="{9D8B030D-6E8A-4147-A177-3AD203B41FA5}">
                      <a16:colId xmlns:a16="http://schemas.microsoft.com/office/drawing/2014/main" val="4005088298"/>
                    </a:ext>
                  </a:extLst>
                </a:gridCol>
                <a:gridCol w="1329018">
                  <a:extLst>
                    <a:ext uri="{9D8B030D-6E8A-4147-A177-3AD203B41FA5}">
                      <a16:colId xmlns:a16="http://schemas.microsoft.com/office/drawing/2014/main" val="604846462"/>
                    </a:ext>
                  </a:extLst>
                </a:gridCol>
                <a:gridCol w="1849164">
                  <a:extLst>
                    <a:ext uri="{9D8B030D-6E8A-4147-A177-3AD203B41FA5}">
                      <a16:colId xmlns:a16="http://schemas.microsoft.com/office/drawing/2014/main" val="3114756302"/>
                    </a:ext>
                  </a:extLst>
                </a:gridCol>
                <a:gridCol w="1781968">
                  <a:extLst>
                    <a:ext uri="{9D8B030D-6E8A-4147-A177-3AD203B41FA5}">
                      <a16:colId xmlns:a16="http://schemas.microsoft.com/office/drawing/2014/main" val="4124976001"/>
                    </a:ext>
                  </a:extLst>
                </a:gridCol>
              </a:tblGrid>
              <a:tr h="370840">
                <a:tc>
                  <a:txBody>
                    <a:bodyPr/>
                    <a:lstStyle/>
                    <a:p>
                      <a:pPr algn="ctr"/>
                      <a:r>
                        <a:rPr lang="en-US" dirty="0">
                          <a:solidFill>
                            <a:sysClr val="windowText" lastClr="000000"/>
                          </a:solidFill>
                        </a:rPr>
                        <a:t>funct7</a:t>
                      </a:r>
                      <a:endParaRPr lang="en-IN"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ysClr val="windowText" lastClr="000000"/>
                          </a:solidFill>
                        </a:rPr>
                        <a:t>rs2</a:t>
                      </a:r>
                      <a:endParaRPr lang="en-IN"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ysClr val="windowText" lastClr="000000"/>
                          </a:solidFill>
                        </a:rPr>
                        <a:t>rs1</a:t>
                      </a:r>
                      <a:endParaRPr lang="en-IN"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ysClr val="windowText" lastClr="000000"/>
                          </a:solidFill>
                        </a:rPr>
                        <a:t>funct3</a:t>
                      </a:r>
                      <a:endParaRPr lang="en-IN"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solidFill>
                            <a:sysClr val="windowText" lastClr="000000"/>
                          </a:solidFill>
                        </a:rPr>
                        <a:t>rd</a:t>
                      </a:r>
                      <a:endParaRPr lang="en-IN"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ysClr val="windowText" lastClr="000000"/>
                          </a:solidFill>
                        </a:rPr>
                        <a:t>opcode</a:t>
                      </a:r>
                      <a:endParaRPr lang="en-IN"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111124"/>
                  </a:ext>
                </a:extLst>
              </a:tr>
            </a:tbl>
          </a:graphicData>
        </a:graphic>
      </p:graphicFrame>
      <p:graphicFrame>
        <p:nvGraphicFramePr>
          <p:cNvPr id="5" name="Content Placeholder 3">
            <a:extLst>
              <a:ext uri="{FF2B5EF4-FFF2-40B4-BE49-F238E27FC236}">
                <a16:creationId xmlns:a16="http://schemas.microsoft.com/office/drawing/2014/main" id="{A96B0F6B-B8A7-C708-1E91-E393E00822C7}"/>
              </a:ext>
            </a:extLst>
          </p:cNvPr>
          <p:cNvGraphicFramePr>
            <a:graphicFrameLocks/>
          </p:cNvGraphicFramePr>
          <p:nvPr>
            <p:extLst>
              <p:ext uri="{D42A27DB-BD31-4B8C-83A1-F6EECF244321}">
                <p14:modId xmlns:p14="http://schemas.microsoft.com/office/powerpoint/2010/main" val="487075608"/>
              </p:ext>
            </p:extLst>
          </p:nvPr>
        </p:nvGraphicFramePr>
        <p:xfrm>
          <a:off x="749824" y="1803699"/>
          <a:ext cx="10691807" cy="370840"/>
        </p:xfrm>
        <a:graphic>
          <a:graphicData uri="http://schemas.openxmlformats.org/drawingml/2006/table">
            <a:tbl>
              <a:tblPr firstRow="1" bandRow="1">
                <a:tableStyleId>{5940675A-B579-460E-94D1-54222C63F5DA}</a:tableStyleId>
              </a:tblPr>
              <a:tblGrid>
                <a:gridCol w="4091117">
                  <a:extLst>
                    <a:ext uri="{9D8B030D-6E8A-4147-A177-3AD203B41FA5}">
                      <a16:colId xmlns:a16="http://schemas.microsoft.com/office/drawing/2014/main" val="1544187250"/>
                    </a:ext>
                  </a:extLst>
                </a:gridCol>
                <a:gridCol w="1640541">
                  <a:extLst>
                    <a:ext uri="{9D8B030D-6E8A-4147-A177-3AD203B41FA5}">
                      <a16:colId xmlns:a16="http://schemas.microsoft.com/office/drawing/2014/main" val="4005088298"/>
                    </a:ext>
                  </a:extLst>
                </a:gridCol>
                <a:gridCol w="1324256">
                  <a:extLst>
                    <a:ext uri="{9D8B030D-6E8A-4147-A177-3AD203B41FA5}">
                      <a16:colId xmlns:a16="http://schemas.microsoft.com/office/drawing/2014/main" val="604846462"/>
                    </a:ext>
                  </a:extLst>
                </a:gridCol>
                <a:gridCol w="1846262">
                  <a:extLst>
                    <a:ext uri="{9D8B030D-6E8A-4147-A177-3AD203B41FA5}">
                      <a16:colId xmlns:a16="http://schemas.microsoft.com/office/drawing/2014/main" val="3114756302"/>
                    </a:ext>
                  </a:extLst>
                </a:gridCol>
                <a:gridCol w="1789631">
                  <a:extLst>
                    <a:ext uri="{9D8B030D-6E8A-4147-A177-3AD203B41FA5}">
                      <a16:colId xmlns:a16="http://schemas.microsoft.com/office/drawing/2014/main" val="4124976001"/>
                    </a:ext>
                  </a:extLst>
                </a:gridCol>
              </a:tblGrid>
              <a:tr h="370840">
                <a:tc>
                  <a:txBody>
                    <a:bodyPr/>
                    <a:lstStyle/>
                    <a:p>
                      <a:pPr algn="ctr"/>
                      <a:r>
                        <a:rPr lang="en-US" dirty="0"/>
                        <a:t>Imm[11:0]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rs1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funct3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t>rd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opcode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111124"/>
                  </a:ext>
                </a:extLst>
              </a:tr>
            </a:tbl>
          </a:graphicData>
        </a:graphic>
      </p:graphicFrame>
      <p:graphicFrame>
        <p:nvGraphicFramePr>
          <p:cNvPr id="6" name="Content Placeholder 3">
            <a:extLst>
              <a:ext uri="{FF2B5EF4-FFF2-40B4-BE49-F238E27FC236}">
                <a16:creationId xmlns:a16="http://schemas.microsoft.com/office/drawing/2014/main" id="{9618A30E-3FCB-AB9F-3A83-C470AC6C966B}"/>
              </a:ext>
            </a:extLst>
          </p:cNvPr>
          <p:cNvGraphicFramePr>
            <a:graphicFrameLocks/>
          </p:cNvGraphicFramePr>
          <p:nvPr>
            <p:extLst>
              <p:ext uri="{D42A27DB-BD31-4B8C-83A1-F6EECF244321}">
                <p14:modId xmlns:p14="http://schemas.microsoft.com/office/powerpoint/2010/main" val="3181619294"/>
              </p:ext>
            </p:extLst>
          </p:nvPr>
        </p:nvGraphicFramePr>
        <p:xfrm>
          <a:off x="749824" y="2541345"/>
          <a:ext cx="10691808" cy="370840"/>
        </p:xfrm>
        <a:graphic>
          <a:graphicData uri="http://schemas.openxmlformats.org/drawingml/2006/table">
            <a:tbl>
              <a:tblPr firstRow="1" bandRow="1">
                <a:tableStyleId>{5940675A-B579-460E-94D1-54222C63F5DA}</a:tableStyleId>
              </a:tblPr>
              <a:tblGrid>
                <a:gridCol w="2395807">
                  <a:extLst>
                    <a:ext uri="{9D8B030D-6E8A-4147-A177-3AD203B41FA5}">
                      <a16:colId xmlns:a16="http://schemas.microsoft.com/office/drawing/2014/main" val="2057782362"/>
                    </a:ext>
                  </a:extLst>
                </a:gridCol>
                <a:gridCol w="1683544">
                  <a:extLst>
                    <a:ext uri="{9D8B030D-6E8A-4147-A177-3AD203B41FA5}">
                      <a16:colId xmlns:a16="http://schemas.microsoft.com/office/drawing/2014/main" val="1544187250"/>
                    </a:ext>
                  </a:extLst>
                </a:gridCol>
                <a:gridCol w="1638860">
                  <a:extLst>
                    <a:ext uri="{9D8B030D-6E8A-4147-A177-3AD203B41FA5}">
                      <a16:colId xmlns:a16="http://schemas.microsoft.com/office/drawing/2014/main" val="4005088298"/>
                    </a:ext>
                  </a:extLst>
                </a:gridCol>
                <a:gridCol w="1342465">
                  <a:extLst>
                    <a:ext uri="{9D8B030D-6E8A-4147-A177-3AD203B41FA5}">
                      <a16:colId xmlns:a16="http://schemas.microsoft.com/office/drawing/2014/main" val="604846462"/>
                    </a:ext>
                  </a:extLst>
                </a:gridCol>
                <a:gridCol w="1849164">
                  <a:extLst>
                    <a:ext uri="{9D8B030D-6E8A-4147-A177-3AD203B41FA5}">
                      <a16:colId xmlns:a16="http://schemas.microsoft.com/office/drawing/2014/main" val="3114756302"/>
                    </a:ext>
                  </a:extLst>
                </a:gridCol>
                <a:gridCol w="1781968">
                  <a:extLst>
                    <a:ext uri="{9D8B030D-6E8A-4147-A177-3AD203B41FA5}">
                      <a16:colId xmlns:a16="http://schemas.microsoft.com/office/drawing/2014/main" val="4124976001"/>
                    </a:ext>
                  </a:extLst>
                </a:gridCol>
              </a:tblGrid>
              <a:tr h="370840">
                <a:tc>
                  <a:txBody>
                    <a:bodyPr/>
                    <a:lstStyle/>
                    <a:p>
                      <a:pPr algn="ctr"/>
                      <a:r>
                        <a:rPr lang="en-US" dirty="0"/>
                        <a:t>funct7</a:t>
                      </a:r>
                      <a:endParaRPr lang="en-IN" dirty="0"/>
                    </a:p>
                  </a:txBody>
                  <a:tcPr anchor="ctr"/>
                </a:tc>
                <a:tc>
                  <a:txBody>
                    <a:bodyPr/>
                    <a:lstStyle/>
                    <a:p>
                      <a:pPr algn="ctr"/>
                      <a:r>
                        <a:rPr lang="en-US" dirty="0" err="1"/>
                        <a:t>shamt</a:t>
                      </a:r>
                      <a:endParaRPr lang="en-IN" dirty="0"/>
                    </a:p>
                  </a:txBody>
                  <a:tcPr anchor="ctr"/>
                </a:tc>
                <a:tc>
                  <a:txBody>
                    <a:bodyPr/>
                    <a:lstStyle/>
                    <a:p>
                      <a:pPr algn="ctr"/>
                      <a:r>
                        <a:rPr lang="en-US" dirty="0"/>
                        <a:t>rs1</a:t>
                      </a:r>
                      <a:endParaRPr lang="en-IN" dirty="0"/>
                    </a:p>
                  </a:txBody>
                  <a:tcPr anchor="ctr"/>
                </a:tc>
                <a:tc>
                  <a:txBody>
                    <a:bodyPr/>
                    <a:lstStyle/>
                    <a:p>
                      <a:pPr algn="ctr"/>
                      <a:r>
                        <a:rPr lang="en-US" dirty="0"/>
                        <a:t>funct3</a:t>
                      </a:r>
                      <a:endParaRPr lang="en-IN" dirty="0"/>
                    </a:p>
                  </a:txBody>
                  <a:tcPr anchor="ctr"/>
                </a:tc>
                <a:tc>
                  <a:txBody>
                    <a:bodyPr/>
                    <a:lstStyle/>
                    <a:p>
                      <a:pPr algn="ctr"/>
                      <a:r>
                        <a:rPr lang="en-US" dirty="0" err="1"/>
                        <a:t>rd</a:t>
                      </a:r>
                      <a:endParaRPr lang="en-IN" dirty="0"/>
                    </a:p>
                  </a:txBody>
                  <a:tcPr anchor="ctr"/>
                </a:tc>
                <a:tc>
                  <a:txBody>
                    <a:bodyPr/>
                    <a:lstStyle/>
                    <a:p>
                      <a:pPr algn="ctr"/>
                      <a:r>
                        <a:rPr lang="en-US" dirty="0"/>
                        <a:t>opcode</a:t>
                      </a:r>
                      <a:endParaRPr lang="en-IN" dirty="0"/>
                    </a:p>
                  </a:txBody>
                  <a:tcPr anchor="ctr"/>
                </a:tc>
                <a:extLst>
                  <a:ext uri="{0D108BD9-81ED-4DB2-BD59-A6C34878D82A}">
                    <a16:rowId xmlns:a16="http://schemas.microsoft.com/office/drawing/2014/main" val="285111124"/>
                  </a:ext>
                </a:extLst>
              </a:tr>
            </a:tbl>
          </a:graphicData>
        </a:graphic>
      </p:graphicFrame>
      <p:graphicFrame>
        <p:nvGraphicFramePr>
          <p:cNvPr id="8" name="Content Placeholder 3">
            <a:extLst>
              <a:ext uri="{FF2B5EF4-FFF2-40B4-BE49-F238E27FC236}">
                <a16:creationId xmlns:a16="http://schemas.microsoft.com/office/drawing/2014/main" id="{A86528ED-DCAA-86AF-B6B2-12F472F922E8}"/>
              </a:ext>
            </a:extLst>
          </p:cNvPr>
          <p:cNvGraphicFramePr>
            <a:graphicFrameLocks/>
          </p:cNvGraphicFramePr>
          <p:nvPr>
            <p:extLst>
              <p:ext uri="{D42A27DB-BD31-4B8C-83A1-F6EECF244321}">
                <p14:modId xmlns:p14="http://schemas.microsoft.com/office/powerpoint/2010/main" val="4197384341"/>
              </p:ext>
            </p:extLst>
          </p:nvPr>
        </p:nvGraphicFramePr>
        <p:xfrm>
          <a:off x="749824" y="3243580"/>
          <a:ext cx="10691808" cy="370840"/>
        </p:xfrm>
        <a:graphic>
          <a:graphicData uri="http://schemas.openxmlformats.org/drawingml/2006/table">
            <a:tbl>
              <a:tblPr firstRow="1" bandRow="1">
                <a:tableStyleId>{5940675A-B579-460E-94D1-54222C63F5DA}</a:tableStyleId>
              </a:tblPr>
              <a:tblGrid>
                <a:gridCol w="2398189">
                  <a:extLst>
                    <a:ext uri="{9D8B030D-6E8A-4147-A177-3AD203B41FA5}">
                      <a16:colId xmlns:a16="http://schemas.microsoft.com/office/drawing/2014/main" val="2057782362"/>
                    </a:ext>
                  </a:extLst>
                </a:gridCol>
                <a:gridCol w="1692928">
                  <a:extLst>
                    <a:ext uri="{9D8B030D-6E8A-4147-A177-3AD203B41FA5}">
                      <a16:colId xmlns:a16="http://schemas.microsoft.com/office/drawing/2014/main" val="1544187250"/>
                    </a:ext>
                  </a:extLst>
                </a:gridCol>
                <a:gridCol w="1640541">
                  <a:extLst>
                    <a:ext uri="{9D8B030D-6E8A-4147-A177-3AD203B41FA5}">
                      <a16:colId xmlns:a16="http://schemas.microsoft.com/office/drawing/2014/main" val="4005088298"/>
                    </a:ext>
                  </a:extLst>
                </a:gridCol>
                <a:gridCol w="1324256">
                  <a:extLst>
                    <a:ext uri="{9D8B030D-6E8A-4147-A177-3AD203B41FA5}">
                      <a16:colId xmlns:a16="http://schemas.microsoft.com/office/drawing/2014/main" val="604846462"/>
                    </a:ext>
                  </a:extLst>
                </a:gridCol>
                <a:gridCol w="1853926">
                  <a:extLst>
                    <a:ext uri="{9D8B030D-6E8A-4147-A177-3AD203B41FA5}">
                      <a16:colId xmlns:a16="http://schemas.microsoft.com/office/drawing/2014/main" val="3114756302"/>
                    </a:ext>
                  </a:extLst>
                </a:gridCol>
                <a:gridCol w="1781968">
                  <a:extLst>
                    <a:ext uri="{9D8B030D-6E8A-4147-A177-3AD203B41FA5}">
                      <a16:colId xmlns:a16="http://schemas.microsoft.com/office/drawing/2014/main" val="4124976001"/>
                    </a:ext>
                  </a:extLst>
                </a:gridCol>
              </a:tblGrid>
              <a:tr h="370840">
                <a:tc>
                  <a:txBody>
                    <a:bodyPr/>
                    <a:lstStyle/>
                    <a:p>
                      <a:pPr algn="ctr"/>
                      <a:r>
                        <a:rPr lang="en-US" dirty="0" err="1"/>
                        <a:t>imm</a:t>
                      </a:r>
                      <a:r>
                        <a:rPr lang="en-US" dirty="0"/>
                        <a:t>[11:5]</a:t>
                      </a:r>
                      <a:endParaRPr lang="en-IN" dirty="0"/>
                    </a:p>
                  </a:txBody>
                  <a:tcPr anchor="ctr"/>
                </a:tc>
                <a:tc>
                  <a:txBody>
                    <a:bodyPr/>
                    <a:lstStyle/>
                    <a:p>
                      <a:pPr algn="ctr"/>
                      <a:r>
                        <a:rPr lang="en-US" dirty="0"/>
                        <a:t>rs2</a:t>
                      </a:r>
                      <a:endParaRPr lang="en-IN" dirty="0"/>
                    </a:p>
                  </a:txBody>
                  <a:tcPr anchor="ctr"/>
                </a:tc>
                <a:tc>
                  <a:txBody>
                    <a:bodyPr/>
                    <a:lstStyle/>
                    <a:p>
                      <a:pPr algn="ctr"/>
                      <a:r>
                        <a:rPr lang="en-US" dirty="0"/>
                        <a:t>rs1</a:t>
                      </a:r>
                      <a:endParaRPr lang="en-IN" dirty="0"/>
                    </a:p>
                  </a:txBody>
                  <a:tcPr anchor="ctr"/>
                </a:tc>
                <a:tc>
                  <a:txBody>
                    <a:bodyPr/>
                    <a:lstStyle/>
                    <a:p>
                      <a:pPr algn="ctr"/>
                      <a:r>
                        <a:rPr lang="en-US" dirty="0"/>
                        <a:t>funct3</a:t>
                      </a:r>
                      <a:endParaRPr lang="en-IN" dirty="0"/>
                    </a:p>
                  </a:txBody>
                  <a:tcPr anchor="ctr"/>
                </a:tc>
                <a:tc>
                  <a:txBody>
                    <a:bodyPr/>
                    <a:lstStyle/>
                    <a:p>
                      <a:pPr algn="ctr"/>
                      <a:r>
                        <a:rPr lang="en-US" dirty="0" err="1"/>
                        <a:t>imm</a:t>
                      </a:r>
                      <a:r>
                        <a:rPr lang="en-US" dirty="0"/>
                        <a:t>[4:0]</a:t>
                      </a:r>
                      <a:endParaRPr lang="en-IN" dirty="0"/>
                    </a:p>
                  </a:txBody>
                  <a:tcPr anchor="ctr"/>
                </a:tc>
                <a:tc>
                  <a:txBody>
                    <a:bodyPr/>
                    <a:lstStyle/>
                    <a:p>
                      <a:pPr algn="ctr"/>
                      <a:r>
                        <a:rPr lang="en-US" dirty="0"/>
                        <a:t>opcode</a:t>
                      </a:r>
                      <a:endParaRPr lang="en-IN" dirty="0"/>
                    </a:p>
                  </a:txBody>
                  <a:tcPr anchor="ctr"/>
                </a:tc>
                <a:extLst>
                  <a:ext uri="{0D108BD9-81ED-4DB2-BD59-A6C34878D82A}">
                    <a16:rowId xmlns:a16="http://schemas.microsoft.com/office/drawing/2014/main" val="285111124"/>
                  </a:ext>
                </a:extLst>
              </a:tr>
            </a:tbl>
          </a:graphicData>
        </a:graphic>
      </p:graphicFrame>
      <p:graphicFrame>
        <p:nvGraphicFramePr>
          <p:cNvPr id="9" name="Content Placeholder 3">
            <a:extLst>
              <a:ext uri="{FF2B5EF4-FFF2-40B4-BE49-F238E27FC236}">
                <a16:creationId xmlns:a16="http://schemas.microsoft.com/office/drawing/2014/main" id="{00F4D0C1-36F2-E1A9-0AEC-008107423E18}"/>
              </a:ext>
            </a:extLst>
          </p:cNvPr>
          <p:cNvGraphicFramePr>
            <a:graphicFrameLocks/>
          </p:cNvGraphicFramePr>
          <p:nvPr>
            <p:extLst>
              <p:ext uri="{D42A27DB-BD31-4B8C-83A1-F6EECF244321}">
                <p14:modId xmlns:p14="http://schemas.microsoft.com/office/powerpoint/2010/main" val="2166794354"/>
              </p:ext>
            </p:extLst>
          </p:nvPr>
        </p:nvGraphicFramePr>
        <p:xfrm>
          <a:off x="749824" y="3945815"/>
          <a:ext cx="10691808" cy="370840"/>
        </p:xfrm>
        <a:graphic>
          <a:graphicData uri="http://schemas.openxmlformats.org/drawingml/2006/table">
            <a:tbl>
              <a:tblPr firstRow="1" bandRow="1">
                <a:tableStyleId>{5940675A-B579-460E-94D1-54222C63F5DA}</a:tableStyleId>
              </a:tblPr>
              <a:tblGrid>
                <a:gridCol w="2391045">
                  <a:extLst>
                    <a:ext uri="{9D8B030D-6E8A-4147-A177-3AD203B41FA5}">
                      <a16:colId xmlns:a16="http://schemas.microsoft.com/office/drawing/2014/main" val="2057782362"/>
                    </a:ext>
                  </a:extLst>
                </a:gridCol>
                <a:gridCol w="1686625">
                  <a:extLst>
                    <a:ext uri="{9D8B030D-6E8A-4147-A177-3AD203B41FA5}">
                      <a16:colId xmlns:a16="http://schemas.microsoft.com/office/drawing/2014/main" val="1544187250"/>
                    </a:ext>
                  </a:extLst>
                </a:gridCol>
                <a:gridCol w="1653988">
                  <a:extLst>
                    <a:ext uri="{9D8B030D-6E8A-4147-A177-3AD203B41FA5}">
                      <a16:colId xmlns:a16="http://schemas.microsoft.com/office/drawing/2014/main" val="4005088298"/>
                    </a:ext>
                  </a:extLst>
                </a:gridCol>
                <a:gridCol w="1324256">
                  <a:extLst>
                    <a:ext uri="{9D8B030D-6E8A-4147-A177-3AD203B41FA5}">
                      <a16:colId xmlns:a16="http://schemas.microsoft.com/office/drawing/2014/main" val="604846462"/>
                    </a:ext>
                  </a:extLst>
                </a:gridCol>
                <a:gridCol w="1853926">
                  <a:extLst>
                    <a:ext uri="{9D8B030D-6E8A-4147-A177-3AD203B41FA5}">
                      <a16:colId xmlns:a16="http://schemas.microsoft.com/office/drawing/2014/main" val="3114756302"/>
                    </a:ext>
                  </a:extLst>
                </a:gridCol>
                <a:gridCol w="1781968">
                  <a:extLst>
                    <a:ext uri="{9D8B030D-6E8A-4147-A177-3AD203B41FA5}">
                      <a16:colId xmlns:a16="http://schemas.microsoft.com/office/drawing/2014/main" val="4124976001"/>
                    </a:ext>
                  </a:extLst>
                </a:gridCol>
              </a:tblGrid>
              <a:tr h="370840">
                <a:tc>
                  <a:txBody>
                    <a:bodyPr/>
                    <a:lstStyle/>
                    <a:p>
                      <a:pPr algn="ctr"/>
                      <a:r>
                        <a:rPr lang="en-US" dirty="0" err="1"/>
                        <a:t>imm</a:t>
                      </a:r>
                      <a:r>
                        <a:rPr lang="en-US" dirty="0"/>
                        <a:t>[12][10:5]</a:t>
                      </a:r>
                      <a:endParaRPr lang="en-IN" dirty="0"/>
                    </a:p>
                  </a:txBody>
                  <a:tcPr anchor="ctr"/>
                </a:tc>
                <a:tc>
                  <a:txBody>
                    <a:bodyPr/>
                    <a:lstStyle/>
                    <a:p>
                      <a:pPr algn="ctr"/>
                      <a:r>
                        <a:rPr lang="en-US" dirty="0"/>
                        <a:t>rs2</a:t>
                      </a:r>
                      <a:endParaRPr lang="en-IN" dirty="0"/>
                    </a:p>
                  </a:txBody>
                  <a:tcPr anchor="ctr"/>
                </a:tc>
                <a:tc>
                  <a:txBody>
                    <a:bodyPr/>
                    <a:lstStyle/>
                    <a:p>
                      <a:pPr algn="ctr"/>
                      <a:r>
                        <a:rPr lang="en-US" dirty="0"/>
                        <a:t>rs1</a:t>
                      </a:r>
                      <a:endParaRPr lang="en-IN" dirty="0"/>
                    </a:p>
                  </a:txBody>
                  <a:tcPr anchor="ctr"/>
                </a:tc>
                <a:tc>
                  <a:txBody>
                    <a:bodyPr/>
                    <a:lstStyle/>
                    <a:p>
                      <a:pPr algn="ctr"/>
                      <a:r>
                        <a:rPr lang="en-US" dirty="0"/>
                        <a:t>funct3</a:t>
                      </a:r>
                      <a:endParaRPr lang="en-IN" dirty="0"/>
                    </a:p>
                  </a:txBody>
                  <a:tcPr anchor="ctr"/>
                </a:tc>
                <a:tc>
                  <a:txBody>
                    <a:bodyPr/>
                    <a:lstStyle/>
                    <a:p>
                      <a:pPr algn="ctr"/>
                      <a:r>
                        <a:rPr lang="en-US" dirty="0" err="1"/>
                        <a:t>imm</a:t>
                      </a:r>
                      <a:r>
                        <a:rPr lang="en-US" dirty="0"/>
                        <a:t>[4:1][11]</a:t>
                      </a:r>
                      <a:endParaRPr lang="en-IN" dirty="0"/>
                    </a:p>
                  </a:txBody>
                  <a:tcPr anchor="ctr"/>
                </a:tc>
                <a:tc>
                  <a:txBody>
                    <a:bodyPr/>
                    <a:lstStyle/>
                    <a:p>
                      <a:pPr algn="ctr"/>
                      <a:r>
                        <a:rPr lang="en-US" dirty="0"/>
                        <a:t>opcode</a:t>
                      </a:r>
                      <a:endParaRPr lang="en-IN" dirty="0"/>
                    </a:p>
                  </a:txBody>
                  <a:tcPr anchor="ctr"/>
                </a:tc>
                <a:extLst>
                  <a:ext uri="{0D108BD9-81ED-4DB2-BD59-A6C34878D82A}">
                    <a16:rowId xmlns:a16="http://schemas.microsoft.com/office/drawing/2014/main" val="285111124"/>
                  </a:ext>
                </a:extLst>
              </a:tr>
            </a:tbl>
          </a:graphicData>
        </a:graphic>
      </p:graphicFrame>
      <p:graphicFrame>
        <p:nvGraphicFramePr>
          <p:cNvPr id="10" name="Content Placeholder 3">
            <a:extLst>
              <a:ext uri="{FF2B5EF4-FFF2-40B4-BE49-F238E27FC236}">
                <a16:creationId xmlns:a16="http://schemas.microsoft.com/office/drawing/2014/main" id="{0530B212-5179-4577-7ECA-246FDB3A42AA}"/>
              </a:ext>
            </a:extLst>
          </p:cNvPr>
          <p:cNvGraphicFramePr>
            <a:graphicFrameLocks/>
          </p:cNvGraphicFramePr>
          <p:nvPr>
            <p:extLst>
              <p:ext uri="{D42A27DB-BD31-4B8C-83A1-F6EECF244321}">
                <p14:modId xmlns:p14="http://schemas.microsoft.com/office/powerpoint/2010/main" val="1311441309"/>
              </p:ext>
            </p:extLst>
          </p:nvPr>
        </p:nvGraphicFramePr>
        <p:xfrm>
          <a:off x="749824" y="4648050"/>
          <a:ext cx="10691265" cy="370840"/>
        </p:xfrm>
        <a:graphic>
          <a:graphicData uri="http://schemas.openxmlformats.org/drawingml/2006/table">
            <a:tbl>
              <a:tblPr firstRow="1" bandRow="1">
                <a:tableStyleId>{5940675A-B579-460E-94D1-54222C63F5DA}</a:tableStyleId>
              </a:tblPr>
              <a:tblGrid>
                <a:gridCol w="7130152">
                  <a:extLst>
                    <a:ext uri="{9D8B030D-6E8A-4147-A177-3AD203B41FA5}">
                      <a16:colId xmlns:a16="http://schemas.microsoft.com/office/drawing/2014/main" val="2057782362"/>
                    </a:ext>
                  </a:extLst>
                </a:gridCol>
                <a:gridCol w="1775012">
                  <a:extLst>
                    <a:ext uri="{9D8B030D-6E8A-4147-A177-3AD203B41FA5}">
                      <a16:colId xmlns:a16="http://schemas.microsoft.com/office/drawing/2014/main" val="3114756302"/>
                    </a:ext>
                  </a:extLst>
                </a:gridCol>
                <a:gridCol w="1786101">
                  <a:extLst>
                    <a:ext uri="{9D8B030D-6E8A-4147-A177-3AD203B41FA5}">
                      <a16:colId xmlns:a16="http://schemas.microsoft.com/office/drawing/2014/main" val="4124976001"/>
                    </a:ext>
                  </a:extLst>
                </a:gridCol>
              </a:tblGrid>
              <a:tr h="370840">
                <a:tc>
                  <a:txBody>
                    <a:bodyPr/>
                    <a:lstStyle/>
                    <a:p>
                      <a:pPr algn="ctr"/>
                      <a:r>
                        <a:rPr lang="en-US" dirty="0" err="1"/>
                        <a:t>imm</a:t>
                      </a:r>
                      <a:r>
                        <a:rPr lang="en-US" dirty="0"/>
                        <a:t>[31:12]</a:t>
                      </a:r>
                      <a:endParaRPr lang="en-IN" dirty="0"/>
                    </a:p>
                  </a:txBody>
                  <a:tcPr anchor="ctr"/>
                </a:tc>
                <a:tc>
                  <a:txBody>
                    <a:bodyPr/>
                    <a:lstStyle/>
                    <a:p>
                      <a:pPr algn="ctr"/>
                      <a:r>
                        <a:rPr lang="en-US" dirty="0" err="1"/>
                        <a:t>rd</a:t>
                      </a:r>
                      <a:endParaRPr lang="en-IN" dirty="0"/>
                    </a:p>
                  </a:txBody>
                  <a:tcPr anchor="ctr"/>
                </a:tc>
                <a:tc>
                  <a:txBody>
                    <a:bodyPr/>
                    <a:lstStyle/>
                    <a:p>
                      <a:pPr algn="ctr"/>
                      <a:r>
                        <a:rPr lang="en-US" dirty="0"/>
                        <a:t>opcode</a:t>
                      </a:r>
                      <a:endParaRPr lang="en-IN" dirty="0"/>
                    </a:p>
                  </a:txBody>
                  <a:tcPr anchor="ctr"/>
                </a:tc>
                <a:extLst>
                  <a:ext uri="{0D108BD9-81ED-4DB2-BD59-A6C34878D82A}">
                    <a16:rowId xmlns:a16="http://schemas.microsoft.com/office/drawing/2014/main" val="285111124"/>
                  </a:ext>
                </a:extLst>
              </a:tr>
            </a:tbl>
          </a:graphicData>
        </a:graphic>
      </p:graphicFrame>
      <p:graphicFrame>
        <p:nvGraphicFramePr>
          <p:cNvPr id="11" name="Content Placeholder 3">
            <a:extLst>
              <a:ext uri="{FF2B5EF4-FFF2-40B4-BE49-F238E27FC236}">
                <a16:creationId xmlns:a16="http://schemas.microsoft.com/office/drawing/2014/main" id="{4FD19498-EC1F-6598-39B9-514B8A87E1D5}"/>
              </a:ext>
            </a:extLst>
          </p:cNvPr>
          <p:cNvGraphicFramePr>
            <a:graphicFrameLocks/>
          </p:cNvGraphicFramePr>
          <p:nvPr>
            <p:extLst>
              <p:ext uri="{D42A27DB-BD31-4B8C-83A1-F6EECF244321}">
                <p14:modId xmlns:p14="http://schemas.microsoft.com/office/powerpoint/2010/main" val="1206407981"/>
              </p:ext>
            </p:extLst>
          </p:nvPr>
        </p:nvGraphicFramePr>
        <p:xfrm>
          <a:off x="749823" y="5350285"/>
          <a:ext cx="10691265" cy="370840"/>
        </p:xfrm>
        <a:graphic>
          <a:graphicData uri="http://schemas.openxmlformats.org/drawingml/2006/table">
            <a:tbl>
              <a:tblPr firstRow="1" bandRow="1">
                <a:tableStyleId>{5940675A-B579-460E-94D1-54222C63F5DA}</a:tableStyleId>
              </a:tblPr>
              <a:tblGrid>
                <a:gridCol w="7130153">
                  <a:extLst>
                    <a:ext uri="{9D8B030D-6E8A-4147-A177-3AD203B41FA5}">
                      <a16:colId xmlns:a16="http://schemas.microsoft.com/office/drawing/2014/main" val="2057782362"/>
                    </a:ext>
                  </a:extLst>
                </a:gridCol>
                <a:gridCol w="1761565">
                  <a:extLst>
                    <a:ext uri="{9D8B030D-6E8A-4147-A177-3AD203B41FA5}">
                      <a16:colId xmlns:a16="http://schemas.microsoft.com/office/drawing/2014/main" val="3114756302"/>
                    </a:ext>
                  </a:extLst>
                </a:gridCol>
                <a:gridCol w="1799547">
                  <a:extLst>
                    <a:ext uri="{9D8B030D-6E8A-4147-A177-3AD203B41FA5}">
                      <a16:colId xmlns:a16="http://schemas.microsoft.com/office/drawing/2014/main" val="4124976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t>imm</a:t>
                      </a:r>
                      <a:r>
                        <a:rPr lang="en-US" dirty="0"/>
                        <a:t>[20|10:1|11|19:12]</a:t>
                      </a:r>
                      <a:endParaRPr lang="en-IN" dirty="0"/>
                    </a:p>
                  </a:txBody>
                  <a:tcPr anchor="ctr"/>
                </a:tc>
                <a:tc>
                  <a:txBody>
                    <a:bodyPr/>
                    <a:lstStyle/>
                    <a:p>
                      <a:pPr algn="ctr"/>
                      <a:r>
                        <a:rPr lang="en-US" dirty="0" err="1"/>
                        <a:t>rd</a:t>
                      </a:r>
                      <a:endParaRPr lang="en-IN" dirty="0"/>
                    </a:p>
                  </a:txBody>
                  <a:tcPr anchor="ctr"/>
                </a:tc>
                <a:tc>
                  <a:txBody>
                    <a:bodyPr/>
                    <a:lstStyle/>
                    <a:p>
                      <a:pPr algn="ctr"/>
                      <a:r>
                        <a:rPr lang="en-US" dirty="0"/>
                        <a:t>opcode</a:t>
                      </a:r>
                      <a:endParaRPr lang="en-IN" dirty="0"/>
                    </a:p>
                  </a:txBody>
                  <a:tcPr anchor="ctr"/>
                </a:tc>
                <a:extLst>
                  <a:ext uri="{0D108BD9-81ED-4DB2-BD59-A6C34878D82A}">
                    <a16:rowId xmlns:a16="http://schemas.microsoft.com/office/drawing/2014/main" val="285111124"/>
                  </a:ext>
                </a:extLst>
              </a:tr>
            </a:tbl>
          </a:graphicData>
        </a:graphic>
      </p:graphicFrame>
      <p:sp>
        <p:nvSpPr>
          <p:cNvPr id="12" name="TextBox 11">
            <a:extLst>
              <a:ext uri="{FF2B5EF4-FFF2-40B4-BE49-F238E27FC236}">
                <a16:creationId xmlns:a16="http://schemas.microsoft.com/office/drawing/2014/main" id="{DBBAF4BC-15D4-60DE-3475-FDCCE4CB491E}"/>
              </a:ext>
            </a:extLst>
          </p:cNvPr>
          <p:cNvSpPr txBox="1"/>
          <p:nvPr/>
        </p:nvSpPr>
        <p:spPr>
          <a:xfrm>
            <a:off x="11516228" y="813709"/>
            <a:ext cx="608268" cy="646331"/>
          </a:xfrm>
          <a:prstGeom prst="rect">
            <a:avLst/>
          </a:prstGeom>
          <a:noFill/>
        </p:spPr>
        <p:txBody>
          <a:bodyPr wrap="square" rtlCol="0">
            <a:spAutoFit/>
          </a:bodyPr>
          <a:lstStyle/>
          <a:p>
            <a:r>
              <a:rPr lang="en-US" dirty="0"/>
              <a:t>R -type</a:t>
            </a:r>
            <a:endParaRPr lang="en-IN" dirty="0"/>
          </a:p>
        </p:txBody>
      </p:sp>
      <p:sp>
        <p:nvSpPr>
          <p:cNvPr id="13" name="TextBox 12">
            <a:extLst>
              <a:ext uri="{FF2B5EF4-FFF2-40B4-BE49-F238E27FC236}">
                <a16:creationId xmlns:a16="http://schemas.microsoft.com/office/drawing/2014/main" id="{7F630BDB-0044-A25E-554B-5298949490C7}"/>
              </a:ext>
            </a:extLst>
          </p:cNvPr>
          <p:cNvSpPr txBox="1"/>
          <p:nvPr/>
        </p:nvSpPr>
        <p:spPr>
          <a:xfrm>
            <a:off x="11469539" y="1662830"/>
            <a:ext cx="608268" cy="646331"/>
          </a:xfrm>
          <a:prstGeom prst="rect">
            <a:avLst/>
          </a:prstGeom>
          <a:noFill/>
        </p:spPr>
        <p:txBody>
          <a:bodyPr wrap="square" rtlCol="0">
            <a:spAutoFit/>
          </a:bodyPr>
          <a:lstStyle/>
          <a:p>
            <a:r>
              <a:rPr lang="en-US" dirty="0"/>
              <a:t>I -type</a:t>
            </a:r>
            <a:endParaRPr lang="en-IN" dirty="0"/>
          </a:p>
        </p:txBody>
      </p:sp>
      <p:sp>
        <p:nvSpPr>
          <p:cNvPr id="14" name="TextBox 13">
            <a:extLst>
              <a:ext uri="{FF2B5EF4-FFF2-40B4-BE49-F238E27FC236}">
                <a16:creationId xmlns:a16="http://schemas.microsoft.com/office/drawing/2014/main" id="{8EED47BF-7FB9-A07F-56A8-4F7CB47EB0ED}"/>
              </a:ext>
            </a:extLst>
          </p:cNvPr>
          <p:cNvSpPr txBox="1"/>
          <p:nvPr/>
        </p:nvSpPr>
        <p:spPr>
          <a:xfrm>
            <a:off x="11441630" y="3163257"/>
            <a:ext cx="608268" cy="646331"/>
          </a:xfrm>
          <a:prstGeom prst="rect">
            <a:avLst/>
          </a:prstGeom>
          <a:noFill/>
        </p:spPr>
        <p:txBody>
          <a:bodyPr wrap="square" rtlCol="0">
            <a:spAutoFit/>
          </a:bodyPr>
          <a:lstStyle/>
          <a:p>
            <a:r>
              <a:rPr lang="en-US" dirty="0"/>
              <a:t>S -type</a:t>
            </a:r>
            <a:endParaRPr lang="en-IN" dirty="0"/>
          </a:p>
        </p:txBody>
      </p:sp>
      <p:sp>
        <p:nvSpPr>
          <p:cNvPr id="15" name="TextBox 14">
            <a:extLst>
              <a:ext uri="{FF2B5EF4-FFF2-40B4-BE49-F238E27FC236}">
                <a16:creationId xmlns:a16="http://schemas.microsoft.com/office/drawing/2014/main" id="{EABCB865-166F-FE37-018E-7BF24DDA856B}"/>
              </a:ext>
            </a:extLst>
          </p:cNvPr>
          <p:cNvSpPr txBox="1"/>
          <p:nvPr/>
        </p:nvSpPr>
        <p:spPr>
          <a:xfrm>
            <a:off x="11441630" y="3833665"/>
            <a:ext cx="608268" cy="646331"/>
          </a:xfrm>
          <a:prstGeom prst="rect">
            <a:avLst/>
          </a:prstGeom>
          <a:noFill/>
        </p:spPr>
        <p:txBody>
          <a:bodyPr wrap="square" rtlCol="0">
            <a:spAutoFit/>
          </a:bodyPr>
          <a:lstStyle/>
          <a:p>
            <a:r>
              <a:rPr lang="en-US" dirty="0"/>
              <a:t>B -type</a:t>
            </a:r>
            <a:endParaRPr lang="en-IN" dirty="0"/>
          </a:p>
        </p:txBody>
      </p:sp>
      <p:sp>
        <p:nvSpPr>
          <p:cNvPr id="16" name="TextBox 15">
            <a:extLst>
              <a:ext uri="{FF2B5EF4-FFF2-40B4-BE49-F238E27FC236}">
                <a16:creationId xmlns:a16="http://schemas.microsoft.com/office/drawing/2014/main" id="{8876E9EE-3ECE-CF9B-E21D-94E5D179E964}"/>
              </a:ext>
            </a:extLst>
          </p:cNvPr>
          <p:cNvSpPr txBox="1"/>
          <p:nvPr/>
        </p:nvSpPr>
        <p:spPr>
          <a:xfrm>
            <a:off x="11441630" y="4587434"/>
            <a:ext cx="608268" cy="646331"/>
          </a:xfrm>
          <a:prstGeom prst="rect">
            <a:avLst/>
          </a:prstGeom>
          <a:noFill/>
        </p:spPr>
        <p:txBody>
          <a:bodyPr wrap="square" rtlCol="0">
            <a:spAutoFit/>
          </a:bodyPr>
          <a:lstStyle/>
          <a:p>
            <a:r>
              <a:rPr lang="en-US" dirty="0"/>
              <a:t>U -type</a:t>
            </a:r>
            <a:endParaRPr lang="en-IN" dirty="0"/>
          </a:p>
        </p:txBody>
      </p:sp>
      <p:sp>
        <p:nvSpPr>
          <p:cNvPr id="17" name="TextBox 16">
            <a:extLst>
              <a:ext uri="{FF2B5EF4-FFF2-40B4-BE49-F238E27FC236}">
                <a16:creationId xmlns:a16="http://schemas.microsoft.com/office/drawing/2014/main" id="{7BF2957C-A4E4-03C0-A82E-22E726370B0C}"/>
              </a:ext>
            </a:extLst>
          </p:cNvPr>
          <p:cNvSpPr txBox="1"/>
          <p:nvPr/>
        </p:nvSpPr>
        <p:spPr>
          <a:xfrm>
            <a:off x="11441631" y="5233765"/>
            <a:ext cx="608268" cy="646331"/>
          </a:xfrm>
          <a:prstGeom prst="rect">
            <a:avLst/>
          </a:prstGeom>
          <a:noFill/>
        </p:spPr>
        <p:txBody>
          <a:bodyPr wrap="square" rtlCol="0">
            <a:spAutoFit/>
          </a:bodyPr>
          <a:lstStyle/>
          <a:p>
            <a:r>
              <a:rPr lang="en-US" dirty="0"/>
              <a:t>J -type</a:t>
            </a:r>
            <a:endParaRPr lang="en-IN" dirty="0"/>
          </a:p>
        </p:txBody>
      </p:sp>
      <p:sp>
        <p:nvSpPr>
          <p:cNvPr id="24" name="TextBox 23">
            <a:extLst>
              <a:ext uri="{FF2B5EF4-FFF2-40B4-BE49-F238E27FC236}">
                <a16:creationId xmlns:a16="http://schemas.microsoft.com/office/drawing/2014/main" id="{8B0D5FC0-D259-EED4-1BC0-2FD7C134BFDE}"/>
              </a:ext>
            </a:extLst>
          </p:cNvPr>
          <p:cNvSpPr txBox="1"/>
          <p:nvPr/>
        </p:nvSpPr>
        <p:spPr>
          <a:xfrm>
            <a:off x="11469539" y="2516926"/>
            <a:ext cx="608268" cy="646331"/>
          </a:xfrm>
          <a:prstGeom prst="rect">
            <a:avLst/>
          </a:prstGeom>
          <a:noFill/>
        </p:spPr>
        <p:txBody>
          <a:bodyPr wrap="square" rtlCol="0">
            <a:spAutoFit/>
          </a:bodyPr>
          <a:lstStyle/>
          <a:p>
            <a:r>
              <a:rPr lang="en-US" dirty="0"/>
              <a:t>I -type</a:t>
            </a:r>
            <a:endParaRPr lang="en-IN" dirty="0"/>
          </a:p>
        </p:txBody>
      </p:sp>
      <p:sp>
        <p:nvSpPr>
          <p:cNvPr id="25" name="TextBox 24">
            <a:extLst>
              <a:ext uri="{FF2B5EF4-FFF2-40B4-BE49-F238E27FC236}">
                <a16:creationId xmlns:a16="http://schemas.microsoft.com/office/drawing/2014/main" id="{62FDED76-4797-17D4-5214-B20AA5527D24}"/>
              </a:ext>
            </a:extLst>
          </p:cNvPr>
          <p:cNvSpPr txBox="1"/>
          <p:nvPr/>
        </p:nvSpPr>
        <p:spPr>
          <a:xfrm>
            <a:off x="9587752" y="733395"/>
            <a:ext cx="212794" cy="369332"/>
          </a:xfrm>
          <a:prstGeom prst="rect">
            <a:avLst/>
          </a:prstGeom>
          <a:noFill/>
        </p:spPr>
        <p:txBody>
          <a:bodyPr wrap="square" rtlCol="0">
            <a:spAutoFit/>
          </a:bodyPr>
          <a:lstStyle/>
          <a:p>
            <a:r>
              <a:rPr lang="en-US" dirty="0"/>
              <a:t>6</a:t>
            </a:r>
            <a:endParaRPr lang="en-IN" dirty="0"/>
          </a:p>
        </p:txBody>
      </p:sp>
      <p:sp>
        <p:nvSpPr>
          <p:cNvPr id="26" name="TextBox 25">
            <a:extLst>
              <a:ext uri="{FF2B5EF4-FFF2-40B4-BE49-F238E27FC236}">
                <a16:creationId xmlns:a16="http://schemas.microsoft.com/office/drawing/2014/main" id="{671089F9-81B0-8CE1-D093-530134354BAB}"/>
              </a:ext>
            </a:extLst>
          </p:cNvPr>
          <p:cNvSpPr txBox="1"/>
          <p:nvPr/>
        </p:nvSpPr>
        <p:spPr>
          <a:xfrm>
            <a:off x="11227491" y="727276"/>
            <a:ext cx="212794" cy="369332"/>
          </a:xfrm>
          <a:prstGeom prst="rect">
            <a:avLst/>
          </a:prstGeom>
          <a:noFill/>
        </p:spPr>
        <p:txBody>
          <a:bodyPr wrap="square" rtlCol="0">
            <a:spAutoFit/>
          </a:bodyPr>
          <a:lstStyle/>
          <a:p>
            <a:r>
              <a:rPr lang="en-US" dirty="0"/>
              <a:t>0</a:t>
            </a:r>
            <a:endParaRPr lang="en-IN" dirty="0"/>
          </a:p>
        </p:txBody>
      </p:sp>
      <p:sp>
        <p:nvSpPr>
          <p:cNvPr id="27" name="TextBox 26">
            <a:extLst>
              <a:ext uri="{FF2B5EF4-FFF2-40B4-BE49-F238E27FC236}">
                <a16:creationId xmlns:a16="http://schemas.microsoft.com/office/drawing/2014/main" id="{70531A57-3CFA-D95B-F4DA-3F6F6E3E9249}"/>
              </a:ext>
            </a:extLst>
          </p:cNvPr>
          <p:cNvSpPr txBox="1"/>
          <p:nvPr/>
        </p:nvSpPr>
        <p:spPr>
          <a:xfrm>
            <a:off x="9438654" y="738863"/>
            <a:ext cx="212794" cy="369332"/>
          </a:xfrm>
          <a:prstGeom prst="rect">
            <a:avLst/>
          </a:prstGeom>
          <a:noFill/>
        </p:spPr>
        <p:txBody>
          <a:bodyPr wrap="square" rtlCol="0">
            <a:spAutoFit/>
          </a:bodyPr>
          <a:lstStyle/>
          <a:p>
            <a:r>
              <a:rPr lang="en-US" dirty="0"/>
              <a:t>7</a:t>
            </a:r>
            <a:endParaRPr lang="en-IN" dirty="0"/>
          </a:p>
        </p:txBody>
      </p:sp>
      <p:sp>
        <p:nvSpPr>
          <p:cNvPr id="28" name="TextBox 27">
            <a:extLst>
              <a:ext uri="{FF2B5EF4-FFF2-40B4-BE49-F238E27FC236}">
                <a16:creationId xmlns:a16="http://schemas.microsoft.com/office/drawing/2014/main" id="{08603415-F5F5-BAAD-F9E2-CF2E2D636DB7}"/>
              </a:ext>
            </a:extLst>
          </p:cNvPr>
          <p:cNvSpPr txBox="1"/>
          <p:nvPr/>
        </p:nvSpPr>
        <p:spPr>
          <a:xfrm>
            <a:off x="7798915" y="718046"/>
            <a:ext cx="565156" cy="369332"/>
          </a:xfrm>
          <a:prstGeom prst="rect">
            <a:avLst/>
          </a:prstGeom>
          <a:noFill/>
        </p:spPr>
        <p:txBody>
          <a:bodyPr wrap="square" rtlCol="0">
            <a:spAutoFit/>
          </a:bodyPr>
          <a:lstStyle/>
          <a:p>
            <a:r>
              <a:rPr lang="en-US" dirty="0"/>
              <a:t>11</a:t>
            </a:r>
            <a:endParaRPr lang="en-IN" dirty="0"/>
          </a:p>
        </p:txBody>
      </p:sp>
      <p:sp>
        <p:nvSpPr>
          <p:cNvPr id="29" name="TextBox 28">
            <a:extLst>
              <a:ext uri="{FF2B5EF4-FFF2-40B4-BE49-F238E27FC236}">
                <a16:creationId xmlns:a16="http://schemas.microsoft.com/office/drawing/2014/main" id="{E7523EEE-58BA-BBAC-DA11-FF1EABBFF2A4}"/>
              </a:ext>
            </a:extLst>
          </p:cNvPr>
          <p:cNvSpPr txBox="1"/>
          <p:nvPr/>
        </p:nvSpPr>
        <p:spPr>
          <a:xfrm>
            <a:off x="7476267" y="727276"/>
            <a:ext cx="423196" cy="369332"/>
          </a:xfrm>
          <a:prstGeom prst="rect">
            <a:avLst/>
          </a:prstGeom>
          <a:noFill/>
        </p:spPr>
        <p:txBody>
          <a:bodyPr wrap="square" numCol="1" rtlCol="0" anchor="ctr">
            <a:spAutoFit/>
          </a:bodyPr>
          <a:lstStyle/>
          <a:p>
            <a:r>
              <a:rPr lang="en-US" dirty="0"/>
              <a:t>12</a:t>
            </a:r>
            <a:endParaRPr lang="en-IN" dirty="0"/>
          </a:p>
        </p:txBody>
      </p:sp>
      <p:cxnSp>
        <p:nvCxnSpPr>
          <p:cNvPr id="31" name="Straight Connector 30">
            <a:extLst>
              <a:ext uri="{FF2B5EF4-FFF2-40B4-BE49-F238E27FC236}">
                <a16:creationId xmlns:a16="http://schemas.microsoft.com/office/drawing/2014/main" id="{EDCD5242-D4A9-0C91-5EDC-5D44C64EC824}"/>
              </a:ext>
            </a:extLst>
          </p:cNvPr>
          <p:cNvCxnSpPr/>
          <p:nvPr/>
        </p:nvCxnSpPr>
        <p:spPr>
          <a:xfrm>
            <a:off x="4827494" y="738863"/>
            <a:ext cx="0" cy="35777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6B34908-830F-C80B-4B16-0B8D2079A9A4}"/>
              </a:ext>
            </a:extLst>
          </p:cNvPr>
          <p:cNvCxnSpPr/>
          <p:nvPr/>
        </p:nvCxnSpPr>
        <p:spPr>
          <a:xfrm>
            <a:off x="6472517" y="728030"/>
            <a:ext cx="0" cy="35777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4838CCD-C59E-27C3-FBCE-D8AE3918E86E}"/>
              </a:ext>
            </a:extLst>
          </p:cNvPr>
          <p:cNvCxnSpPr/>
          <p:nvPr/>
        </p:nvCxnSpPr>
        <p:spPr>
          <a:xfrm>
            <a:off x="7809835" y="752449"/>
            <a:ext cx="0" cy="3577792"/>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E8A2526-6EB3-ACAE-42DC-AAE964A465C8}"/>
              </a:ext>
            </a:extLst>
          </p:cNvPr>
          <p:cNvCxnSpPr>
            <a:cxnSpLocks/>
          </p:cNvCxnSpPr>
          <p:nvPr/>
        </p:nvCxnSpPr>
        <p:spPr>
          <a:xfrm>
            <a:off x="3151094" y="699247"/>
            <a:ext cx="0" cy="11044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842552D-8083-8331-B419-21D9494AB241}"/>
              </a:ext>
            </a:extLst>
          </p:cNvPr>
          <p:cNvCxnSpPr>
            <a:cxnSpLocks/>
          </p:cNvCxnSpPr>
          <p:nvPr/>
        </p:nvCxnSpPr>
        <p:spPr>
          <a:xfrm>
            <a:off x="3151094" y="2174539"/>
            <a:ext cx="0" cy="1069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BBAF023-1FD4-5B17-EE34-B2BC6C961DA6}"/>
              </a:ext>
            </a:extLst>
          </p:cNvPr>
          <p:cNvCxnSpPr>
            <a:cxnSpLocks/>
          </p:cNvCxnSpPr>
          <p:nvPr/>
        </p:nvCxnSpPr>
        <p:spPr>
          <a:xfrm>
            <a:off x="3151094" y="3614420"/>
            <a:ext cx="0" cy="1033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54BB51A-BB83-37D0-DD8F-55BE186D80CB}"/>
              </a:ext>
            </a:extLst>
          </p:cNvPr>
          <p:cNvCxnSpPr/>
          <p:nvPr/>
        </p:nvCxnSpPr>
        <p:spPr>
          <a:xfrm>
            <a:off x="9651448" y="718046"/>
            <a:ext cx="0" cy="3577792"/>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CD8B960A-DD77-9782-D56B-DCDAB2B2E38C}"/>
              </a:ext>
            </a:extLst>
          </p:cNvPr>
          <p:cNvSpPr txBox="1"/>
          <p:nvPr/>
        </p:nvSpPr>
        <p:spPr>
          <a:xfrm>
            <a:off x="6472517" y="733395"/>
            <a:ext cx="442629" cy="369332"/>
          </a:xfrm>
          <a:prstGeom prst="rect">
            <a:avLst/>
          </a:prstGeom>
          <a:noFill/>
        </p:spPr>
        <p:txBody>
          <a:bodyPr wrap="square" numCol="1" rtlCol="0" anchor="ctr">
            <a:spAutoFit/>
          </a:bodyPr>
          <a:lstStyle/>
          <a:p>
            <a:r>
              <a:rPr lang="en-US" dirty="0"/>
              <a:t>14</a:t>
            </a:r>
            <a:endParaRPr lang="en-IN" dirty="0"/>
          </a:p>
        </p:txBody>
      </p:sp>
      <p:sp>
        <p:nvSpPr>
          <p:cNvPr id="42" name="TextBox 41">
            <a:extLst>
              <a:ext uri="{FF2B5EF4-FFF2-40B4-BE49-F238E27FC236}">
                <a16:creationId xmlns:a16="http://schemas.microsoft.com/office/drawing/2014/main" id="{9C37FEA2-D2F3-8E3B-32B4-0513CFDC02FD}"/>
              </a:ext>
            </a:extLst>
          </p:cNvPr>
          <p:cNvSpPr txBox="1"/>
          <p:nvPr/>
        </p:nvSpPr>
        <p:spPr>
          <a:xfrm>
            <a:off x="6129373" y="738760"/>
            <a:ext cx="442629" cy="369332"/>
          </a:xfrm>
          <a:prstGeom prst="rect">
            <a:avLst/>
          </a:prstGeom>
          <a:noFill/>
        </p:spPr>
        <p:txBody>
          <a:bodyPr wrap="square" numCol="1" rtlCol="0" anchor="ctr">
            <a:spAutoFit/>
          </a:bodyPr>
          <a:lstStyle/>
          <a:p>
            <a:r>
              <a:rPr lang="en-US" dirty="0"/>
              <a:t>15</a:t>
            </a:r>
            <a:endParaRPr lang="en-IN" dirty="0"/>
          </a:p>
        </p:txBody>
      </p:sp>
      <p:sp>
        <p:nvSpPr>
          <p:cNvPr id="43" name="TextBox 42">
            <a:extLst>
              <a:ext uri="{FF2B5EF4-FFF2-40B4-BE49-F238E27FC236}">
                <a16:creationId xmlns:a16="http://schemas.microsoft.com/office/drawing/2014/main" id="{61F7DA4D-F413-714B-2FF8-682ECC82B227}"/>
              </a:ext>
            </a:extLst>
          </p:cNvPr>
          <p:cNvSpPr txBox="1"/>
          <p:nvPr/>
        </p:nvSpPr>
        <p:spPr>
          <a:xfrm>
            <a:off x="4727137" y="727792"/>
            <a:ext cx="442629" cy="369332"/>
          </a:xfrm>
          <a:prstGeom prst="rect">
            <a:avLst/>
          </a:prstGeom>
          <a:noFill/>
        </p:spPr>
        <p:txBody>
          <a:bodyPr wrap="square" numCol="1" rtlCol="0" anchor="ctr">
            <a:spAutoFit/>
          </a:bodyPr>
          <a:lstStyle/>
          <a:p>
            <a:r>
              <a:rPr lang="en-US" dirty="0"/>
              <a:t>19</a:t>
            </a:r>
            <a:endParaRPr lang="en-IN" dirty="0"/>
          </a:p>
        </p:txBody>
      </p:sp>
      <p:sp>
        <p:nvSpPr>
          <p:cNvPr id="44" name="TextBox 43">
            <a:extLst>
              <a:ext uri="{FF2B5EF4-FFF2-40B4-BE49-F238E27FC236}">
                <a16:creationId xmlns:a16="http://schemas.microsoft.com/office/drawing/2014/main" id="{7007641C-609B-732F-7E67-ABDBB1A6AAB3}"/>
              </a:ext>
            </a:extLst>
          </p:cNvPr>
          <p:cNvSpPr txBox="1"/>
          <p:nvPr/>
        </p:nvSpPr>
        <p:spPr>
          <a:xfrm>
            <a:off x="4461019" y="734585"/>
            <a:ext cx="442629" cy="369332"/>
          </a:xfrm>
          <a:prstGeom prst="rect">
            <a:avLst/>
          </a:prstGeom>
          <a:noFill/>
        </p:spPr>
        <p:txBody>
          <a:bodyPr wrap="square" numCol="1" rtlCol="0" anchor="ctr">
            <a:spAutoFit/>
          </a:bodyPr>
          <a:lstStyle/>
          <a:p>
            <a:r>
              <a:rPr lang="en-US" dirty="0"/>
              <a:t>20</a:t>
            </a:r>
            <a:endParaRPr lang="en-IN" dirty="0"/>
          </a:p>
        </p:txBody>
      </p:sp>
      <p:sp>
        <p:nvSpPr>
          <p:cNvPr id="45" name="TextBox 44">
            <a:extLst>
              <a:ext uri="{FF2B5EF4-FFF2-40B4-BE49-F238E27FC236}">
                <a16:creationId xmlns:a16="http://schemas.microsoft.com/office/drawing/2014/main" id="{DDA24075-EB9F-6B87-23F2-CF777697D028}"/>
              </a:ext>
            </a:extLst>
          </p:cNvPr>
          <p:cNvSpPr txBox="1"/>
          <p:nvPr/>
        </p:nvSpPr>
        <p:spPr>
          <a:xfrm>
            <a:off x="3078877" y="734585"/>
            <a:ext cx="442629" cy="369332"/>
          </a:xfrm>
          <a:prstGeom prst="rect">
            <a:avLst/>
          </a:prstGeom>
          <a:noFill/>
        </p:spPr>
        <p:txBody>
          <a:bodyPr wrap="square" numCol="1" rtlCol="0" anchor="ctr">
            <a:spAutoFit/>
          </a:bodyPr>
          <a:lstStyle/>
          <a:p>
            <a:r>
              <a:rPr lang="en-US" dirty="0"/>
              <a:t>24</a:t>
            </a:r>
            <a:endParaRPr lang="en-IN" dirty="0"/>
          </a:p>
        </p:txBody>
      </p:sp>
      <p:sp>
        <p:nvSpPr>
          <p:cNvPr id="46" name="TextBox 45">
            <a:extLst>
              <a:ext uri="{FF2B5EF4-FFF2-40B4-BE49-F238E27FC236}">
                <a16:creationId xmlns:a16="http://schemas.microsoft.com/office/drawing/2014/main" id="{5A925DFE-168D-F711-D1A4-6BDF75C9934D}"/>
              </a:ext>
            </a:extLst>
          </p:cNvPr>
          <p:cNvSpPr txBox="1"/>
          <p:nvPr/>
        </p:nvSpPr>
        <p:spPr>
          <a:xfrm>
            <a:off x="2756047" y="741947"/>
            <a:ext cx="442629" cy="369332"/>
          </a:xfrm>
          <a:prstGeom prst="rect">
            <a:avLst/>
          </a:prstGeom>
          <a:noFill/>
        </p:spPr>
        <p:txBody>
          <a:bodyPr wrap="square" numCol="1" rtlCol="0" anchor="ctr">
            <a:spAutoFit/>
          </a:bodyPr>
          <a:lstStyle/>
          <a:p>
            <a:r>
              <a:rPr lang="en-US" dirty="0"/>
              <a:t>25</a:t>
            </a:r>
            <a:endParaRPr lang="en-IN" dirty="0"/>
          </a:p>
        </p:txBody>
      </p:sp>
      <p:sp>
        <p:nvSpPr>
          <p:cNvPr id="47" name="TextBox 46">
            <a:extLst>
              <a:ext uri="{FF2B5EF4-FFF2-40B4-BE49-F238E27FC236}">
                <a16:creationId xmlns:a16="http://schemas.microsoft.com/office/drawing/2014/main" id="{80DBB3B5-0699-AA57-727E-17DA9FF72E9F}"/>
              </a:ext>
            </a:extLst>
          </p:cNvPr>
          <p:cNvSpPr txBox="1"/>
          <p:nvPr/>
        </p:nvSpPr>
        <p:spPr>
          <a:xfrm>
            <a:off x="668396" y="737184"/>
            <a:ext cx="442629" cy="369332"/>
          </a:xfrm>
          <a:prstGeom prst="rect">
            <a:avLst/>
          </a:prstGeom>
          <a:noFill/>
        </p:spPr>
        <p:txBody>
          <a:bodyPr wrap="square" numCol="1" rtlCol="0" anchor="ctr">
            <a:spAutoFit/>
          </a:bodyPr>
          <a:lstStyle/>
          <a:p>
            <a:r>
              <a:rPr lang="en-US" dirty="0"/>
              <a:t>31</a:t>
            </a:r>
            <a:endParaRPr lang="en-IN" dirty="0"/>
          </a:p>
        </p:txBody>
      </p:sp>
    </p:spTree>
    <p:extLst>
      <p:ext uri="{BB962C8B-B14F-4D97-AF65-F5344CB8AC3E}">
        <p14:creationId xmlns:p14="http://schemas.microsoft.com/office/powerpoint/2010/main" val="1547066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A634E-84DA-7644-F5D5-62B109206516}"/>
              </a:ext>
            </a:extLst>
          </p:cNvPr>
          <p:cNvSpPr>
            <a:spLocks noGrp="1"/>
          </p:cNvSpPr>
          <p:nvPr>
            <p:ph type="title"/>
          </p:nvPr>
        </p:nvSpPr>
        <p:spPr>
          <a:xfrm>
            <a:off x="700635" y="139700"/>
            <a:ext cx="10691265" cy="584200"/>
          </a:xfrm>
        </p:spPr>
        <p:txBody>
          <a:bodyPr>
            <a:normAutofit fontScale="90000"/>
          </a:bodyPr>
          <a:lstStyle/>
          <a:p>
            <a:pPr algn="ctr"/>
            <a:r>
              <a:rPr lang="en-US" dirty="0"/>
              <a:t>R-type instructions</a:t>
            </a:r>
            <a:endParaRPr lang="en-IN" dirty="0"/>
          </a:p>
        </p:txBody>
      </p:sp>
      <p:sp>
        <p:nvSpPr>
          <p:cNvPr id="3" name="Content Placeholder 2">
            <a:extLst>
              <a:ext uri="{FF2B5EF4-FFF2-40B4-BE49-F238E27FC236}">
                <a16:creationId xmlns:a16="http://schemas.microsoft.com/office/drawing/2014/main" id="{2C90CCF0-30A6-A402-D612-DE5DC7EA1460}"/>
              </a:ext>
            </a:extLst>
          </p:cNvPr>
          <p:cNvSpPr>
            <a:spLocks noGrp="1"/>
          </p:cNvSpPr>
          <p:nvPr>
            <p:ph idx="1"/>
          </p:nvPr>
        </p:nvSpPr>
        <p:spPr>
          <a:xfrm>
            <a:off x="700635" y="723899"/>
            <a:ext cx="10691265" cy="5407959"/>
          </a:xfrm>
        </p:spPr>
        <p:txBody>
          <a:bodyPr>
            <a:normAutofit fontScale="92500" lnSpcReduction="20000"/>
          </a:bodyPr>
          <a:lstStyle/>
          <a:p>
            <a:pPr marL="0" indent="0">
              <a:lnSpc>
                <a:spcPct val="100000"/>
              </a:lnSpc>
              <a:buNone/>
            </a:pPr>
            <a:r>
              <a:rPr lang="en-US" sz="1800" dirty="0">
                <a:latin typeface="Calibri" panose="020F0502020204030204" pitchFamily="34" charset="0"/>
                <a:cs typeface="Calibri" panose="020F0502020204030204" pitchFamily="34" charset="0"/>
              </a:rPr>
              <a:t>The R-type instructions is basically operation between two operands stored in two different (or same) registers. The format of the R-type Instruction is very meaningful. The rs1 and rs2 indicates two operands, the </a:t>
            </a:r>
            <a:r>
              <a:rPr lang="en-US" sz="1800" dirty="0" err="1">
                <a:latin typeface="Calibri" panose="020F0502020204030204" pitchFamily="34" charset="0"/>
                <a:cs typeface="Calibri" panose="020F0502020204030204" pitchFamily="34" charset="0"/>
              </a:rPr>
              <a:t>rd</a:t>
            </a:r>
            <a:r>
              <a:rPr lang="en-US" sz="1800" dirty="0">
                <a:latin typeface="Calibri" panose="020F0502020204030204" pitchFamily="34" charset="0"/>
                <a:cs typeface="Calibri" panose="020F0502020204030204" pitchFamily="34" charset="0"/>
              </a:rPr>
              <a:t> is the destination register at which the result will be stored. The opcode, funct3 and funct7 determines which operation is to be performed between rs1 and rs2. The opcode is constant for R-type instructions since the Class is same (Remember the class analogy?) There are several operations that are supported : </a:t>
            </a:r>
            <a:br>
              <a:rPr lang="en-US" sz="1800" dirty="0">
                <a:latin typeface="Calibri" panose="020F0502020204030204" pitchFamily="34" charset="0"/>
                <a:cs typeface="Calibri" panose="020F0502020204030204" pitchFamily="34" charset="0"/>
              </a:rPr>
            </a:br>
            <a:r>
              <a:rPr lang="en-US" sz="1800" b="1" dirty="0" err="1">
                <a:latin typeface="Calibri" panose="020F0502020204030204" pitchFamily="34" charset="0"/>
                <a:cs typeface="Calibri" panose="020F0502020204030204" pitchFamily="34" charset="0"/>
              </a:rPr>
              <a:t>i</a:t>
            </a:r>
            <a:r>
              <a:rPr lang="en-US" sz="1800" b="1" dirty="0">
                <a:latin typeface="Calibri" panose="020F0502020204030204" pitchFamily="34" charset="0"/>
                <a:cs typeface="Calibri" panose="020F0502020204030204" pitchFamily="34" charset="0"/>
              </a:rPr>
              <a:t>) </a:t>
            </a:r>
            <a:r>
              <a:rPr lang="en-US" sz="1800" b="1" u="sng" dirty="0">
                <a:latin typeface="Calibri" panose="020F0502020204030204" pitchFamily="34" charset="0"/>
                <a:cs typeface="Calibri" panose="020F0502020204030204" pitchFamily="34" charset="0"/>
              </a:rPr>
              <a:t>add </a:t>
            </a:r>
            <a:r>
              <a:rPr lang="en-US" sz="1800" b="1" u="sng" dirty="0" err="1">
                <a:latin typeface="Calibri" panose="020F0502020204030204" pitchFamily="34" charset="0"/>
                <a:cs typeface="Calibri" panose="020F0502020204030204" pitchFamily="34" charset="0"/>
              </a:rPr>
              <a:t>rd</a:t>
            </a:r>
            <a:r>
              <a:rPr lang="en-US" sz="1800" b="1" u="sng" dirty="0">
                <a:latin typeface="Calibri" panose="020F0502020204030204" pitchFamily="34" charset="0"/>
                <a:cs typeface="Calibri" panose="020F0502020204030204" pitchFamily="34" charset="0"/>
              </a:rPr>
              <a:t>, rs1, rs2 </a:t>
            </a:r>
            <a:r>
              <a:rPr lang="en-US" sz="1800" b="1"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As its name suggests, this instruction indicates addition operation between rs1 and rs2 i.e. (rs1 + rs2). The result is stored in the destination register rd.</a:t>
            </a:r>
            <a:endParaRPr lang="en-IN" sz="1800" b="1" dirty="0">
              <a:latin typeface="Calibri" panose="020F0502020204030204" pitchFamily="34" charset="0"/>
              <a:cs typeface="Calibri" panose="020F0502020204030204" pitchFamily="34" charset="0"/>
            </a:endParaRPr>
          </a:p>
          <a:p>
            <a:pPr marL="0" indent="0">
              <a:lnSpc>
                <a:spcPct val="100000"/>
              </a:lnSpc>
              <a:buNone/>
            </a:pPr>
            <a:r>
              <a:rPr lang="en-IN" sz="1800" b="1" dirty="0">
                <a:latin typeface="Calibri" panose="020F0502020204030204" pitchFamily="34" charset="0"/>
                <a:cs typeface="Calibri" panose="020F0502020204030204" pitchFamily="34" charset="0"/>
              </a:rPr>
              <a:t>ii) </a:t>
            </a:r>
            <a:r>
              <a:rPr lang="en-IN" sz="1800" b="1" u="sng" dirty="0">
                <a:latin typeface="Calibri" panose="020F0502020204030204" pitchFamily="34" charset="0"/>
                <a:cs typeface="Calibri" panose="020F0502020204030204" pitchFamily="34" charset="0"/>
              </a:rPr>
              <a:t>sub </a:t>
            </a:r>
            <a:r>
              <a:rPr lang="en-IN" sz="1800" b="1" u="sng" dirty="0" err="1">
                <a:latin typeface="Calibri" panose="020F0502020204030204" pitchFamily="34" charset="0"/>
                <a:cs typeface="Calibri" panose="020F0502020204030204" pitchFamily="34" charset="0"/>
              </a:rPr>
              <a:t>rd</a:t>
            </a:r>
            <a:r>
              <a:rPr lang="en-IN" sz="1800" b="1" u="sng" dirty="0">
                <a:latin typeface="Calibri" panose="020F0502020204030204" pitchFamily="34" charset="0"/>
                <a:cs typeface="Calibri" panose="020F0502020204030204" pitchFamily="34" charset="0"/>
              </a:rPr>
              <a:t>, rs1, rs2 </a:t>
            </a:r>
            <a:r>
              <a:rPr lang="en-IN" sz="1800" dirty="0">
                <a:latin typeface="Calibri" panose="020F0502020204030204" pitchFamily="34" charset="0"/>
                <a:cs typeface="Calibri" panose="020F0502020204030204" pitchFamily="34" charset="0"/>
              </a:rPr>
              <a:t>: Similarly this is subtraction between rs1 and rs2. Again, the result is stored in the destination register </a:t>
            </a:r>
            <a:r>
              <a:rPr lang="en-IN" sz="1800" dirty="0" err="1">
                <a:latin typeface="Calibri" panose="020F0502020204030204" pitchFamily="34" charset="0"/>
                <a:cs typeface="Calibri" panose="020F0502020204030204" pitchFamily="34" charset="0"/>
              </a:rPr>
              <a:t>rd</a:t>
            </a:r>
            <a:endParaRPr lang="en-IN" sz="1800" dirty="0">
              <a:latin typeface="Calibri" panose="020F0502020204030204" pitchFamily="34" charset="0"/>
              <a:cs typeface="Calibri" panose="020F0502020204030204" pitchFamily="34" charset="0"/>
            </a:endParaRPr>
          </a:p>
          <a:p>
            <a:pPr marL="0" indent="0">
              <a:lnSpc>
                <a:spcPct val="100000"/>
              </a:lnSpc>
              <a:buNone/>
            </a:pPr>
            <a:r>
              <a:rPr lang="en-IN" sz="1800" dirty="0">
                <a:latin typeface="Calibri" panose="020F0502020204030204" pitchFamily="34" charset="0"/>
                <a:cs typeface="Calibri" panose="020F0502020204030204" pitchFamily="34" charset="0"/>
              </a:rPr>
              <a:t>To avoid repetitiveness the following instructions are just written without any description since it is obvious from their names and the instructions which needs some clarifications are written with description:</a:t>
            </a:r>
            <a:br>
              <a:rPr lang="en-IN" sz="1800" dirty="0">
                <a:latin typeface="Calibri" panose="020F0502020204030204" pitchFamily="34" charset="0"/>
                <a:cs typeface="Calibri" panose="020F0502020204030204" pitchFamily="34" charset="0"/>
              </a:rPr>
            </a:br>
            <a:r>
              <a:rPr lang="en-IN" sz="1800" b="1" dirty="0">
                <a:latin typeface="Calibri" panose="020F0502020204030204" pitchFamily="34" charset="0"/>
                <a:cs typeface="Calibri" panose="020F0502020204030204" pitchFamily="34" charset="0"/>
              </a:rPr>
              <a:t>and</a:t>
            </a:r>
            <a:r>
              <a:rPr lang="en-IN" sz="1800" dirty="0">
                <a:latin typeface="Calibri" panose="020F0502020204030204" pitchFamily="34" charset="0"/>
                <a:cs typeface="Calibri" panose="020F0502020204030204" pitchFamily="34" charset="0"/>
              </a:rPr>
              <a:t>, </a:t>
            </a:r>
            <a:r>
              <a:rPr lang="en-IN" sz="1800" b="1" dirty="0">
                <a:latin typeface="Calibri" panose="020F0502020204030204" pitchFamily="34" charset="0"/>
                <a:cs typeface="Calibri" panose="020F0502020204030204" pitchFamily="34" charset="0"/>
              </a:rPr>
              <a:t>or</a:t>
            </a:r>
            <a:r>
              <a:rPr lang="en-IN" sz="1800" dirty="0">
                <a:latin typeface="Calibri" panose="020F0502020204030204" pitchFamily="34" charset="0"/>
                <a:cs typeface="Calibri" panose="020F0502020204030204" pitchFamily="34" charset="0"/>
              </a:rPr>
              <a:t>, </a:t>
            </a:r>
            <a:r>
              <a:rPr lang="en-IN" sz="1800" b="1" dirty="0" err="1">
                <a:latin typeface="Calibri" panose="020F0502020204030204" pitchFamily="34" charset="0"/>
                <a:cs typeface="Calibri" panose="020F0502020204030204" pitchFamily="34" charset="0"/>
              </a:rPr>
              <a:t>xor</a:t>
            </a:r>
            <a:r>
              <a:rPr lang="en-IN" sz="1800" b="1" dirty="0">
                <a:latin typeface="Calibri" panose="020F0502020204030204" pitchFamily="34" charset="0"/>
                <a:cs typeface="Calibri" panose="020F0502020204030204" pitchFamily="34" charset="0"/>
              </a:rPr>
              <a:t> </a:t>
            </a:r>
            <a:r>
              <a:rPr lang="en-IN" sz="1800" dirty="0">
                <a:latin typeface="Calibri" panose="020F0502020204030204" pitchFamily="34" charset="0"/>
                <a:cs typeface="Calibri" panose="020F0502020204030204" pitchFamily="34" charset="0"/>
              </a:rPr>
              <a:t>(Bitwise operation between rs1 and rs2)</a:t>
            </a:r>
          </a:p>
          <a:p>
            <a:pPr marL="0" indent="0">
              <a:lnSpc>
                <a:spcPct val="100000"/>
              </a:lnSpc>
              <a:buNone/>
            </a:pPr>
            <a:r>
              <a:rPr lang="en-IN" sz="1800" b="1" dirty="0">
                <a:latin typeface="Calibri" panose="020F0502020204030204" pitchFamily="34" charset="0"/>
                <a:cs typeface="Calibri" panose="020F0502020204030204" pitchFamily="34" charset="0"/>
              </a:rPr>
              <a:t>iii) </a:t>
            </a:r>
            <a:r>
              <a:rPr lang="en-IN" sz="1800" b="1" u="sng" dirty="0" err="1">
                <a:latin typeface="Calibri" panose="020F0502020204030204" pitchFamily="34" charset="0"/>
                <a:cs typeface="Calibri" panose="020F0502020204030204" pitchFamily="34" charset="0"/>
              </a:rPr>
              <a:t>sll</a:t>
            </a:r>
            <a:r>
              <a:rPr lang="en-IN" sz="1800" b="1" u="sng" dirty="0">
                <a:latin typeface="Calibri" panose="020F0502020204030204" pitchFamily="34" charset="0"/>
                <a:cs typeface="Calibri" panose="020F0502020204030204" pitchFamily="34" charset="0"/>
              </a:rPr>
              <a:t> </a:t>
            </a:r>
            <a:r>
              <a:rPr lang="en-IN" sz="1800" b="1" u="sng" dirty="0" err="1">
                <a:latin typeface="Calibri" panose="020F0502020204030204" pitchFamily="34" charset="0"/>
                <a:cs typeface="Calibri" panose="020F0502020204030204" pitchFamily="34" charset="0"/>
              </a:rPr>
              <a:t>rd</a:t>
            </a:r>
            <a:r>
              <a:rPr lang="en-IN" sz="1800" b="1" u="sng" dirty="0">
                <a:latin typeface="Calibri" panose="020F0502020204030204" pitchFamily="34" charset="0"/>
                <a:cs typeface="Calibri" panose="020F0502020204030204" pitchFamily="34" charset="0"/>
              </a:rPr>
              <a:t>, rs1, rs2</a:t>
            </a:r>
            <a:r>
              <a:rPr lang="en-IN" sz="1800" dirty="0">
                <a:latin typeface="Calibri" panose="020F0502020204030204" pitchFamily="34" charset="0"/>
                <a:cs typeface="Calibri" panose="020F0502020204030204" pitchFamily="34" charset="0"/>
              </a:rPr>
              <a:t> : This is the Shift Left Logical operation on rs1. </a:t>
            </a:r>
            <a:r>
              <a:rPr lang="en-US" sz="1800" dirty="0">
                <a:latin typeface="Calibri" panose="020F0502020204030204" pitchFamily="34" charset="0"/>
                <a:cs typeface="Calibri" panose="020F0502020204030204" pitchFamily="34" charset="0"/>
              </a:rPr>
              <a:t>Shifts rs1 left by amount in lower 5 bits of rs2.</a:t>
            </a:r>
          </a:p>
          <a:p>
            <a:pPr marL="0" indent="0">
              <a:lnSpc>
                <a:spcPct val="100000"/>
              </a:lnSpc>
              <a:buNone/>
            </a:pPr>
            <a:r>
              <a:rPr lang="en-IN" sz="1800" b="1" dirty="0">
                <a:latin typeface="Calibri" panose="020F0502020204030204" pitchFamily="34" charset="0"/>
                <a:cs typeface="Calibri" panose="020F0502020204030204" pitchFamily="34" charset="0"/>
              </a:rPr>
              <a:t>iv) </a:t>
            </a:r>
            <a:r>
              <a:rPr lang="en-IN" sz="1800" b="1" u="sng" dirty="0" err="1">
                <a:latin typeface="Calibri" panose="020F0502020204030204" pitchFamily="34" charset="0"/>
                <a:cs typeface="Calibri" panose="020F0502020204030204" pitchFamily="34" charset="0"/>
              </a:rPr>
              <a:t>srl</a:t>
            </a:r>
            <a:r>
              <a:rPr lang="en-IN" sz="1800" b="1" u="sng" dirty="0">
                <a:latin typeface="Calibri" panose="020F0502020204030204" pitchFamily="34" charset="0"/>
                <a:cs typeface="Calibri" panose="020F0502020204030204" pitchFamily="34" charset="0"/>
              </a:rPr>
              <a:t> </a:t>
            </a:r>
            <a:r>
              <a:rPr lang="en-IN" sz="1800" b="1" u="sng" dirty="0" err="1">
                <a:latin typeface="Calibri" panose="020F0502020204030204" pitchFamily="34" charset="0"/>
                <a:cs typeface="Calibri" panose="020F0502020204030204" pitchFamily="34" charset="0"/>
              </a:rPr>
              <a:t>rd</a:t>
            </a:r>
            <a:r>
              <a:rPr lang="en-IN" sz="1800" b="1" u="sng" dirty="0">
                <a:latin typeface="Calibri" panose="020F0502020204030204" pitchFamily="34" charset="0"/>
                <a:cs typeface="Calibri" panose="020F0502020204030204" pitchFamily="34" charset="0"/>
              </a:rPr>
              <a:t>, rs1, rs2</a:t>
            </a:r>
            <a:r>
              <a:rPr lang="en-IN" sz="1800" dirty="0">
                <a:latin typeface="Calibri" panose="020F0502020204030204" pitchFamily="34" charset="0"/>
                <a:cs typeface="Calibri" panose="020F0502020204030204" pitchFamily="34" charset="0"/>
              </a:rPr>
              <a:t> : This is the Shift Right Logical operation on rs1. </a:t>
            </a:r>
            <a:r>
              <a:rPr lang="en-US" sz="1800" dirty="0">
                <a:latin typeface="Calibri" panose="020F0502020204030204" pitchFamily="34" charset="0"/>
                <a:cs typeface="Calibri" panose="020F0502020204030204" pitchFamily="34" charset="0"/>
              </a:rPr>
              <a:t>Shifts rs1 right (fill with zeros) by the lower 5 bits of rs2.</a:t>
            </a:r>
          </a:p>
          <a:p>
            <a:pPr marL="0" indent="0">
              <a:lnSpc>
                <a:spcPct val="100000"/>
              </a:lnSpc>
              <a:buNone/>
            </a:pPr>
            <a:r>
              <a:rPr lang="en-US" sz="1800" b="1" dirty="0">
                <a:latin typeface="Calibri" panose="020F0502020204030204" pitchFamily="34" charset="0"/>
                <a:cs typeface="Calibri" panose="020F0502020204030204" pitchFamily="34" charset="0"/>
              </a:rPr>
              <a:t>v) </a:t>
            </a:r>
            <a:r>
              <a:rPr lang="en-US" sz="1800" b="1" u="sng" dirty="0" err="1">
                <a:latin typeface="Calibri" panose="020F0502020204030204" pitchFamily="34" charset="0"/>
                <a:cs typeface="Calibri" panose="020F0502020204030204" pitchFamily="34" charset="0"/>
              </a:rPr>
              <a:t>slt</a:t>
            </a:r>
            <a:r>
              <a:rPr lang="en-US" sz="1800" b="1" u="sng" dirty="0">
                <a:latin typeface="Calibri" panose="020F0502020204030204" pitchFamily="34" charset="0"/>
                <a:cs typeface="Calibri" panose="020F0502020204030204" pitchFamily="34" charset="0"/>
              </a:rPr>
              <a:t> </a:t>
            </a:r>
            <a:r>
              <a:rPr lang="en-US" sz="1800" b="1" u="sng" dirty="0" err="1">
                <a:latin typeface="Calibri" panose="020F0502020204030204" pitchFamily="34" charset="0"/>
                <a:cs typeface="Calibri" panose="020F0502020204030204" pitchFamily="34" charset="0"/>
              </a:rPr>
              <a:t>rd</a:t>
            </a:r>
            <a:r>
              <a:rPr lang="en-US" sz="1800" b="1" u="sng" dirty="0">
                <a:latin typeface="Calibri" panose="020F0502020204030204" pitchFamily="34" charset="0"/>
                <a:cs typeface="Calibri" panose="020F0502020204030204" pitchFamily="34" charset="0"/>
              </a:rPr>
              <a:t>, rs1, rs2</a:t>
            </a:r>
            <a:r>
              <a:rPr lang="en-US" sz="1800" dirty="0">
                <a:latin typeface="Calibri" panose="020F0502020204030204" pitchFamily="34" charset="0"/>
                <a:cs typeface="Calibri" panose="020F0502020204030204" pitchFamily="34" charset="0"/>
              </a:rPr>
              <a:t> : Signed comparison between rs1 and rs2 ---&gt; if rs1 &lt; rs2, then </a:t>
            </a:r>
            <a:r>
              <a:rPr lang="en-US" sz="1800" dirty="0" err="1">
                <a:latin typeface="Calibri" panose="020F0502020204030204" pitchFamily="34" charset="0"/>
                <a:cs typeface="Calibri" panose="020F0502020204030204" pitchFamily="34" charset="0"/>
              </a:rPr>
              <a:t>rd</a:t>
            </a:r>
            <a:r>
              <a:rPr lang="en-US" sz="1800" dirty="0">
                <a:latin typeface="Calibri" panose="020F0502020204030204" pitchFamily="34" charset="0"/>
                <a:cs typeface="Calibri" panose="020F0502020204030204" pitchFamily="34" charset="0"/>
              </a:rPr>
              <a:t> = 1, else </a:t>
            </a:r>
            <a:r>
              <a:rPr lang="en-US" sz="1800" dirty="0" err="1">
                <a:latin typeface="Calibri" panose="020F0502020204030204" pitchFamily="34" charset="0"/>
                <a:cs typeface="Calibri" panose="020F0502020204030204" pitchFamily="34" charset="0"/>
              </a:rPr>
              <a:t>rd</a:t>
            </a:r>
            <a:r>
              <a:rPr lang="en-US" sz="1800" dirty="0">
                <a:latin typeface="Calibri" panose="020F0502020204030204" pitchFamily="34" charset="0"/>
                <a:cs typeface="Calibri" panose="020F0502020204030204" pitchFamily="34" charset="0"/>
              </a:rPr>
              <a:t> = 0.</a:t>
            </a:r>
          </a:p>
          <a:p>
            <a:pPr marL="0" indent="0">
              <a:lnSpc>
                <a:spcPct val="100000"/>
              </a:lnSpc>
              <a:buNone/>
            </a:pPr>
            <a:r>
              <a:rPr lang="en-US" sz="1800" b="1" dirty="0">
                <a:latin typeface="Calibri" panose="020F0502020204030204" pitchFamily="34" charset="0"/>
                <a:cs typeface="Calibri" panose="020F0502020204030204" pitchFamily="34" charset="0"/>
              </a:rPr>
              <a:t>vi) </a:t>
            </a:r>
            <a:r>
              <a:rPr lang="en-IN" sz="1800" b="1" u="sng" dirty="0" err="1">
                <a:latin typeface="Calibri" panose="020F0502020204030204" pitchFamily="34" charset="0"/>
                <a:cs typeface="Calibri" panose="020F0502020204030204" pitchFamily="34" charset="0"/>
              </a:rPr>
              <a:t>sltu</a:t>
            </a:r>
            <a:r>
              <a:rPr lang="en-IN" sz="1800" b="1" u="sng" dirty="0">
                <a:latin typeface="Calibri" panose="020F0502020204030204" pitchFamily="34" charset="0"/>
                <a:cs typeface="Calibri" panose="020F0502020204030204" pitchFamily="34" charset="0"/>
              </a:rPr>
              <a:t> </a:t>
            </a:r>
            <a:r>
              <a:rPr lang="en-IN" sz="1800" b="1" u="sng" dirty="0" err="1">
                <a:latin typeface="Calibri" panose="020F0502020204030204" pitchFamily="34" charset="0"/>
                <a:cs typeface="Calibri" panose="020F0502020204030204" pitchFamily="34" charset="0"/>
              </a:rPr>
              <a:t>rd</a:t>
            </a:r>
            <a:r>
              <a:rPr lang="en-IN" sz="1800" b="1" u="sng" dirty="0">
                <a:latin typeface="Calibri" panose="020F0502020204030204" pitchFamily="34" charset="0"/>
                <a:cs typeface="Calibri" panose="020F0502020204030204" pitchFamily="34" charset="0"/>
              </a:rPr>
              <a:t>, rs1, rs2</a:t>
            </a:r>
            <a:r>
              <a:rPr lang="en-IN" sz="1800" dirty="0">
                <a:latin typeface="Calibri" panose="020F0502020204030204" pitchFamily="34" charset="0"/>
                <a:cs typeface="Calibri" panose="020F0502020204030204" pitchFamily="34" charset="0"/>
              </a:rPr>
              <a:t> : This is same as </a:t>
            </a:r>
            <a:r>
              <a:rPr lang="en-IN" sz="1800" b="1" dirty="0" err="1">
                <a:latin typeface="Calibri" panose="020F0502020204030204" pitchFamily="34" charset="0"/>
                <a:cs typeface="Calibri" panose="020F0502020204030204" pitchFamily="34" charset="0"/>
              </a:rPr>
              <a:t>slt</a:t>
            </a:r>
            <a:r>
              <a:rPr lang="en-IN" sz="1800" dirty="0">
                <a:latin typeface="Calibri" panose="020F0502020204030204" pitchFamily="34" charset="0"/>
                <a:cs typeface="Calibri" panose="020F0502020204030204" pitchFamily="34" charset="0"/>
              </a:rPr>
              <a:t> but unsigned comparison is done.</a:t>
            </a:r>
          </a:p>
          <a:p>
            <a:pPr marL="0" indent="0">
              <a:lnSpc>
                <a:spcPct val="100000"/>
              </a:lnSpc>
              <a:buNone/>
            </a:pPr>
            <a:r>
              <a:rPr lang="en-IN" sz="1800" b="1" dirty="0">
                <a:latin typeface="Calibri" panose="020F0502020204030204" pitchFamily="34" charset="0"/>
                <a:cs typeface="Calibri" panose="020F0502020204030204" pitchFamily="34" charset="0"/>
              </a:rPr>
              <a:t>vii) </a:t>
            </a:r>
            <a:r>
              <a:rPr lang="en-IN" sz="1800" b="1" u="sng" dirty="0" err="1">
                <a:latin typeface="Calibri" panose="020F0502020204030204" pitchFamily="34" charset="0"/>
                <a:cs typeface="Calibri" panose="020F0502020204030204" pitchFamily="34" charset="0"/>
              </a:rPr>
              <a:t>sra</a:t>
            </a:r>
            <a:r>
              <a:rPr lang="en-IN" sz="1800" b="1" u="sng" dirty="0">
                <a:latin typeface="Calibri" panose="020F0502020204030204" pitchFamily="34" charset="0"/>
                <a:cs typeface="Calibri" panose="020F0502020204030204" pitchFamily="34" charset="0"/>
              </a:rPr>
              <a:t> </a:t>
            </a:r>
            <a:r>
              <a:rPr lang="en-IN" sz="1800" b="1" u="sng" dirty="0" err="1">
                <a:latin typeface="Calibri" panose="020F0502020204030204" pitchFamily="34" charset="0"/>
                <a:cs typeface="Calibri" panose="020F0502020204030204" pitchFamily="34" charset="0"/>
              </a:rPr>
              <a:t>rd</a:t>
            </a:r>
            <a:r>
              <a:rPr lang="en-IN" sz="1800" b="1" u="sng" dirty="0">
                <a:latin typeface="Calibri" panose="020F0502020204030204" pitchFamily="34" charset="0"/>
                <a:cs typeface="Calibri" panose="020F0502020204030204" pitchFamily="34" charset="0"/>
              </a:rPr>
              <a:t>, rs1, rs2</a:t>
            </a:r>
            <a:r>
              <a:rPr lang="en-IN" sz="1800" dirty="0">
                <a:latin typeface="Calibri" panose="020F0502020204030204" pitchFamily="34" charset="0"/>
                <a:cs typeface="Calibri" panose="020F0502020204030204" pitchFamily="34" charset="0"/>
              </a:rPr>
              <a:t> : This is Shift Right Arithmetic operation done on rs1. rs1 is shifted to the right by rs2 amount preserving the Sign Bit i.e. </a:t>
            </a:r>
            <a:r>
              <a:rPr lang="en-IN" sz="1800" dirty="0" err="1">
                <a:latin typeface="Calibri" panose="020F0502020204030204" pitchFamily="34" charset="0"/>
                <a:cs typeface="Calibri" panose="020F0502020204030204" pitchFamily="34" charset="0"/>
              </a:rPr>
              <a:t>rs</a:t>
            </a:r>
            <a:r>
              <a:rPr lang="en-IN" sz="1800" dirty="0">
                <a:latin typeface="Calibri" panose="020F0502020204030204" pitchFamily="34" charset="0"/>
                <a:cs typeface="Calibri" panose="020F0502020204030204" pitchFamily="34" charset="0"/>
              </a:rPr>
              <a:t>[4].</a:t>
            </a:r>
          </a:p>
        </p:txBody>
      </p:sp>
    </p:spTree>
    <p:extLst>
      <p:ext uri="{BB962C8B-B14F-4D97-AF65-F5344CB8AC3E}">
        <p14:creationId xmlns:p14="http://schemas.microsoft.com/office/powerpoint/2010/main" val="3676126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9B11-9BB9-97EA-1A8D-17ED9F65E404}"/>
              </a:ext>
            </a:extLst>
          </p:cNvPr>
          <p:cNvSpPr>
            <a:spLocks noGrp="1"/>
          </p:cNvSpPr>
          <p:nvPr>
            <p:ph type="title"/>
          </p:nvPr>
        </p:nvSpPr>
        <p:spPr>
          <a:xfrm>
            <a:off x="700635" y="0"/>
            <a:ext cx="10691265" cy="673100"/>
          </a:xfrm>
        </p:spPr>
        <p:txBody>
          <a:bodyPr>
            <a:normAutofit fontScale="90000"/>
          </a:bodyPr>
          <a:lstStyle/>
          <a:p>
            <a:pPr algn="ctr"/>
            <a:r>
              <a:rPr lang="en-US" dirty="0"/>
              <a:t>The summary of r-type instructions</a:t>
            </a:r>
            <a:endParaRPr lang="en-IN" dirty="0"/>
          </a:p>
        </p:txBody>
      </p:sp>
      <p:graphicFrame>
        <p:nvGraphicFramePr>
          <p:cNvPr id="5" name="Content Placeholder 4">
            <a:extLst>
              <a:ext uri="{FF2B5EF4-FFF2-40B4-BE49-F238E27FC236}">
                <a16:creationId xmlns:a16="http://schemas.microsoft.com/office/drawing/2014/main" id="{7A40EFCC-40CC-3B9D-B534-596846FD49FE}"/>
              </a:ext>
            </a:extLst>
          </p:cNvPr>
          <p:cNvGraphicFramePr>
            <a:graphicFrameLocks noGrp="1"/>
          </p:cNvGraphicFramePr>
          <p:nvPr>
            <p:ph idx="1"/>
            <p:extLst>
              <p:ext uri="{D42A27DB-BD31-4B8C-83A1-F6EECF244321}">
                <p14:modId xmlns:p14="http://schemas.microsoft.com/office/powerpoint/2010/main" val="1927253191"/>
              </p:ext>
            </p:extLst>
          </p:nvPr>
        </p:nvGraphicFramePr>
        <p:xfrm>
          <a:off x="750094" y="786678"/>
          <a:ext cx="10691812" cy="5010355"/>
        </p:xfrm>
        <a:graphic>
          <a:graphicData uri="http://schemas.openxmlformats.org/drawingml/2006/table">
            <a:tbl>
              <a:tblPr firstRow="1" bandRow="1">
                <a:tableStyleId>{5C22544A-7EE6-4342-B048-85BDC9FD1C3A}</a:tableStyleId>
              </a:tblPr>
              <a:tblGrid>
                <a:gridCol w="2672953">
                  <a:extLst>
                    <a:ext uri="{9D8B030D-6E8A-4147-A177-3AD203B41FA5}">
                      <a16:colId xmlns:a16="http://schemas.microsoft.com/office/drawing/2014/main" val="201579177"/>
                    </a:ext>
                  </a:extLst>
                </a:gridCol>
                <a:gridCol w="2672953">
                  <a:extLst>
                    <a:ext uri="{9D8B030D-6E8A-4147-A177-3AD203B41FA5}">
                      <a16:colId xmlns:a16="http://schemas.microsoft.com/office/drawing/2014/main" val="2366841497"/>
                    </a:ext>
                  </a:extLst>
                </a:gridCol>
                <a:gridCol w="2672953">
                  <a:extLst>
                    <a:ext uri="{9D8B030D-6E8A-4147-A177-3AD203B41FA5}">
                      <a16:colId xmlns:a16="http://schemas.microsoft.com/office/drawing/2014/main" val="2580359771"/>
                    </a:ext>
                  </a:extLst>
                </a:gridCol>
                <a:gridCol w="2672953">
                  <a:extLst>
                    <a:ext uri="{9D8B030D-6E8A-4147-A177-3AD203B41FA5}">
                      <a16:colId xmlns:a16="http://schemas.microsoft.com/office/drawing/2014/main" val="1818590135"/>
                    </a:ext>
                  </a:extLst>
                </a:gridCol>
              </a:tblGrid>
              <a:tr h="431632">
                <a:tc>
                  <a:txBody>
                    <a:bodyPr/>
                    <a:lstStyle/>
                    <a:p>
                      <a:pPr algn="ctr"/>
                      <a:r>
                        <a:rPr lang="en-US" b="1" dirty="0"/>
                        <a:t>Instruction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funct7</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funct3</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Operation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2572688"/>
                  </a:ext>
                </a:extLst>
              </a:tr>
              <a:tr h="437627">
                <a:tc>
                  <a:txBody>
                    <a:bodyPr/>
                    <a:lstStyle/>
                    <a:p>
                      <a:pPr algn="ctr"/>
                      <a:r>
                        <a:rPr lang="en-US" b="1" dirty="0"/>
                        <a:t>add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Add (signed)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678012"/>
                  </a:ext>
                </a:extLst>
              </a:tr>
              <a:tr h="437627">
                <a:tc>
                  <a:txBody>
                    <a:bodyPr/>
                    <a:lstStyle/>
                    <a:p>
                      <a:pPr algn="ctr"/>
                      <a:r>
                        <a:rPr lang="en-US" b="1" dirty="0"/>
                        <a:t>sub</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Subtract (signed)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8994320"/>
                  </a:ext>
                </a:extLst>
              </a:tr>
              <a:tr h="437627">
                <a:tc>
                  <a:txBody>
                    <a:bodyPr/>
                    <a:lstStyle/>
                    <a:p>
                      <a:pPr algn="ctr"/>
                      <a:r>
                        <a:rPr lang="en-US" b="1" dirty="0" err="1"/>
                        <a:t>sll</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Shift Left 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254912"/>
                  </a:ext>
                </a:extLst>
              </a:tr>
              <a:tr h="437627">
                <a:tc>
                  <a:txBody>
                    <a:bodyPr/>
                    <a:lstStyle/>
                    <a:p>
                      <a:pPr algn="ctr"/>
                      <a:r>
                        <a:rPr lang="en-US" b="1" dirty="0" err="1"/>
                        <a:t>slt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Set Less Than (signed)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795477"/>
                  </a:ext>
                </a:extLst>
              </a:tr>
              <a:tr h="639362">
                <a:tc>
                  <a:txBody>
                    <a:bodyPr/>
                    <a:lstStyle/>
                    <a:p>
                      <a:pPr algn="ctr"/>
                      <a:r>
                        <a:rPr lang="en-US" b="1" dirty="0" err="1"/>
                        <a:t>sltu</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Set Less Than (unsigned)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310770"/>
                  </a:ext>
                </a:extLst>
              </a:tr>
              <a:tr h="437627">
                <a:tc>
                  <a:txBody>
                    <a:bodyPr/>
                    <a:lstStyle/>
                    <a:p>
                      <a:pPr algn="ctr"/>
                      <a:r>
                        <a:rPr lang="en-US" b="1" dirty="0" err="1"/>
                        <a:t>xor</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Bitwise XOR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704542"/>
                  </a:ext>
                </a:extLst>
              </a:tr>
              <a:tr h="437627">
                <a:tc>
                  <a:txBody>
                    <a:bodyPr/>
                    <a:lstStyle/>
                    <a:p>
                      <a:pPr algn="ctr"/>
                      <a:r>
                        <a:rPr lang="en-US" b="1" dirty="0" err="1"/>
                        <a:t>srl</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Shift Right 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817008"/>
                  </a:ext>
                </a:extLst>
              </a:tr>
              <a:tr h="437627">
                <a:tc>
                  <a:txBody>
                    <a:bodyPr/>
                    <a:lstStyle/>
                    <a:p>
                      <a:pPr algn="ctr"/>
                      <a:r>
                        <a:rPr lang="en-US" b="1" dirty="0" err="1"/>
                        <a:t>sra</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Shift Right Arithmetic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302297"/>
                  </a:ext>
                </a:extLst>
              </a:tr>
              <a:tr h="437627">
                <a:tc>
                  <a:txBody>
                    <a:bodyPr/>
                    <a:lstStyle/>
                    <a:p>
                      <a:pPr algn="ctr"/>
                      <a:r>
                        <a:rPr lang="en-US" b="1" dirty="0"/>
                        <a:t>or</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Bitwise 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07115"/>
                  </a:ext>
                </a:extLst>
              </a:tr>
              <a:tr h="437627">
                <a:tc>
                  <a:txBody>
                    <a:bodyPr/>
                    <a:lstStyle/>
                    <a:p>
                      <a:pPr algn="ctr"/>
                      <a:r>
                        <a:rPr lang="en-US" b="1" dirty="0"/>
                        <a:t>and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Bitwise 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0976812"/>
                  </a:ext>
                </a:extLst>
              </a:tr>
            </a:tbl>
          </a:graphicData>
        </a:graphic>
      </p:graphicFrame>
      <p:sp>
        <p:nvSpPr>
          <p:cNvPr id="6" name="TextBox 5">
            <a:extLst>
              <a:ext uri="{FF2B5EF4-FFF2-40B4-BE49-F238E27FC236}">
                <a16:creationId xmlns:a16="http://schemas.microsoft.com/office/drawing/2014/main" id="{F5176CA1-90CF-2FF7-FEF7-107BB8D058B1}"/>
              </a:ext>
            </a:extLst>
          </p:cNvPr>
          <p:cNvSpPr txBox="1"/>
          <p:nvPr/>
        </p:nvSpPr>
        <p:spPr>
          <a:xfrm>
            <a:off x="750094" y="5797033"/>
            <a:ext cx="10691812" cy="369332"/>
          </a:xfrm>
          <a:prstGeom prst="rect">
            <a:avLst/>
          </a:prstGeom>
          <a:noFill/>
        </p:spPr>
        <p:txBody>
          <a:bodyPr wrap="square" rtlCol="0">
            <a:spAutoFit/>
          </a:bodyPr>
          <a:lstStyle/>
          <a:p>
            <a:r>
              <a:rPr lang="en-US" b="1" dirty="0"/>
              <a:t>Opcode</a:t>
            </a:r>
            <a:r>
              <a:rPr lang="en-US" dirty="0"/>
              <a:t> is same for all : </a:t>
            </a:r>
            <a:r>
              <a:rPr lang="en-US" b="1" dirty="0"/>
              <a:t>0110011</a:t>
            </a:r>
            <a:endParaRPr lang="en-IN" b="1" dirty="0"/>
          </a:p>
        </p:txBody>
      </p:sp>
    </p:spTree>
    <p:extLst>
      <p:ext uri="{BB962C8B-B14F-4D97-AF65-F5344CB8AC3E}">
        <p14:creationId xmlns:p14="http://schemas.microsoft.com/office/powerpoint/2010/main" val="148657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1609-D1C7-E419-97CA-043C8F4EB450}"/>
              </a:ext>
            </a:extLst>
          </p:cNvPr>
          <p:cNvSpPr>
            <a:spLocks noGrp="1"/>
          </p:cNvSpPr>
          <p:nvPr>
            <p:ph type="title"/>
          </p:nvPr>
        </p:nvSpPr>
        <p:spPr>
          <a:xfrm>
            <a:off x="700634" y="147917"/>
            <a:ext cx="10691265" cy="524436"/>
          </a:xfrm>
        </p:spPr>
        <p:txBody>
          <a:bodyPr>
            <a:normAutofit fontScale="90000"/>
          </a:bodyPr>
          <a:lstStyle/>
          <a:p>
            <a:pPr algn="ctr"/>
            <a:r>
              <a:rPr lang="en-US" dirty="0" err="1"/>
              <a:t>i</a:t>
            </a:r>
            <a:r>
              <a:rPr lang="en-US" dirty="0"/>
              <a:t>-type instructions</a:t>
            </a:r>
            <a:endParaRPr lang="en-IN" dirty="0"/>
          </a:p>
        </p:txBody>
      </p:sp>
      <p:sp>
        <p:nvSpPr>
          <p:cNvPr id="3" name="Content Placeholder 2">
            <a:extLst>
              <a:ext uri="{FF2B5EF4-FFF2-40B4-BE49-F238E27FC236}">
                <a16:creationId xmlns:a16="http://schemas.microsoft.com/office/drawing/2014/main" id="{0355160A-06D0-5B99-B639-D737ABD02EFB}"/>
              </a:ext>
            </a:extLst>
          </p:cNvPr>
          <p:cNvSpPr>
            <a:spLocks noGrp="1"/>
          </p:cNvSpPr>
          <p:nvPr>
            <p:ph idx="1"/>
          </p:nvPr>
        </p:nvSpPr>
        <p:spPr>
          <a:xfrm>
            <a:off x="700635" y="766482"/>
            <a:ext cx="10691265" cy="5378824"/>
          </a:xfrm>
        </p:spPr>
        <p:txBody>
          <a:bodyPr>
            <a:normAutofit fontScale="70000" lnSpcReduction="20000"/>
          </a:bodyPr>
          <a:lstStyle/>
          <a:p>
            <a:pPr marL="0" indent="0">
              <a:lnSpc>
                <a:spcPct val="100000"/>
              </a:lnSpc>
              <a:buNone/>
            </a:pPr>
            <a:r>
              <a:rPr lang="en-US" dirty="0">
                <a:latin typeface="Calibri" panose="020F0502020204030204" pitchFamily="34" charset="0"/>
                <a:cs typeface="Calibri" panose="020F0502020204030204" pitchFamily="34" charset="0"/>
              </a:rPr>
              <a:t>The I-type instructions is also operation between two operands but one of them is a constant provided by the user and the other is a value stored in some register. This constant value provided by the user is called immediate and it is of 12 bits, thus, it is Sign Extended to 32 bits by the Sign Extender Block. </a:t>
            </a:r>
            <a:r>
              <a:rPr lang="en-US" b="1" i="1" dirty="0">
                <a:latin typeface="Calibri" panose="020F0502020204030204" pitchFamily="34" charset="0"/>
                <a:cs typeface="Calibri" panose="020F0502020204030204" pitchFamily="34" charset="0"/>
              </a:rPr>
              <a:t>Supported I-type </a:t>
            </a:r>
            <a:r>
              <a:rPr lang="en-US" b="1" i="1" dirty="0" err="1">
                <a:latin typeface="Calibri" panose="020F0502020204030204" pitchFamily="34" charset="0"/>
                <a:cs typeface="Calibri" panose="020F0502020204030204" pitchFamily="34" charset="0"/>
              </a:rPr>
              <a:t>Instrucitons</a:t>
            </a:r>
            <a:r>
              <a:rPr lang="en-US" b="1" i="1" dirty="0">
                <a:latin typeface="Calibri" panose="020F0502020204030204" pitchFamily="34" charset="0"/>
                <a:cs typeface="Calibri" panose="020F0502020204030204" pitchFamily="34" charset="0"/>
              </a:rPr>
              <a:t> :</a:t>
            </a:r>
          </a:p>
          <a:p>
            <a:pPr marL="0" indent="0">
              <a:lnSpc>
                <a:spcPct val="100000"/>
              </a:lnSpc>
              <a:buNone/>
            </a:pPr>
            <a:r>
              <a:rPr lang="en-US" b="1" dirty="0" err="1">
                <a:latin typeface="Calibri" panose="020F0502020204030204" pitchFamily="34" charset="0"/>
                <a:cs typeface="Calibri" panose="020F0502020204030204" pitchFamily="34" charset="0"/>
              </a:rPr>
              <a:t>i</a:t>
            </a:r>
            <a:r>
              <a:rPr lang="en-US" b="1"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addi</a:t>
            </a:r>
            <a:r>
              <a:rPr lang="en-US" b="1" u="sng"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rd</a:t>
            </a:r>
            <a:r>
              <a:rPr lang="en-US" b="1" u="sng" dirty="0">
                <a:latin typeface="Calibri" panose="020F0502020204030204" pitchFamily="34" charset="0"/>
                <a:cs typeface="Calibri" panose="020F0502020204030204" pitchFamily="34" charset="0"/>
              </a:rPr>
              <a:t>, rs1, </a:t>
            </a:r>
            <a:r>
              <a:rPr lang="en-US" b="1" u="sng" dirty="0" err="1">
                <a:latin typeface="Calibri" panose="020F0502020204030204" pitchFamily="34" charset="0"/>
                <a:cs typeface="Calibri" panose="020F0502020204030204" pitchFamily="34" charset="0"/>
              </a:rPr>
              <a:t>imm</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This is signed addition between rs1 and immediate i.e. rs1+imm. The result is stored at the destination register rd.</a:t>
            </a:r>
          </a:p>
          <a:p>
            <a:pPr marL="0" indent="0">
              <a:lnSpc>
                <a:spcPct val="100000"/>
              </a:lnSpc>
              <a:buNone/>
            </a:pPr>
            <a:r>
              <a:rPr lang="en-US" dirty="0">
                <a:latin typeface="Calibri" panose="020F0502020204030204" pitchFamily="34" charset="0"/>
                <a:cs typeface="Calibri" panose="020F0502020204030204" pitchFamily="34" charset="0"/>
              </a:rPr>
              <a:t>Similarly </a:t>
            </a:r>
            <a:r>
              <a:rPr lang="en-US" b="1" dirty="0">
                <a:latin typeface="Calibri" panose="020F0502020204030204" pitchFamily="34" charset="0"/>
                <a:cs typeface="Calibri" panose="020F0502020204030204" pitchFamily="34" charset="0"/>
              </a:rPr>
              <a:t>sub </a:t>
            </a:r>
            <a:r>
              <a:rPr lang="en-US" b="1" dirty="0" err="1">
                <a:latin typeface="Calibri" panose="020F0502020204030204" pitchFamily="34" charset="0"/>
                <a:cs typeface="Calibri" panose="020F0502020204030204" pitchFamily="34" charset="0"/>
              </a:rPr>
              <a:t>rd</a:t>
            </a:r>
            <a:r>
              <a:rPr lang="en-US" b="1" dirty="0">
                <a:latin typeface="Calibri" panose="020F0502020204030204" pitchFamily="34" charset="0"/>
                <a:cs typeface="Calibri" panose="020F0502020204030204" pitchFamily="34" charset="0"/>
              </a:rPr>
              <a:t>, rs1, </a:t>
            </a:r>
            <a:r>
              <a:rPr lang="en-US" b="1" dirty="0" err="1">
                <a:latin typeface="Calibri" panose="020F0502020204030204" pitchFamily="34" charset="0"/>
                <a:cs typeface="Calibri" panose="020F0502020204030204" pitchFamily="34" charset="0"/>
              </a:rPr>
              <a:t>imm</a:t>
            </a:r>
            <a:endParaRPr lang="en-US" dirty="0">
              <a:latin typeface="Calibri" panose="020F0502020204030204" pitchFamily="34" charset="0"/>
              <a:cs typeface="Calibri" panose="020F0502020204030204" pitchFamily="34" charset="0"/>
            </a:endParaRPr>
          </a:p>
          <a:p>
            <a:pPr marL="0" indent="0">
              <a:lnSpc>
                <a:spcPct val="100000"/>
              </a:lnSpc>
              <a:buNone/>
            </a:pPr>
            <a:r>
              <a:rPr lang="en-US" b="1" dirty="0">
                <a:latin typeface="Calibri" panose="020F0502020204030204" pitchFamily="34" charset="0"/>
                <a:cs typeface="Calibri" panose="020F0502020204030204" pitchFamily="34" charset="0"/>
              </a:rPr>
              <a:t>ii)</a:t>
            </a:r>
            <a:r>
              <a:rPr lang="en-US"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xorI</a:t>
            </a:r>
            <a:r>
              <a:rPr lang="en-US" b="1" u="sng"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rd</a:t>
            </a:r>
            <a:r>
              <a:rPr lang="en-US" b="1" u="sng" dirty="0">
                <a:latin typeface="Calibri" panose="020F0502020204030204" pitchFamily="34" charset="0"/>
                <a:cs typeface="Calibri" panose="020F0502020204030204" pitchFamily="34" charset="0"/>
              </a:rPr>
              <a:t>, rs1, </a:t>
            </a:r>
            <a:r>
              <a:rPr lang="en-US" b="1" u="sng" dirty="0" err="1">
                <a:latin typeface="Calibri" panose="020F0502020204030204" pitchFamily="34" charset="0"/>
                <a:cs typeface="Calibri" panose="020F0502020204030204" pitchFamily="34" charset="0"/>
              </a:rPr>
              <a:t>imm</a:t>
            </a:r>
            <a:r>
              <a:rPr lang="en-US" b="1" u="sng"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This is Bitwise XOR operation between rs1 and immediate i.e. rs1^imm. The result is stored at the destination register rd.</a:t>
            </a:r>
          </a:p>
          <a:p>
            <a:pPr marL="0" indent="0">
              <a:lnSpc>
                <a:spcPct val="100000"/>
              </a:lnSpc>
              <a:buNone/>
            </a:pPr>
            <a:r>
              <a:rPr lang="en-US" dirty="0">
                <a:latin typeface="Calibri" panose="020F0502020204030204" pitchFamily="34" charset="0"/>
                <a:cs typeface="Calibri" panose="020F0502020204030204" pitchFamily="34" charset="0"/>
              </a:rPr>
              <a:t>Similarly, </a:t>
            </a:r>
            <a:r>
              <a:rPr lang="en-US" b="1" dirty="0" err="1">
                <a:latin typeface="Calibri" panose="020F0502020204030204" pitchFamily="34" charset="0"/>
                <a:cs typeface="Calibri" panose="020F0502020204030204" pitchFamily="34" charset="0"/>
              </a:rPr>
              <a:t>andi</a:t>
            </a:r>
            <a:r>
              <a:rPr lang="en-US"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ori</a:t>
            </a:r>
            <a:endParaRPr lang="en-US" b="1" dirty="0">
              <a:latin typeface="Calibri" panose="020F0502020204030204" pitchFamily="34" charset="0"/>
              <a:cs typeface="Calibri" panose="020F0502020204030204" pitchFamily="34" charset="0"/>
            </a:endParaRPr>
          </a:p>
          <a:p>
            <a:pPr marL="0" indent="0">
              <a:lnSpc>
                <a:spcPct val="100000"/>
              </a:lnSpc>
              <a:buNone/>
            </a:pPr>
            <a:r>
              <a:rPr lang="en-US" b="1" dirty="0">
                <a:latin typeface="Calibri" panose="020F0502020204030204" pitchFamily="34" charset="0"/>
                <a:cs typeface="Calibri" panose="020F0502020204030204" pitchFamily="34" charset="0"/>
              </a:rPr>
              <a:t>iii) </a:t>
            </a:r>
            <a:r>
              <a:rPr lang="en-US" b="1" u="sng" dirty="0" err="1">
                <a:latin typeface="Calibri" panose="020F0502020204030204" pitchFamily="34" charset="0"/>
                <a:cs typeface="Calibri" panose="020F0502020204030204" pitchFamily="34" charset="0"/>
              </a:rPr>
              <a:t>slti</a:t>
            </a:r>
            <a:r>
              <a:rPr lang="en-US" b="1" u="sng"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rd</a:t>
            </a:r>
            <a:r>
              <a:rPr lang="en-US" b="1" u="sng" dirty="0">
                <a:latin typeface="Calibri" panose="020F0502020204030204" pitchFamily="34" charset="0"/>
                <a:cs typeface="Calibri" panose="020F0502020204030204" pitchFamily="34" charset="0"/>
              </a:rPr>
              <a:t>, rs1, </a:t>
            </a:r>
            <a:r>
              <a:rPr lang="en-US" b="1" u="sng" dirty="0" err="1">
                <a:latin typeface="Calibri" panose="020F0502020204030204" pitchFamily="34" charset="0"/>
                <a:cs typeface="Calibri" panose="020F0502020204030204" pitchFamily="34" charset="0"/>
              </a:rPr>
              <a:t>imm</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Signed Comparison between </a:t>
            </a:r>
            <a:r>
              <a:rPr lang="en-US" b="1" dirty="0">
                <a:latin typeface="Calibri" panose="020F0502020204030204" pitchFamily="34" charset="0"/>
                <a:cs typeface="Calibri" panose="020F0502020204030204" pitchFamily="34" charset="0"/>
              </a:rPr>
              <a:t>rs1</a:t>
            </a:r>
            <a:r>
              <a:rPr lang="en-US" dirty="0">
                <a:latin typeface="Calibri" panose="020F0502020204030204" pitchFamily="34" charset="0"/>
                <a:cs typeface="Calibri" panose="020F0502020204030204" pitchFamily="34" charset="0"/>
              </a:rPr>
              <a:t> and </a:t>
            </a:r>
            <a:r>
              <a:rPr lang="en-US" b="1" dirty="0" err="1">
                <a:latin typeface="Calibri" panose="020F0502020204030204" pitchFamily="34" charset="0"/>
                <a:cs typeface="Calibri" panose="020F0502020204030204" pitchFamily="34" charset="0"/>
              </a:rPr>
              <a:t>imm</a:t>
            </a:r>
            <a:r>
              <a:rPr lang="en-US" dirty="0">
                <a:latin typeface="Calibri" panose="020F0502020204030204" pitchFamily="34" charset="0"/>
                <a:cs typeface="Calibri" panose="020F0502020204030204" pitchFamily="34" charset="0"/>
              </a:rPr>
              <a:t> : Set </a:t>
            </a:r>
            <a:r>
              <a:rPr lang="en-US" dirty="0" err="1">
                <a:latin typeface="Calibri" panose="020F0502020204030204" pitchFamily="34" charset="0"/>
                <a:cs typeface="Calibri" panose="020F0502020204030204" pitchFamily="34" charset="0"/>
              </a:rPr>
              <a:t>rd</a:t>
            </a:r>
            <a:r>
              <a:rPr lang="en-US" dirty="0">
                <a:latin typeface="Calibri" panose="020F0502020204030204" pitchFamily="34" charset="0"/>
                <a:cs typeface="Calibri" panose="020F0502020204030204" pitchFamily="34" charset="0"/>
              </a:rPr>
              <a:t> = 1 if rs1 &lt; </a:t>
            </a:r>
            <a:r>
              <a:rPr lang="en-US" dirty="0" err="1">
                <a:latin typeface="Calibri" panose="020F0502020204030204" pitchFamily="34" charset="0"/>
                <a:cs typeface="Calibri" panose="020F0502020204030204" pitchFamily="34" charset="0"/>
              </a:rPr>
              <a:t>imm</a:t>
            </a:r>
            <a:r>
              <a:rPr lang="en-US" dirty="0">
                <a:latin typeface="Calibri" panose="020F0502020204030204" pitchFamily="34" charset="0"/>
                <a:cs typeface="Calibri" panose="020F0502020204030204" pitchFamily="34" charset="0"/>
              </a:rPr>
              <a:t> (signed)</a:t>
            </a:r>
          </a:p>
          <a:p>
            <a:pPr marL="0" indent="0">
              <a:lnSpc>
                <a:spcPct val="100000"/>
              </a:lnSpc>
              <a:buNone/>
            </a:pPr>
            <a:r>
              <a:rPr lang="en-US" b="1" dirty="0">
                <a:latin typeface="Calibri" panose="020F0502020204030204" pitchFamily="34" charset="0"/>
                <a:cs typeface="Calibri" panose="020F0502020204030204" pitchFamily="34" charset="0"/>
              </a:rPr>
              <a:t>iv) </a:t>
            </a:r>
            <a:r>
              <a:rPr lang="en-US" b="1" u="sng" dirty="0" err="1">
                <a:latin typeface="Calibri" panose="020F0502020204030204" pitchFamily="34" charset="0"/>
                <a:cs typeface="Calibri" panose="020F0502020204030204" pitchFamily="34" charset="0"/>
              </a:rPr>
              <a:t>sltiu</a:t>
            </a:r>
            <a:r>
              <a:rPr lang="en-US" b="1" u="sng"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rd</a:t>
            </a:r>
            <a:r>
              <a:rPr lang="en-US" b="1" u="sng" dirty="0">
                <a:latin typeface="Calibri" panose="020F0502020204030204" pitchFamily="34" charset="0"/>
                <a:cs typeface="Calibri" panose="020F0502020204030204" pitchFamily="34" charset="0"/>
              </a:rPr>
              <a:t>, rs1, </a:t>
            </a:r>
            <a:r>
              <a:rPr lang="en-US" b="1" u="sng" dirty="0" err="1">
                <a:latin typeface="Calibri" panose="020F0502020204030204" pitchFamily="34" charset="0"/>
                <a:cs typeface="Calibri" panose="020F0502020204030204" pitchFamily="34" charset="0"/>
              </a:rPr>
              <a:t>imm</a:t>
            </a:r>
            <a:r>
              <a:rPr lang="en-US" b="1" dirty="0">
                <a:latin typeface="Calibri" panose="020F0502020204030204" pitchFamily="34" charset="0"/>
                <a:cs typeface="Calibri" panose="020F0502020204030204" pitchFamily="34" charset="0"/>
              </a:rPr>
              <a:t> : </a:t>
            </a:r>
            <a:r>
              <a:rPr lang="en-US" dirty="0">
                <a:latin typeface="Calibri" panose="020F0502020204030204" pitchFamily="34" charset="0"/>
                <a:cs typeface="Calibri" panose="020F0502020204030204" pitchFamily="34" charset="0"/>
              </a:rPr>
              <a:t>Same as </a:t>
            </a:r>
            <a:r>
              <a:rPr lang="en-US" dirty="0" err="1">
                <a:latin typeface="Calibri" panose="020F0502020204030204" pitchFamily="34" charset="0"/>
                <a:cs typeface="Calibri" panose="020F0502020204030204" pitchFamily="34" charset="0"/>
              </a:rPr>
              <a:t>slti</a:t>
            </a:r>
            <a:r>
              <a:rPr lang="en-US" dirty="0">
                <a:latin typeface="Calibri" panose="020F0502020204030204" pitchFamily="34" charset="0"/>
                <a:cs typeface="Calibri" panose="020F0502020204030204" pitchFamily="34" charset="0"/>
              </a:rPr>
              <a:t> but Unsigned comparison is done</a:t>
            </a:r>
          </a:p>
          <a:p>
            <a:pPr marL="0" indent="0">
              <a:lnSpc>
                <a:spcPct val="100000"/>
              </a:lnSpc>
              <a:buNone/>
            </a:pPr>
            <a:r>
              <a:rPr lang="en-US" b="1" dirty="0">
                <a:latin typeface="Calibri" panose="020F0502020204030204" pitchFamily="34" charset="0"/>
                <a:cs typeface="Calibri" panose="020F0502020204030204" pitchFamily="34" charset="0"/>
              </a:rPr>
              <a:t>v) </a:t>
            </a:r>
            <a:r>
              <a:rPr lang="en-US" b="1" u="sng" dirty="0" err="1">
                <a:latin typeface="Calibri" panose="020F0502020204030204" pitchFamily="34" charset="0"/>
                <a:cs typeface="Calibri" panose="020F0502020204030204" pitchFamily="34" charset="0"/>
              </a:rPr>
              <a:t>slli</a:t>
            </a:r>
            <a:r>
              <a:rPr lang="en-US" b="1" u="sng" dirty="0">
                <a:latin typeface="Calibri" panose="020F0502020204030204" pitchFamily="34" charset="0"/>
                <a:cs typeface="Calibri" panose="020F0502020204030204" pitchFamily="34" charset="0"/>
              </a:rPr>
              <a:t> </a:t>
            </a:r>
            <a:r>
              <a:rPr lang="en-US" b="1" u="sng" dirty="0" err="1">
                <a:latin typeface="Calibri" panose="020F0502020204030204" pitchFamily="34" charset="0"/>
                <a:cs typeface="Calibri" panose="020F0502020204030204" pitchFamily="34" charset="0"/>
              </a:rPr>
              <a:t>rd</a:t>
            </a:r>
            <a:r>
              <a:rPr lang="en-US" b="1" u="sng" dirty="0">
                <a:latin typeface="Calibri" panose="020F0502020204030204" pitchFamily="34" charset="0"/>
                <a:cs typeface="Calibri" panose="020F0502020204030204" pitchFamily="34" charset="0"/>
              </a:rPr>
              <a:t>, rs1, </a:t>
            </a:r>
            <a:r>
              <a:rPr lang="en-US" b="1" u="sng" dirty="0" err="1">
                <a:latin typeface="Calibri" panose="020F0502020204030204" pitchFamily="34" charset="0"/>
                <a:cs typeface="Calibri" panose="020F0502020204030204" pitchFamily="34" charset="0"/>
              </a:rPr>
              <a:t>shamt</a:t>
            </a:r>
            <a:r>
              <a:rPr lang="en-US" b="1" u="sng"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Logical left shift by </a:t>
            </a:r>
            <a:r>
              <a:rPr lang="en-US" b="1" dirty="0" err="1">
                <a:latin typeface="Calibri" panose="020F0502020204030204" pitchFamily="34" charset="0"/>
                <a:cs typeface="Calibri" panose="020F0502020204030204" pitchFamily="34" charset="0"/>
              </a:rPr>
              <a:t>shamt</a:t>
            </a:r>
            <a:r>
              <a:rPr lang="en-US" dirty="0">
                <a:latin typeface="Calibri" panose="020F0502020204030204" pitchFamily="34" charset="0"/>
                <a:cs typeface="Calibri" panose="020F0502020204030204" pitchFamily="34" charset="0"/>
              </a:rPr>
              <a:t> bits</a:t>
            </a:r>
          </a:p>
          <a:p>
            <a:pPr marL="0" indent="0">
              <a:lnSpc>
                <a:spcPct val="100000"/>
              </a:lnSpc>
              <a:buNone/>
            </a:pPr>
            <a:r>
              <a:rPr lang="en-IN" b="1" dirty="0"/>
              <a:t>vi) </a:t>
            </a:r>
            <a:r>
              <a:rPr lang="en-US" b="1" u="sng" dirty="0" err="1"/>
              <a:t>srli</a:t>
            </a:r>
            <a:r>
              <a:rPr lang="en-US" b="1" u="sng" dirty="0"/>
              <a:t> </a:t>
            </a:r>
            <a:r>
              <a:rPr lang="en-US" b="1" u="sng" dirty="0" err="1"/>
              <a:t>rd</a:t>
            </a:r>
            <a:r>
              <a:rPr lang="en-US" b="1" u="sng" dirty="0"/>
              <a:t>, rs1, </a:t>
            </a:r>
            <a:r>
              <a:rPr lang="en-US" b="1" u="sng" dirty="0" err="1"/>
              <a:t>shamt</a:t>
            </a:r>
            <a:r>
              <a:rPr lang="en-US" dirty="0"/>
              <a:t> : Logical right shift by </a:t>
            </a:r>
            <a:r>
              <a:rPr lang="en-US" b="1" dirty="0" err="1"/>
              <a:t>shamt</a:t>
            </a:r>
            <a:r>
              <a:rPr lang="en-US" dirty="0"/>
              <a:t> bits</a:t>
            </a:r>
          </a:p>
          <a:p>
            <a:pPr marL="0" indent="0">
              <a:lnSpc>
                <a:spcPct val="100000"/>
              </a:lnSpc>
              <a:buNone/>
            </a:pPr>
            <a:r>
              <a:rPr lang="en-US" b="1" dirty="0"/>
              <a:t>vii)</a:t>
            </a:r>
            <a:r>
              <a:rPr lang="en-US" dirty="0"/>
              <a:t> </a:t>
            </a:r>
            <a:r>
              <a:rPr lang="en-US" b="1" u="sng" dirty="0" err="1"/>
              <a:t>srai</a:t>
            </a:r>
            <a:r>
              <a:rPr lang="en-US" b="1" u="sng" dirty="0"/>
              <a:t> </a:t>
            </a:r>
            <a:r>
              <a:rPr lang="en-US" b="1" u="sng" dirty="0" err="1"/>
              <a:t>rd</a:t>
            </a:r>
            <a:r>
              <a:rPr lang="en-US" b="1" u="sng" dirty="0"/>
              <a:t>, rs1, </a:t>
            </a:r>
            <a:r>
              <a:rPr lang="en-US" b="1" u="sng" dirty="0" err="1"/>
              <a:t>shamt</a:t>
            </a:r>
            <a:r>
              <a:rPr lang="en-US" dirty="0"/>
              <a:t> : Arithmetic right shift (preserves sign)</a:t>
            </a:r>
          </a:p>
          <a:p>
            <a:pPr marL="0" indent="0">
              <a:lnSpc>
                <a:spcPct val="100000"/>
              </a:lnSpc>
              <a:buNone/>
            </a:pPr>
            <a:r>
              <a:rPr lang="en-IN" b="1" dirty="0"/>
              <a:t>viii</a:t>
            </a:r>
            <a:r>
              <a:rPr lang="en-IN" dirty="0"/>
              <a:t>) </a:t>
            </a:r>
            <a:r>
              <a:rPr lang="en-IN" b="1" u="sng" dirty="0" err="1"/>
              <a:t>lw</a:t>
            </a:r>
            <a:r>
              <a:rPr lang="en-IN" b="1" u="sng" dirty="0"/>
              <a:t> </a:t>
            </a:r>
            <a:r>
              <a:rPr lang="en-IN" b="1" u="sng" dirty="0" err="1"/>
              <a:t>rd</a:t>
            </a:r>
            <a:r>
              <a:rPr lang="en-IN" b="1" u="sng" dirty="0"/>
              <a:t>, </a:t>
            </a:r>
            <a:r>
              <a:rPr lang="en-IN" b="1" u="sng" dirty="0" err="1"/>
              <a:t>imm</a:t>
            </a:r>
            <a:r>
              <a:rPr lang="en-IN" b="1" u="sng" dirty="0"/>
              <a:t>(rs1)</a:t>
            </a:r>
            <a:r>
              <a:rPr lang="en-IN" dirty="0"/>
              <a:t> :	Load 32-bit word from </a:t>
            </a:r>
            <a:r>
              <a:rPr lang="en-US" dirty="0"/>
              <a:t>memory at rs1(acts as base address) + </a:t>
            </a:r>
            <a:r>
              <a:rPr lang="en-US" dirty="0" err="1"/>
              <a:t>imm</a:t>
            </a:r>
            <a:r>
              <a:rPr lang="en-US" dirty="0"/>
              <a:t> (acts as offset) and store it in rd.</a:t>
            </a:r>
            <a:endParaRPr lang="en-IN" dirty="0"/>
          </a:p>
          <a:p>
            <a:pPr marL="0" indent="0">
              <a:lnSpc>
                <a:spcPct val="100000"/>
              </a:lnSpc>
              <a:buNone/>
            </a:pPr>
            <a:r>
              <a:rPr lang="en-IN" b="1" dirty="0"/>
              <a:t>ix) </a:t>
            </a:r>
            <a:r>
              <a:rPr lang="en-IN" b="1" u="sng" dirty="0" err="1"/>
              <a:t>lh</a:t>
            </a:r>
            <a:r>
              <a:rPr lang="en-IN" b="1" u="sng" dirty="0"/>
              <a:t> </a:t>
            </a:r>
            <a:r>
              <a:rPr lang="en-IN" b="1" u="sng" dirty="0" err="1"/>
              <a:t>rd</a:t>
            </a:r>
            <a:r>
              <a:rPr lang="en-IN" b="1" u="sng" dirty="0"/>
              <a:t>, </a:t>
            </a:r>
            <a:r>
              <a:rPr lang="en-IN" b="1" u="sng" dirty="0" err="1"/>
              <a:t>imm</a:t>
            </a:r>
            <a:r>
              <a:rPr lang="en-IN" b="1" u="sng" dirty="0"/>
              <a:t>(rs1)</a:t>
            </a:r>
            <a:r>
              <a:rPr lang="en-IN" dirty="0"/>
              <a:t> :	Load 16-bit halfword (sign-extended)</a:t>
            </a:r>
          </a:p>
          <a:p>
            <a:pPr marL="0" indent="0">
              <a:lnSpc>
                <a:spcPct val="100000"/>
              </a:lnSpc>
              <a:buNone/>
            </a:pPr>
            <a:r>
              <a:rPr lang="en-IN" b="1" dirty="0"/>
              <a:t>x)</a:t>
            </a:r>
            <a:r>
              <a:rPr lang="en-IN" dirty="0"/>
              <a:t> </a:t>
            </a:r>
            <a:r>
              <a:rPr lang="en-IN" b="1" u="sng" dirty="0" err="1"/>
              <a:t>lhu</a:t>
            </a:r>
            <a:r>
              <a:rPr lang="en-IN" b="1" u="sng" dirty="0"/>
              <a:t> </a:t>
            </a:r>
            <a:r>
              <a:rPr lang="en-IN" b="1" u="sng" dirty="0" err="1"/>
              <a:t>rd</a:t>
            </a:r>
            <a:r>
              <a:rPr lang="en-IN" b="1" u="sng" dirty="0"/>
              <a:t>, </a:t>
            </a:r>
            <a:r>
              <a:rPr lang="en-IN" b="1" u="sng" dirty="0" err="1"/>
              <a:t>imm</a:t>
            </a:r>
            <a:r>
              <a:rPr lang="en-IN" b="1" u="sng" dirty="0"/>
              <a:t>(rs1)</a:t>
            </a:r>
            <a:r>
              <a:rPr lang="en-IN" dirty="0"/>
              <a:t> : 	Load 16-bit halfword (unsigned)</a:t>
            </a:r>
          </a:p>
          <a:p>
            <a:pPr marL="0" indent="0">
              <a:lnSpc>
                <a:spcPct val="100000"/>
              </a:lnSpc>
              <a:buNone/>
            </a:pPr>
            <a:r>
              <a:rPr lang="en-IN" b="1" dirty="0"/>
              <a:t>xi)</a:t>
            </a:r>
            <a:r>
              <a:rPr lang="en-IN" dirty="0"/>
              <a:t> </a:t>
            </a:r>
            <a:r>
              <a:rPr lang="en-IN" b="1" u="sng" dirty="0"/>
              <a:t>lb </a:t>
            </a:r>
            <a:r>
              <a:rPr lang="en-IN" b="1" u="sng" dirty="0" err="1"/>
              <a:t>rd</a:t>
            </a:r>
            <a:r>
              <a:rPr lang="en-IN" b="1" u="sng" dirty="0"/>
              <a:t>, </a:t>
            </a:r>
            <a:r>
              <a:rPr lang="en-IN" b="1" u="sng" dirty="0" err="1"/>
              <a:t>imm</a:t>
            </a:r>
            <a:r>
              <a:rPr lang="en-IN" b="1" u="sng" dirty="0"/>
              <a:t>(rs1)</a:t>
            </a:r>
            <a:r>
              <a:rPr lang="en-IN" dirty="0"/>
              <a:t> : 	Load 8-bit byte (sign-extended)</a:t>
            </a:r>
          </a:p>
          <a:p>
            <a:pPr marL="0" indent="0">
              <a:lnSpc>
                <a:spcPct val="100000"/>
              </a:lnSpc>
              <a:buNone/>
            </a:pPr>
            <a:r>
              <a:rPr lang="en-IN" b="1" dirty="0"/>
              <a:t>xii)</a:t>
            </a:r>
            <a:r>
              <a:rPr lang="en-IN" dirty="0"/>
              <a:t> </a:t>
            </a:r>
            <a:r>
              <a:rPr lang="en-IN" b="1" u="sng" dirty="0" err="1"/>
              <a:t>lbu</a:t>
            </a:r>
            <a:r>
              <a:rPr lang="en-IN" b="1" u="sng" dirty="0"/>
              <a:t> </a:t>
            </a:r>
            <a:r>
              <a:rPr lang="en-IN" b="1" u="sng" dirty="0" err="1"/>
              <a:t>rd</a:t>
            </a:r>
            <a:r>
              <a:rPr lang="en-IN" b="1" u="sng" dirty="0"/>
              <a:t>, </a:t>
            </a:r>
            <a:r>
              <a:rPr lang="en-IN" b="1" u="sng" dirty="0" err="1"/>
              <a:t>imm</a:t>
            </a:r>
            <a:r>
              <a:rPr lang="en-IN" b="1" u="sng" dirty="0"/>
              <a:t>(rs1)</a:t>
            </a:r>
            <a:r>
              <a:rPr lang="en-IN" dirty="0"/>
              <a:t> : Load 8-bit byte (unsigned)</a:t>
            </a:r>
          </a:p>
          <a:p>
            <a:pPr marL="0" indent="0">
              <a:lnSpc>
                <a:spcPct val="100000"/>
              </a:lnSpc>
              <a:buNone/>
            </a:pPr>
            <a:r>
              <a:rPr lang="en-IN" b="1" dirty="0"/>
              <a:t>xiii) </a:t>
            </a:r>
            <a:r>
              <a:rPr lang="en-IN" b="1" u="sng" dirty="0"/>
              <a:t>jalr</a:t>
            </a:r>
            <a:r>
              <a:rPr lang="en-IN" b="1" dirty="0"/>
              <a:t> </a:t>
            </a:r>
            <a:r>
              <a:rPr lang="en-IN" dirty="0"/>
              <a:t>: </a:t>
            </a:r>
            <a:r>
              <a:rPr lang="en-US" dirty="0"/>
              <a:t>Used for function returns or indirect jumps. Sets </a:t>
            </a:r>
            <a:r>
              <a:rPr lang="en-US" b="1" dirty="0" err="1"/>
              <a:t>rd</a:t>
            </a:r>
            <a:r>
              <a:rPr lang="en-US" dirty="0"/>
              <a:t> = </a:t>
            </a:r>
            <a:r>
              <a:rPr lang="en-US" b="1" dirty="0"/>
              <a:t>PC</a:t>
            </a:r>
            <a:r>
              <a:rPr lang="en-US" dirty="0"/>
              <a:t> + 4 and </a:t>
            </a:r>
            <a:r>
              <a:rPr lang="en-US" b="1" dirty="0"/>
              <a:t>PC</a:t>
            </a:r>
            <a:r>
              <a:rPr lang="en-US" dirty="0"/>
              <a:t> = (</a:t>
            </a:r>
            <a:r>
              <a:rPr lang="en-US" b="1" dirty="0"/>
              <a:t>rs1</a:t>
            </a:r>
            <a:r>
              <a:rPr lang="en-US" dirty="0"/>
              <a:t> + </a:t>
            </a:r>
            <a:r>
              <a:rPr lang="en-US" b="1" dirty="0" err="1"/>
              <a:t>imm</a:t>
            </a:r>
            <a:r>
              <a:rPr lang="en-US" dirty="0"/>
              <a:t>) &amp; </a:t>
            </a:r>
            <a:r>
              <a:rPr lang="en-US" b="1" dirty="0"/>
              <a:t>~1</a:t>
            </a:r>
            <a:r>
              <a:rPr lang="en-US" dirty="0"/>
              <a:t> → clears LSB to ensure </a:t>
            </a:r>
            <a:r>
              <a:rPr lang="en-US" b="1" dirty="0"/>
              <a:t>word</a:t>
            </a:r>
            <a:r>
              <a:rPr lang="en-US" dirty="0"/>
              <a:t> </a:t>
            </a:r>
            <a:r>
              <a:rPr lang="en-US" b="1" dirty="0"/>
              <a:t>alignment</a:t>
            </a:r>
            <a:endParaRPr lang="en-IN" b="1" dirty="0"/>
          </a:p>
        </p:txBody>
      </p:sp>
    </p:spTree>
    <p:extLst>
      <p:ext uri="{BB962C8B-B14F-4D97-AF65-F5344CB8AC3E}">
        <p14:creationId xmlns:p14="http://schemas.microsoft.com/office/powerpoint/2010/main" val="3245733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C57B-7A9C-899B-E1F3-BF86D74EFB7F}"/>
              </a:ext>
            </a:extLst>
          </p:cNvPr>
          <p:cNvSpPr>
            <a:spLocks noGrp="1"/>
          </p:cNvSpPr>
          <p:nvPr>
            <p:ph type="title"/>
          </p:nvPr>
        </p:nvSpPr>
        <p:spPr>
          <a:xfrm>
            <a:off x="700635" y="25400"/>
            <a:ext cx="10691265" cy="647700"/>
          </a:xfrm>
        </p:spPr>
        <p:txBody>
          <a:bodyPr>
            <a:normAutofit fontScale="90000"/>
          </a:bodyPr>
          <a:lstStyle/>
          <a:p>
            <a:pPr algn="ctr"/>
            <a:r>
              <a:rPr lang="en-US" dirty="0"/>
              <a:t>The summary of I-type instructions</a:t>
            </a:r>
            <a:endParaRPr lang="en-IN" dirty="0"/>
          </a:p>
        </p:txBody>
      </p:sp>
      <p:sp>
        <p:nvSpPr>
          <p:cNvPr id="3" name="Content Placeholder 2">
            <a:extLst>
              <a:ext uri="{FF2B5EF4-FFF2-40B4-BE49-F238E27FC236}">
                <a16:creationId xmlns:a16="http://schemas.microsoft.com/office/drawing/2014/main" id="{CEC1C6BE-27CD-A5EA-76D1-35A875F7A91A}"/>
              </a:ext>
            </a:extLst>
          </p:cNvPr>
          <p:cNvSpPr>
            <a:spLocks noGrp="1"/>
          </p:cNvSpPr>
          <p:nvPr>
            <p:ph idx="1"/>
          </p:nvPr>
        </p:nvSpPr>
        <p:spPr>
          <a:xfrm>
            <a:off x="700635" y="761999"/>
            <a:ext cx="10741271" cy="5405601"/>
          </a:xfrm>
        </p:spPr>
        <p:txBody>
          <a:bodyPr/>
          <a:lstStyle/>
          <a:p>
            <a:endParaRPr lang="en-IN" dirty="0"/>
          </a:p>
        </p:txBody>
      </p:sp>
      <p:graphicFrame>
        <p:nvGraphicFramePr>
          <p:cNvPr id="4" name="Content Placeholder 4">
            <a:extLst>
              <a:ext uri="{FF2B5EF4-FFF2-40B4-BE49-F238E27FC236}">
                <a16:creationId xmlns:a16="http://schemas.microsoft.com/office/drawing/2014/main" id="{90AD8112-D885-4BB1-CD34-313A6B50819A}"/>
              </a:ext>
            </a:extLst>
          </p:cNvPr>
          <p:cNvGraphicFramePr>
            <a:graphicFrameLocks/>
          </p:cNvGraphicFramePr>
          <p:nvPr>
            <p:extLst>
              <p:ext uri="{D42A27DB-BD31-4B8C-83A1-F6EECF244321}">
                <p14:modId xmlns:p14="http://schemas.microsoft.com/office/powerpoint/2010/main" val="3322723606"/>
              </p:ext>
            </p:extLst>
          </p:nvPr>
        </p:nvGraphicFramePr>
        <p:xfrm>
          <a:off x="750094" y="761999"/>
          <a:ext cx="10641807" cy="5405597"/>
        </p:xfrm>
        <a:graphic>
          <a:graphicData uri="http://schemas.openxmlformats.org/drawingml/2006/table">
            <a:tbl>
              <a:tblPr firstRow="1" bandRow="1">
                <a:tableStyleId>{5C22544A-7EE6-4342-B048-85BDC9FD1C3A}</a:tableStyleId>
              </a:tblPr>
              <a:tblGrid>
                <a:gridCol w="1648918">
                  <a:extLst>
                    <a:ext uri="{9D8B030D-6E8A-4147-A177-3AD203B41FA5}">
                      <a16:colId xmlns:a16="http://schemas.microsoft.com/office/drawing/2014/main" val="201579177"/>
                    </a:ext>
                  </a:extLst>
                </a:gridCol>
                <a:gridCol w="1724080">
                  <a:extLst>
                    <a:ext uri="{9D8B030D-6E8A-4147-A177-3AD203B41FA5}">
                      <a16:colId xmlns:a16="http://schemas.microsoft.com/office/drawing/2014/main" val="811695776"/>
                    </a:ext>
                  </a:extLst>
                </a:gridCol>
                <a:gridCol w="1724080">
                  <a:extLst>
                    <a:ext uri="{9D8B030D-6E8A-4147-A177-3AD203B41FA5}">
                      <a16:colId xmlns:a16="http://schemas.microsoft.com/office/drawing/2014/main" val="2366841497"/>
                    </a:ext>
                  </a:extLst>
                </a:gridCol>
                <a:gridCol w="2032712">
                  <a:extLst>
                    <a:ext uri="{9D8B030D-6E8A-4147-A177-3AD203B41FA5}">
                      <a16:colId xmlns:a16="http://schemas.microsoft.com/office/drawing/2014/main" val="2580359771"/>
                    </a:ext>
                  </a:extLst>
                </a:gridCol>
                <a:gridCol w="3512017">
                  <a:extLst>
                    <a:ext uri="{9D8B030D-6E8A-4147-A177-3AD203B41FA5}">
                      <a16:colId xmlns:a16="http://schemas.microsoft.com/office/drawing/2014/main" val="1818590135"/>
                    </a:ext>
                  </a:extLst>
                </a:gridCol>
              </a:tblGrid>
              <a:tr h="375463">
                <a:tc>
                  <a:txBody>
                    <a:bodyPr/>
                    <a:lstStyle/>
                    <a:p>
                      <a:pPr algn="ctr"/>
                      <a:r>
                        <a:rPr lang="en-US" b="1" dirty="0"/>
                        <a:t>Instruction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opcode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funct7</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funct3</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Operation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2572688"/>
                  </a:ext>
                </a:extLst>
              </a:tr>
              <a:tr h="375463">
                <a:tc>
                  <a:txBody>
                    <a:bodyPr/>
                    <a:lstStyle/>
                    <a:p>
                      <a:pPr algn="ctr"/>
                      <a:r>
                        <a:rPr lang="en-US" b="1" dirty="0" err="1"/>
                        <a:t>addi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Add Immediate (signed)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678012"/>
                  </a:ext>
                </a:extLst>
              </a:tr>
              <a:tr h="375463">
                <a:tc>
                  <a:txBody>
                    <a:bodyPr/>
                    <a:lstStyle/>
                    <a:p>
                      <a:pPr algn="ctr"/>
                      <a:r>
                        <a:rPr lang="en-US" b="1" dirty="0" err="1"/>
                        <a:t>slli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Shift Left Logical (Immediate)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254912"/>
                  </a:ext>
                </a:extLst>
              </a:tr>
              <a:tr h="375463">
                <a:tc>
                  <a:txBody>
                    <a:bodyPr/>
                    <a:lstStyle/>
                    <a:p>
                      <a:pPr algn="ctr"/>
                      <a:r>
                        <a:rPr lang="en-US" b="1" dirty="0" err="1"/>
                        <a:t>slti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Set Less Than (signed)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795477"/>
                  </a:ext>
                </a:extLst>
              </a:tr>
              <a:tr h="640675">
                <a:tc>
                  <a:txBody>
                    <a:bodyPr/>
                    <a:lstStyle/>
                    <a:p>
                      <a:pPr algn="ctr"/>
                      <a:r>
                        <a:rPr lang="en-US" b="1" dirty="0" err="1"/>
                        <a:t>sltiu</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Set Less Than (unsigned)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310770"/>
                  </a:ext>
                </a:extLst>
              </a:tr>
              <a:tr h="375463">
                <a:tc>
                  <a:txBody>
                    <a:bodyPr/>
                    <a:lstStyle/>
                    <a:p>
                      <a:pPr algn="ctr"/>
                      <a:r>
                        <a:rPr lang="en-US" b="1" dirty="0" err="1"/>
                        <a:t>xori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Bitwise XOR with Immediate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704542"/>
                  </a:ext>
                </a:extLst>
              </a:tr>
              <a:tr h="375463">
                <a:tc>
                  <a:txBody>
                    <a:bodyPr/>
                    <a:lstStyle/>
                    <a:p>
                      <a:pPr algn="ctr"/>
                      <a:r>
                        <a:rPr lang="en-US" b="1" dirty="0" err="1"/>
                        <a:t>srli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Shift Right Logical (Immediate)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817008"/>
                  </a:ext>
                </a:extLst>
              </a:tr>
              <a:tr h="657061">
                <a:tc>
                  <a:txBody>
                    <a:bodyPr/>
                    <a:lstStyle/>
                    <a:p>
                      <a:pPr algn="ctr"/>
                      <a:r>
                        <a:rPr lang="en-US" b="1" dirty="0" err="1"/>
                        <a:t>srai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Shift Right Arithmetic (Immediate)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302297"/>
                  </a:ext>
                </a:extLst>
              </a:tr>
              <a:tr h="375463">
                <a:tc>
                  <a:txBody>
                    <a:bodyPr/>
                    <a:lstStyle/>
                    <a:p>
                      <a:pPr algn="ctr"/>
                      <a:r>
                        <a:rPr lang="en-US" b="1" dirty="0" err="1"/>
                        <a:t>ori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Bitwise OR with Immediate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07115"/>
                  </a:ext>
                </a:extLst>
              </a:tr>
              <a:tr h="375463">
                <a:tc>
                  <a:txBody>
                    <a:bodyPr/>
                    <a:lstStyle/>
                    <a:p>
                      <a:pPr algn="ctr"/>
                      <a:r>
                        <a:rPr lang="en-US" b="1" dirty="0" err="1"/>
                        <a:t>andi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Bitwise AND with Immediate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0976812"/>
                  </a:ext>
                </a:extLst>
              </a:tr>
              <a:tr h="375463">
                <a:tc>
                  <a:txBody>
                    <a:bodyPr/>
                    <a:lstStyle/>
                    <a:p>
                      <a:pPr algn="ctr"/>
                      <a:r>
                        <a:rPr lang="en-US" b="1" dirty="0" err="1"/>
                        <a:t>jalr</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1100111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Jump and Link Register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292272"/>
                  </a:ext>
                </a:extLst>
              </a:tr>
              <a:tr h="728694">
                <a:tc>
                  <a:txBody>
                    <a:bodyPr/>
                    <a:lstStyle/>
                    <a:p>
                      <a:pPr algn="ctr"/>
                      <a:r>
                        <a:rPr lang="en-US" b="1" dirty="0" err="1"/>
                        <a:t>lw</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Load Word from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9014528"/>
                  </a:ext>
                </a:extLst>
              </a:tr>
            </a:tbl>
          </a:graphicData>
        </a:graphic>
      </p:graphicFrame>
    </p:spTree>
    <p:extLst>
      <p:ext uri="{BB962C8B-B14F-4D97-AF65-F5344CB8AC3E}">
        <p14:creationId xmlns:p14="http://schemas.microsoft.com/office/powerpoint/2010/main" val="2756079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0FC29-17D7-C0BB-E710-DBD223C682E9}"/>
              </a:ext>
            </a:extLst>
          </p:cNvPr>
          <p:cNvSpPr>
            <a:spLocks noGrp="1"/>
          </p:cNvSpPr>
          <p:nvPr>
            <p:ph type="title"/>
          </p:nvPr>
        </p:nvSpPr>
        <p:spPr>
          <a:xfrm>
            <a:off x="750367" y="70612"/>
            <a:ext cx="10691265" cy="653288"/>
          </a:xfrm>
        </p:spPr>
        <p:txBody>
          <a:bodyPr>
            <a:normAutofit fontScale="90000"/>
          </a:bodyPr>
          <a:lstStyle/>
          <a:p>
            <a:pPr algn="ctr"/>
            <a:r>
              <a:rPr lang="en-US" dirty="0"/>
              <a:t>S-type instructions</a:t>
            </a:r>
            <a:endParaRPr lang="en-IN" dirty="0"/>
          </a:p>
        </p:txBody>
      </p:sp>
      <p:sp>
        <p:nvSpPr>
          <p:cNvPr id="3" name="Content Placeholder 2">
            <a:extLst>
              <a:ext uri="{FF2B5EF4-FFF2-40B4-BE49-F238E27FC236}">
                <a16:creationId xmlns:a16="http://schemas.microsoft.com/office/drawing/2014/main" id="{CC57665D-AD02-503E-4BF7-2B3E63320EFB}"/>
              </a:ext>
            </a:extLst>
          </p:cNvPr>
          <p:cNvSpPr>
            <a:spLocks noGrp="1"/>
          </p:cNvSpPr>
          <p:nvPr>
            <p:ph idx="1"/>
          </p:nvPr>
        </p:nvSpPr>
        <p:spPr>
          <a:xfrm>
            <a:off x="330201" y="723900"/>
            <a:ext cx="11633200" cy="5410200"/>
          </a:xfrm>
        </p:spPr>
        <p:txBody>
          <a:bodyPr>
            <a:normAutofit lnSpcReduction="10000"/>
          </a:bodyPr>
          <a:lstStyle/>
          <a:p>
            <a:pPr marL="0" indent="0">
              <a:buNone/>
            </a:pPr>
            <a:r>
              <a:rPr lang="en-US" dirty="0"/>
              <a:t>S-type or Store type instructions are used to Store data from a register (rs2) into the Data Memory. These instructions do not have a destination register </a:t>
            </a:r>
            <a:r>
              <a:rPr lang="en-US" dirty="0" err="1"/>
              <a:t>rd</a:t>
            </a:r>
            <a:r>
              <a:rPr lang="en-US" dirty="0"/>
              <a:t>, since the value is to be stored in the Data Memory no in the Register File. The rs1 acts as the Base Address and the Sign Extended Immediate acts as the Offset. The immediate value is split between two parts:</a:t>
            </a:r>
          </a:p>
          <a:p>
            <a:pPr marL="0" indent="0">
              <a:buNone/>
            </a:pPr>
            <a:r>
              <a:rPr lang="en-US" dirty="0"/>
              <a:t>&gt; </a:t>
            </a:r>
            <a:r>
              <a:rPr lang="en-US" dirty="0" err="1"/>
              <a:t>imm</a:t>
            </a:r>
            <a:r>
              <a:rPr lang="en-US" dirty="0"/>
              <a:t>[11:5] → bits [31–25]</a:t>
            </a:r>
          </a:p>
          <a:p>
            <a:pPr marL="0" indent="0">
              <a:buNone/>
            </a:pPr>
            <a:r>
              <a:rPr lang="en-US" dirty="0"/>
              <a:t>&gt; </a:t>
            </a:r>
            <a:r>
              <a:rPr lang="en-US" dirty="0" err="1"/>
              <a:t>imm</a:t>
            </a:r>
            <a:r>
              <a:rPr lang="en-US" dirty="0"/>
              <a:t>[4:0] → bits [11–7]</a:t>
            </a:r>
          </a:p>
          <a:p>
            <a:pPr marL="0" indent="0">
              <a:buNone/>
            </a:pPr>
            <a:r>
              <a:rPr lang="en-US" dirty="0"/>
              <a:t>These two parts are concatenated and sign-extended to form a full 12-bit offset.</a:t>
            </a:r>
          </a:p>
          <a:p>
            <a:pPr marL="0" indent="0">
              <a:buNone/>
            </a:pPr>
            <a:r>
              <a:rPr lang="en-US" dirty="0"/>
              <a:t>So, the data is effectively stored at memory[rs1+imm]. These stored data can be accessed using the Load instructions which are I type instructions. The opcode = 0100011 is fixed for all S-type instructions.</a:t>
            </a:r>
          </a:p>
          <a:p>
            <a:pPr marL="0" indent="0">
              <a:buNone/>
            </a:pPr>
            <a:r>
              <a:rPr lang="en-US" b="1" i="1" dirty="0"/>
              <a:t>Supported S-Type Instructions :</a:t>
            </a:r>
          </a:p>
          <a:p>
            <a:pPr marL="0" indent="0">
              <a:buNone/>
            </a:pPr>
            <a:r>
              <a:rPr lang="en-US" b="1" dirty="0" err="1"/>
              <a:t>i</a:t>
            </a:r>
            <a:r>
              <a:rPr lang="en-US" b="1" dirty="0"/>
              <a:t>)</a:t>
            </a:r>
            <a:r>
              <a:rPr lang="en-US" dirty="0"/>
              <a:t> </a:t>
            </a:r>
            <a:r>
              <a:rPr lang="en-US" b="1" u="sng" dirty="0"/>
              <a:t>sb rs2, </a:t>
            </a:r>
            <a:r>
              <a:rPr lang="en-US" b="1" u="sng" dirty="0" err="1"/>
              <a:t>imm</a:t>
            </a:r>
            <a:r>
              <a:rPr lang="en-US" b="1" u="sng" dirty="0"/>
              <a:t>(rs1</a:t>
            </a:r>
            <a:r>
              <a:rPr lang="en-US" dirty="0"/>
              <a:t>) : Store 8-bit byte from rs2 to memory[rs1+imm]</a:t>
            </a:r>
          </a:p>
          <a:p>
            <a:pPr marL="0" indent="0">
              <a:buNone/>
            </a:pPr>
            <a:r>
              <a:rPr lang="en-US" b="1" dirty="0"/>
              <a:t>ii)</a:t>
            </a:r>
            <a:r>
              <a:rPr lang="en-US" dirty="0"/>
              <a:t> </a:t>
            </a:r>
            <a:r>
              <a:rPr lang="en-US" b="1" u="sng" dirty="0" err="1"/>
              <a:t>sh</a:t>
            </a:r>
            <a:r>
              <a:rPr lang="en-US" b="1" u="sng" dirty="0"/>
              <a:t> rs2, </a:t>
            </a:r>
            <a:r>
              <a:rPr lang="en-US" b="1" u="sng" dirty="0" err="1"/>
              <a:t>imm</a:t>
            </a:r>
            <a:r>
              <a:rPr lang="en-US" b="1" u="sng" dirty="0"/>
              <a:t>(rs1</a:t>
            </a:r>
            <a:r>
              <a:rPr lang="en-US" dirty="0"/>
              <a:t>) : Store 16-bit halfword from rs2 to memory[rs1+imm]</a:t>
            </a:r>
          </a:p>
          <a:p>
            <a:pPr marL="0" indent="0">
              <a:buNone/>
            </a:pPr>
            <a:r>
              <a:rPr lang="en-US" b="1" dirty="0"/>
              <a:t>ii)</a:t>
            </a:r>
            <a:r>
              <a:rPr lang="en-US" dirty="0"/>
              <a:t> </a:t>
            </a:r>
            <a:r>
              <a:rPr lang="en-US" b="1" u="sng" dirty="0" err="1"/>
              <a:t>sw</a:t>
            </a:r>
            <a:r>
              <a:rPr lang="en-US" b="1" u="sng" dirty="0"/>
              <a:t> rs2, </a:t>
            </a:r>
            <a:r>
              <a:rPr lang="en-US" b="1" u="sng" dirty="0" err="1"/>
              <a:t>imm</a:t>
            </a:r>
            <a:r>
              <a:rPr lang="en-US" b="1" u="sng" dirty="0"/>
              <a:t>(rs1</a:t>
            </a:r>
            <a:r>
              <a:rPr lang="en-US" dirty="0"/>
              <a:t>) : Store 32-bit word from rs2 to memory[rs1+imm]</a:t>
            </a:r>
          </a:p>
          <a:p>
            <a:pPr marL="0" indent="0">
              <a:buNone/>
            </a:pPr>
            <a:endParaRPr lang="en-IN" dirty="0"/>
          </a:p>
        </p:txBody>
      </p:sp>
      <p:graphicFrame>
        <p:nvGraphicFramePr>
          <p:cNvPr id="4" name="Table 3">
            <a:extLst>
              <a:ext uri="{FF2B5EF4-FFF2-40B4-BE49-F238E27FC236}">
                <a16:creationId xmlns:a16="http://schemas.microsoft.com/office/drawing/2014/main" id="{39DFE551-11D0-173F-8233-CD715418C2E2}"/>
              </a:ext>
            </a:extLst>
          </p:cNvPr>
          <p:cNvGraphicFramePr>
            <a:graphicFrameLocks noGrp="1"/>
          </p:cNvGraphicFramePr>
          <p:nvPr>
            <p:extLst>
              <p:ext uri="{D42A27DB-BD31-4B8C-83A1-F6EECF244321}">
                <p14:modId xmlns:p14="http://schemas.microsoft.com/office/powerpoint/2010/main" val="666839912"/>
              </p:ext>
            </p:extLst>
          </p:nvPr>
        </p:nvGraphicFramePr>
        <p:xfrm>
          <a:off x="8496300" y="4038600"/>
          <a:ext cx="3467100" cy="2118404"/>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4125736053"/>
                    </a:ext>
                  </a:extLst>
                </a:gridCol>
                <a:gridCol w="850900">
                  <a:extLst>
                    <a:ext uri="{9D8B030D-6E8A-4147-A177-3AD203B41FA5}">
                      <a16:colId xmlns:a16="http://schemas.microsoft.com/office/drawing/2014/main" val="1443551619"/>
                    </a:ext>
                  </a:extLst>
                </a:gridCol>
                <a:gridCol w="1651000">
                  <a:extLst>
                    <a:ext uri="{9D8B030D-6E8A-4147-A177-3AD203B41FA5}">
                      <a16:colId xmlns:a16="http://schemas.microsoft.com/office/drawing/2014/main" val="4182129462"/>
                    </a:ext>
                  </a:extLst>
                </a:gridCol>
              </a:tblGrid>
              <a:tr h="419122">
                <a:tc>
                  <a:txBody>
                    <a:bodyPr/>
                    <a:lstStyle/>
                    <a:p>
                      <a:pPr algn="ctr"/>
                      <a:r>
                        <a:rPr lang="en-US" sz="1200" b="1" dirty="0"/>
                        <a:t>Instruction</a:t>
                      </a:r>
                      <a:endParaRPr lang="en-IN" sz="11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funct3</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8397209"/>
                  </a:ext>
                </a:extLst>
              </a:tr>
              <a:tr h="628628">
                <a:tc>
                  <a:txBody>
                    <a:bodyPr/>
                    <a:lstStyle/>
                    <a:p>
                      <a:pPr algn="ctr"/>
                      <a:r>
                        <a:rPr lang="en-US" b="1" dirty="0" err="1"/>
                        <a:t>sw</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010</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Store Word (32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5056225"/>
                  </a:ext>
                </a:extLst>
              </a:tr>
              <a:tr h="419122">
                <a:tc>
                  <a:txBody>
                    <a:bodyPr/>
                    <a:lstStyle/>
                    <a:p>
                      <a:pPr algn="ctr"/>
                      <a:r>
                        <a:rPr lang="en-US" b="1" dirty="0"/>
                        <a:t>sb</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000</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Store Byte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6067515"/>
                  </a:ext>
                </a:extLst>
              </a:tr>
              <a:tr h="628628">
                <a:tc>
                  <a:txBody>
                    <a:bodyPr/>
                    <a:lstStyle/>
                    <a:p>
                      <a:pPr algn="ctr"/>
                      <a:r>
                        <a:rPr lang="en-US" b="1" dirty="0" err="1"/>
                        <a:t>sh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001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Store Halfword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984626"/>
                  </a:ext>
                </a:extLst>
              </a:tr>
            </a:tbl>
          </a:graphicData>
        </a:graphic>
      </p:graphicFrame>
    </p:spTree>
    <p:extLst>
      <p:ext uri="{BB962C8B-B14F-4D97-AF65-F5344CB8AC3E}">
        <p14:creationId xmlns:p14="http://schemas.microsoft.com/office/powerpoint/2010/main" val="3016607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01FDA-5BC7-6170-2306-95E8E242A1C2}"/>
              </a:ext>
            </a:extLst>
          </p:cNvPr>
          <p:cNvSpPr>
            <a:spLocks noGrp="1"/>
          </p:cNvSpPr>
          <p:nvPr>
            <p:ph type="title"/>
          </p:nvPr>
        </p:nvSpPr>
        <p:spPr>
          <a:xfrm>
            <a:off x="700635" y="63500"/>
            <a:ext cx="10691265" cy="635000"/>
          </a:xfrm>
        </p:spPr>
        <p:txBody>
          <a:bodyPr>
            <a:normAutofit fontScale="90000"/>
          </a:bodyPr>
          <a:lstStyle/>
          <a:p>
            <a:pPr algn="ctr"/>
            <a:r>
              <a:rPr lang="en-US" dirty="0"/>
              <a:t>b-type instructions</a:t>
            </a:r>
            <a:endParaRPr lang="en-IN" dirty="0"/>
          </a:p>
        </p:txBody>
      </p:sp>
      <p:sp>
        <p:nvSpPr>
          <p:cNvPr id="3" name="Content Placeholder 2">
            <a:extLst>
              <a:ext uri="{FF2B5EF4-FFF2-40B4-BE49-F238E27FC236}">
                <a16:creationId xmlns:a16="http://schemas.microsoft.com/office/drawing/2014/main" id="{1C73741F-9115-DAD3-289C-0EAB300664E2}"/>
              </a:ext>
            </a:extLst>
          </p:cNvPr>
          <p:cNvSpPr>
            <a:spLocks noGrp="1"/>
          </p:cNvSpPr>
          <p:nvPr>
            <p:ph idx="1"/>
          </p:nvPr>
        </p:nvSpPr>
        <p:spPr>
          <a:xfrm>
            <a:off x="700635" y="698500"/>
            <a:ext cx="10691265" cy="5461000"/>
          </a:xfrm>
        </p:spPr>
        <p:txBody>
          <a:bodyPr>
            <a:normAutofit fontScale="92500" lnSpcReduction="20000"/>
          </a:bodyPr>
          <a:lstStyle/>
          <a:p>
            <a:pPr marL="0" indent="0">
              <a:buNone/>
            </a:pPr>
            <a:r>
              <a:rPr lang="en-US" dirty="0"/>
              <a:t>B-type (Branch-type) instructions are used for conditional program control. These instructions compare two register values (rs1 and rs2) and change the PC to a new address (PC-relative) if the condition is true. The immediate (</a:t>
            </a:r>
            <a:r>
              <a:rPr lang="en-US" dirty="0" err="1"/>
              <a:t>imm</a:t>
            </a:r>
            <a:r>
              <a:rPr lang="en-US" dirty="0"/>
              <a:t>) used for the branch offset is scattered across multiple fields and must be reconstructed and sign-extended to form a 13-bit PC-relative offset :</a:t>
            </a:r>
          </a:p>
          <a:p>
            <a:pPr>
              <a:buFont typeface="Wingdings" panose="05000000000000000000" pitchFamily="2" charset="2"/>
              <a:buChar char="Ø"/>
            </a:pPr>
            <a:r>
              <a:rPr lang="de-DE" dirty="0"/>
              <a:t>imm = {imm[12], imm[10:5], imm[4:1], imm[11], 0}</a:t>
            </a:r>
          </a:p>
          <a:p>
            <a:pPr>
              <a:buFont typeface="Wingdings" panose="05000000000000000000" pitchFamily="2" charset="2"/>
              <a:buChar char="Ø"/>
            </a:pPr>
            <a:r>
              <a:rPr lang="en-US" dirty="0"/>
              <a:t>The 0 at the end means the offset is always even (instructions are word-aligned).</a:t>
            </a:r>
          </a:p>
          <a:p>
            <a:pPr>
              <a:buFont typeface="Wingdings" panose="05000000000000000000" pitchFamily="2" charset="2"/>
              <a:buChar char="Ø"/>
            </a:pPr>
            <a:r>
              <a:rPr lang="en-US" dirty="0"/>
              <a:t>The PC is Loaded with Branch Target = PC + </a:t>
            </a:r>
            <a:r>
              <a:rPr lang="en-US" dirty="0" err="1"/>
              <a:t>imm</a:t>
            </a:r>
            <a:r>
              <a:rPr lang="en-US" dirty="0"/>
              <a:t> which represents a Label.</a:t>
            </a:r>
          </a:p>
          <a:p>
            <a:pPr>
              <a:buFont typeface="Wingdings" panose="05000000000000000000" pitchFamily="2" charset="2"/>
              <a:buChar char="Ø"/>
            </a:pPr>
            <a:r>
              <a:rPr lang="en-US" dirty="0"/>
              <a:t>Opcode = 1100011 is same for all B-type instructions</a:t>
            </a:r>
          </a:p>
          <a:p>
            <a:pPr marL="0" indent="0">
              <a:buNone/>
            </a:pPr>
            <a:r>
              <a:rPr lang="en-US" b="1" i="1" dirty="0"/>
              <a:t>Supported Branch Type Instructions :</a:t>
            </a:r>
          </a:p>
          <a:p>
            <a:pPr>
              <a:buFont typeface="Wingdings" panose="05000000000000000000" pitchFamily="2" charset="2"/>
              <a:buChar char="Ø"/>
            </a:pPr>
            <a:r>
              <a:rPr lang="en-US" b="1" dirty="0" err="1"/>
              <a:t>beq</a:t>
            </a:r>
            <a:r>
              <a:rPr lang="en-US" b="1" dirty="0"/>
              <a:t> rs1, rs2, </a:t>
            </a:r>
            <a:r>
              <a:rPr lang="en-US" b="1" dirty="0" err="1"/>
              <a:t>imm</a:t>
            </a:r>
            <a:r>
              <a:rPr lang="en-US" dirty="0"/>
              <a:t> : If rs1 == rs2, then go to Label i.e. Branch Target = PC + </a:t>
            </a:r>
            <a:r>
              <a:rPr lang="en-US" dirty="0" err="1"/>
              <a:t>imm</a:t>
            </a:r>
            <a:endParaRPr lang="en-US" dirty="0"/>
          </a:p>
          <a:p>
            <a:pPr>
              <a:buFont typeface="Wingdings" panose="05000000000000000000" pitchFamily="2" charset="2"/>
              <a:buChar char="Ø"/>
            </a:pPr>
            <a:r>
              <a:rPr lang="en-US" b="1" dirty="0" err="1"/>
              <a:t>bne</a:t>
            </a:r>
            <a:r>
              <a:rPr lang="en-US" b="1" dirty="0"/>
              <a:t> rs1, rs2, </a:t>
            </a:r>
            <a:r>
              <a:rPr lang="en-US" b="1" dirty="0" err="1"/>
              <a:t>imm</a:t>
            </a:r>
            <a:r>
              <a:rPr lang="en-US" b="1" dirty="0"/>
              <a:t> </a:t>
            </a:r>
            <a:r>
              <a:rPr lang="en-US" dirty="0"/>
              <a:t>: If rs1 != rs2, then go to Label i.e. Branch Target = PC + </a:t>
            </a:r>
            <a:r>
              <a:rPr lang="en-US" dirty="0" err="1"/>
              <a:t>imm</a:t>
            </a:r>
            <a:endParaRPr lang="en-US" dirty="0"/>
          </a:p>
          <a:p>
            <a:pPr>
              <a:buFont typeface="Wingdings" panose="05000000000000000000" pitchFamily="2" charset="2"/>
              <a:buChar char="Ø"/>
            </a:pPr>
            <a:r>
              <a:rPr lang="en-US" b="1" dirty="0" err="1"/>
              <a:t>bge</a:t>
            </a:r>
            <a:r>
              <a:rPr lang="en-US" b="1" dirty="0"/>
              <a:t> rs1, rs2, </a:t>
            </a:r>
            <a:r>
              <a:rPr lang="en-US" b="1" dirty="0" err="1"/>
              <a:t>imm</a:t>
            </a:r>
            <a:r>
              <a:rPr lang="en-US" b="1" dirty="0"/>
              <a:t> </a:t>
            </a:r>
            <a:r>
              <a:rPr lang="en-US" dirty="0"/>
              <a:t>: If rs1 &gt; rs2 (signed), then go to Label i.e. Branch Target = PC + </a:t>
            </a:r>
            <a:r>
              <a:rPr lang="en-US" dirty="0" err="1"/>
              <a:t>imm</a:t>
            </a:r>
            <a:endParaRPr lang="en-US" dirty="0"/>
          </a:p>
          <a:p>
            <a:pPr>
              <a:buFont typeface="Wingdings" panose="05000000000000000000" pitchFamily="2" charset="2"/>
              <a:buChar char="Ø"/>
            </a:pPr>
            <a:r>
              <a:rPr lang="en-US" b="1" dirty="0" err="1"/>
              <a:t>beq</a:t>
            </a:r>
            <a:r>
              <a:rPr lang="en-US" b="1" dirty="0"/>
              <a:t> rs1, rs2, </a:t>
            </a:r>
            <a:r>
              <a:rPr lang="en-US" b="1" dirty="0" err="1"/>
              <a:t>imm</a:t>
            </a:r>
            <a:r>
              <a:rPr lang="en-US" b="1" dirty="0"/>
              <a:t> </a:t>
            </a:r>
            <a:r>
              <a:rPr lang="en-US" dirty="0"/>
              <a:t>: If rs1 &lt; rs2 (signed), then go to Label i.e. Branch Target = PC + </a:t>
            </a:r>
            <a:r>
              <a:rPr lang="en-US" dirty="0" err="1"/>
              <a:t>imm</a:t>
            </a:r>
            <a:endParaRPr lang="en-US" dirty="0"/>
          </a:p>
          <a:p>
            <a:pPr>
              <a:buFont typeface="Wingdings" panose="05000000000000000000" pitchFamily="2" charset="2"/>
              <a:buChar char="Ø"/>
            </a:pPr>
            <a:r>
              <a:rPr lang="en-US" b="1" dirty="0" err="1"/>
              <a:t>bltu</a:t>
            </a:r>
            <a:r>
              <a:rPr lang="en-US" b="1" dirty="0"/>
              <a:t> rs1, rs2, </a:t>
            </a:r>
            <a:r>
              <a:rPr lang="en-US" b="1" dirty="0" err="1"/>
              <a:t>imm</a:t>
            </a:r>
            <a:r>
              <a:rPr lang="en-US" b="1" dirty="0"/>
              <a:t> </a:t>
            </a:r>
            <a:r>
              <a:rPr lang="en-US" dirty="0"/>
              <a:t>: If rs1 &lt; rs2 (unsigned), then go to Label i.e. Branch Target = PC + </a:t>
            </a:r>
            <a:r>
              <a:rPr lang="en-US" dirty="0" err="1"/>
              <a:t>imm</a:t>
            </a:r>
            <a:endParaRPr lang="en-US" dirty="0"/>
          </a:p>
          <a:p>
            <a:pPr>
              <a:buFont typeface="Wingdings" panose="05000000000000000000" pitchFamily="2" charset="2"/>
              <a:buChar char="Ø"/>
            </a:pPr>
            <a:r>
              <a:rPr lang="en-US" b="1" dirty="0" err="1"/>
              <a:t>bgtu</a:t>
            </a:r>
            <a:r>
              <a:rPr lang="en-US" b="1" dirty="0"/>
              <a:t> rs1, rs2, </a:t>
            </a:r>
            <a:r>
              <a:rPr lang="en-US" b="1" dirty="0" err="1"/>
              <a:t>imm</a:t>
            </a:r>
            <a:r>
              <a:rPr lang="en-US" b="1" dirty="0"/>
              <a:t> </a:t>
            </a:r>
            <a:r>
              <a:rPr lang="en-US" dirty="0"/>
              <a:t>: If rs1 &gt; rs2 (unsigned), then go to Label i.e. Branch Target = PC + </a:t>
            </a:r>
            <a:r>
              <a:rPr lang="en-US" dirty="0" err="1"/>
              <a:t>imm</a:t>
            </a:r>
            <a:endParaRPr lang="en-US"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796291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3E1A-83B9-38B8-ABEF-5B3C43AE79BB}"/>
              </a:ext>
            </a:extLst>
          </p:cNvPr>
          <p:cNvSpPr>
            <a:spLocks noGrp="1"/>
          </p:cNvSpPr>
          <p:nvPr>
            <p:ph type="title"/>
          </p:nvPr>
        </p:nvSpPr>
        <p:spPr>
          <a:xfrm>
            <a:off x="750367" y="88900"/>
            <a:ext cx="10691265" cy="635000"/>
          </a:xfrm>
        </p:spPr>
        <p:txBody>
          <a:bodyPr>
            <a:normAutofit fontScale="90000"/>
          </a:bodyPr>
          <a:lstStyle/>
          <a:p>
            <a:pPr algn="ctr"/>
            <a:r>
              <a:rPr lang="en-US" dirty="0"/>
              <a:t>Summary of B-type Instructions</a:t>
            </a:r>
            <a:endParaRPr lang="en-IN" dirty="0"/>
          </a:p>
        </p:txBody>
      </p:sp>
      <p:graphicFrame>
        <p:nvGraphicFramePr>
          <p:cNvPr id="5" name="Content Placeholder 4">
            <a:extLst>
              <a:ext uri="{FF2B5EF4-FFF2-40B4-BE49-F238E27FC236}">
                <a16:creationId xmlns:a16="http://schemas.microsoft.com/office/drawing/2014/main" id="{45C65718-6372-CC88-ACD1-7AF7F94EC7B0}"/>
              </a:ext>
            </a:extLst>
          </p:cNvPr>
          <p:cNvGraphicFramePr>
            <a:graphicFrameLocks noGrp="1"/>
          </p:cNvGraphicFramePr>
          <p:nvPr>
            <p:ph idx="1"/>
            <p:extLst>
              <p:ext uri="{D42A27DB-BD31-4B8C-83A1-F6EECF244321}">
                <p14:modId xmlns:p14="http://schemas.microsoft.com/office/powerpoint/2010/main" val="51221927"/>
              </p:ext>
            </p:extLst>
          </p:nvPr>
        </p:nvGraphicFramePr>
        <p:xfrm>
          <a:off x="2499175" y="759967"/>
          <a:ext cx="7193647" cy="3443733"/>
        </p:xfrm>
        <a:graphic>
          <a:graphicData uri="http://schemas.openxmlformats.org/drawingml/2006/table">
            <a:tbl>
              <a:tblPr firstRow="1" bandRow="1">
                <a:tableStyleId>{5C22544A-7EE6-4342-B048-85BDC9FD1C3A}</a:tableStyleId>
              </a:tblPr>
              <a:tblGrid>
                <a:gridCol w="1648918">
                  <a:extLst>
                    <a:ext uri="{9D8B030D-6E8A-4147-A177-3AD203B41FA5}">
                      <a16:colId xmlns:a16="http://schemas.microsoft.com/office/drawing/2014/main" val="201579177"/>
                    </a:ext>
                  </a:extLst>
                </a:gridCol>
                <a:gridCol w="2032712">
                  <a:extLst>
                    <a:ext uri="{9D8B030D-6E8A-4147-A177-3AD203B41FA5}">
                      <a16:colId xmlns:a16="http://schemas.microsoft.com/office/drawing/2014/main" val="2580359771"/>
                    </a:ext>
                  </a:extLst>
                </a:gridCol>
                <a:gridCol w="3512017">
                  <a:extLst>
                    <a:ext uri="{9D8B030D-6E8A-4147-A177-3AD203B41FA5}">
                      <a16:colId xmlns:a16="http://schemas.microsoft.com/office/drawing/2014/main" val="1818590135"/>
                    </a:ext>
                  </a:extLst>
                </a:gridCol>
              </a:tblGrid>
              <a:tr h="379151">
                <a:tc>
                  <a:txBody>
                    <a:bodyPr/>
                    <a:lstStyle/>
                    <a:p>
                      <a:pPr algn="ctr"/>
                      <a:r>
                        <a:rPr lang="en-US" b="1" dirty="0"/>
                        <a:t>Instruction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funct3</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Operation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2572688"/>
                  </a:ext>
                </a:extLst>
              </a:tr>
              <a:tr h="379151">
                <a:tc>
                  <a:txBody>
                    <a:bodyPr/>
                    <a:lstStyle/>
                    <a:p>
                      <a:pPr algn="ctr"/>
                      <a:r>
                        <a:rPr lang="en-US" b="1" dirty="0" err="1"/>
                        <a:t>beq</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Branch if Equal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678012"/>
                  </a:ext>
                </a:extLst>
              </a:tr>
              <a:tr h="379151">
                <a:tc>
                  <a:txBody>
                    <a:bodyPr/>
                    <a:lstStyle/>
                    <a:p>
                      <a:pPr algn="ctr"/>
                      <a:r>
                        <a:rPr lang="en-US" b="1" dirty="0" err="1"/>
                        <a:t>bne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Branch if Not Equal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254912"/>
                  </a:ext>
                </a:extLst>
              </a:tr>
              <a:tr h="379151">
                <a:tc>
                  <a:txBody>
                    <a:bodyPr/>
                    <a:lstStyle/>
                    <a:p>
                      <a:pPr algn="ctr"/>
                      <a:r>
                        <a:rPr lang="en-US" b="1" dirty="0" err="1"/>
                        <a:t>bge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Branch if Greater or Equal (signed)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795477"/>
                  </a:ext>
                </a:extLst>
              </a:tr>
              <a:tr h="646969">
                <a:tc>
                  <a:txBody>
                    <a:bodyPr/>
                    <a:lstStyle/>
                    <a:p>
                      <a:pPr algn="ctr"/>
                      <a:r>
                        <a:rPr lang="en-US" b="1" dirty="0" err="1"/>
                        <a:t>blt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Branch if Less Than (signed)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310770"/>
                  </a:ext>
                </a:extLst>
              </a:tr>
              <a:tr h="379151">
                <a:tc>
                  <a:txBody>
                    <a:bodyPr/>
                    <a:lstStyle/>
                    <a:p>
                      <a:pPr algn="ctr"/>
                      <a:r>
                        <a:rPr lang="en-US" b="1" dirty="0" err="1"/>
                        <a:t>bgtu</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Branch if Greater/Equal (unsigned)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704542"/>
                  </a:ext>
                </a:extLst>
              </a:tr>
              <a:tr h="379151">
                <a:tc>
                  <a:txBody>
                    <a:bodyPr/>
                    <a:lstStyle/>
                    <a:p>
                      <a:pPr algn="ctr"/>
                      <a:r>
                        <a:rPr lang="en-US" b="1" dirty="0" err="1"/>
                        <a:t>bltu</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Branch if Less Than (unsigned)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817008"/>
                  </a:ext>
                </a:extLst>
              </a:tr>
            </a:tbl>
          </a:graphicData>
        </a:graphic>
      </p:graphicFrame>
      <p:sp>
        <p:nvSpPr>
          <p:cNvPr id="4" name="TextBox 3">
            <a:extLst>
              <a:ext uri="{FF2B5EF4-FFF2-40B4-BE49-F238E27FC236}">
                <a16:creationId xmlns:a16="http://schemas.microsoft.com/office/drawing/2014/main" id="{B08D7D81-646C-D09E-A45B-66D4416657EE}"/>
              </a:ext>
            </a:extLst>
          </p:cNvPr>
          <p:cNvSpPr txBox="1"/>
          <p:nvPr/>
        </p:nvSpPr>
        <p:spPr>
          <a:xfrm>
            <a:off x="1231900" y="4203700"/>
            <a:ext cx="10209732"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a:t>funct7 is not used for B-type instructions</a:t>
            </a:r>
          </a:p>
          <a:p>
            <a:pPr marL="285750" indent="-285750">
              <a:buFont typeface="Wingdings" panose="05000000000000000000" pitchFamily="2" charset="2"/>
              <a:buChar char="Ø"/>
            </a:pPr>
            <a:r>
              <a:rPr lang="en-US" dirty="0"/>
              <a:t>PC + </a:t>
            </a:r>
            <a:r>
              <a:rPr lang="en-US" dirty="0" err="1"/>
              <a:t>imm</a:t>
            </a:r>
            <a:r>
              <a:rPr lang="en-US" dirty="0"/>
              <a:t> (13 bits) determines the Label’s address (the Address at which the PC will point)</a:t>
            </a:r>
          </a:p>
          <a:p>
            <a:pPr marL="285750" indent="-285750">
              <a:buFont typeface="Wingdings" panose="05000000000000000000" pitchFamily="2" charset="2"/>
              <a:buChar char="Ø"/>
            </a:pPr>
            <a:r>
              <a:rPr lang="en-US" dirty="0"/>
              <a:t>If the condition is true, the PC is updated with:</a:t>
            </a:r>
          </a:p>
          <a:p>
            <a:pPr marL="742950" lvl="1" indent="-285750">
              <a:buFont typeface="Wingdings" panose="05000000000000000000" pitchFamily="2" charset="2"/>
              <a:buChar char="Ø"/>
            </a:pPr>
            <a:r>
              <a:rPr lang="en-US" dirty="0"/>
              <a:t>PC ← PC + </a:t>
            </a:r>
            <a:r>
              <a:rPr lang="en-US" dirty="0" err="1"/>
              <a:t>imm</a:t>
            </a:r>
            <a:endParaRPr lang="en-US" dirty="0"/>
          </a:p>
          <a:p>
            <a:pPr marL="285750" indent="-285750">
              <a:buFont typeface="Wingdings" panose="05000000000000000000" pitchFamily="2" charset="2"/>
              <a:buChar char="Ø"/>
            </a:pPr>
            <a:r>
              <a:rPr lang="en-US" dirty="0"/>
              <a:t>If the condition is false, the PC is incremented normally:</a:t>
            </a:r>
          </a:p>
          <a:p>
            <a:pPr marL="742950" lvl="1" indent="-285750">
              <a:buFont typeface="Wingdings" panose="05000000000000000000" pitchFamily="2" charset="2"/>
              <a:buChar char="Ø"/>
            </a:pPr>
            <a:r>
              <a:rPr lang="en-US" dirty="0"/>
              <a:t>PC ← PC + 4</a:t>
            </a:r>
            <a:endParaRPr lang="en-IN" dirty="0"/>
          </a:p>
        </p:txBody>
      </p:sp>
    </p:spTree>
    <p:extLst>
      <p:ext uri="{BB962C8B-B14F-4D97-AF65-F5344CB8AC3E}">
        <p14:creationId xmlns:p14="http://schemas.microsoft.com/office/powerpoint/2010/main" val="3885126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CEF-3E85-5DFA-2047-9942A2100FA4}"/>
              </a:ext>
            </a:extLst>
          </p:cNvPr>
          <p:cNvSpPr>
            <a:spLocks noGrp="1"/>
          </p:cNvSpPr>
          <p:nvPr>
            <p:ph type="title"/>
          </p:nvPr>
        </p:nvSpPr>
        <p:spPr>
          <a:xfrm>
            <a:off x="750367" y="0"/>
            <a:ext cx="10691265" cy="711200"/>
          </a:xfrm>
        </p:spPr>
        <p:txBody>
          <a:bodyPr/>
          <a:lstStyle/>
          <a:p>
            <a:pPr algn="ctr"/>
            <a:r>
              <a:rPr lang="en-US" dirty="0"/>
              <a:t>J-type instructions</a:t>
            </a:r>
            <a:endParaRPr lang="en-IN" dirty="0"/>
          </a:p>
        </p:txBody>
      </p:sp>
      <p:sp>
        <p:nvSpPr>
          <p:cNvPr id="3" name="Content Placeholder 2">
            <a:extLst>
              <a:ext uri="{FF2B5EF4-FFF2-40B4-BE49-F238E27FC236}">
                <a16:creationId xmlns:a16="http://schemas.microsoft.com/office/drawing/2014/main" id="{0422259C-9175-2EAF-3EFF-DFC4BA915AB3}"/>
              </a:ext>
            </a:extLst>
          </p:cNvPr>
          <p:cNvSpPr>
            <a:spLocks noGrp="1"/>
          </p:cNvSpPr>
          <p:nvPr>
            <p:ph idx="1"/>
          </p:nvPr>
        </p:nvSpPr>
        <p:spPr>
          <a:xfrm>
            <a:off x="700635" y="711200"/>
            <a:ext cx="11059565" cy="5435600"/>
          </a:xfrm>
        </p:spPr>
        <p:txBody>
          <a:bodyPr/>
          <a:lstStyle/>
          <a:p>
            <a:pPr marL="0" indent="0">
              <a:lnSpc>
                <a:spcPct val="100000"/>
              </a:lnSpc>
              <a:buNone/>
            </a:pPr>
            <a:r>
              <a:rPr lang="en-US" dirty="0"/>
              <a:t>The J-type format is used for unconditional jumps, specifically for the </a:t>
            </a:r>
            <a:r>
              <a:rPr lang="en-US" dirty="0" err="1"/>
              <a:t>jal</a:t>
            </a:r>
            <a:r>
              <a:rPr lang="en-US" dirty="0"/>
              <a:t> (Jump and Link) instruction. It allows jumping to a PC-relative address, and simultaneously saving the return address (PC + 4) into a register.</a:t>
            </a:r>
          </a:p>
          <a:p>
            <a:pPr marL="0" indent="0">
              <a:lnSpc>
                <a:spcPct val="100000"/>
              </a:lnSpc>
              <a:buNone/>
            </a:pPr>
            <a:r>
              <a:rPr lang="en-US" dirty="0"/>
              <a:t>To compute the </a:t>
            </a:r>
            <a:r>
              <a:rPr lang="en-US" b="1" dirty="0"/>
              <a:t>jump offset</a:t>
            </a:r>
            <a:r>
              <a:rPr lang="en-US" dirty="0"/>
              <a:t>, the immediate field must be reconstructed as:</a:t>
            </a:r>
          </a:p>
          <a:p>
            <a:pPr>
              <a:lnSpc>
                <a:spcPct val="100000"/>
              </a:lnSpc>
              <a:buFont typeface="Wingdings" panose="05000000000000000000" pitchFamily="2" charset="2"/>
              <a:buChar char="Ø"/>
            </a:pPr>
            <a:r>
              <a:rPr lang="de-DE" dirty="0"/>
              <a:t>imm = {imm[20], imm[10:1], imm[11], imm[19:12], 0}</a:t>
            </a:r>
          </a:p>
          <a:p>
            <a:pPr>
              <a:lnSpc>
                <a:spcPct val="100000"/>
              </a:lnSpc>
              <a:buFont typeface="Wingdings" panose="05000000000000000000" pitchFamily="2" charset="2"/>
              <a:buChar char="Ø"/>
            </a:pPr>
            <a:r>
              <a:rPr lang="en-US" dirty="0"/>
              <a:t>Total: 21 bits after appending the 0 (LSB = 0 for alignment)</a:t>
            </a:r>
          </a:p>
          <a:p>
            <a:pPr>
              <a:lnSpc>
                <a:spcPct val="100000"/>
              </a:lnSpc>
              <a:buFont typeface="Wingdings" panose="05000000000000000000" pitchFamily="2" charset="2"/>
              <a:buChar char="Ø"/>
            </a:pPr>
            <a:r>
              <a:rPr lang="en-US" dirty="0"/>
              <a:t>Then sign-extended to 32 bits to get the full jump offset</a:t>
            </a:r>
          </a:p>
          <a:p>
            <a:pPr>
              <a:lnSpc>
                <a:spcPct val="100000"/>
              </a:lnSpc>
              <a:buFont typeface="Wingdings" panose="05000000000000000000" pitchFamily="2" charset="2"/>
              <a:buChar char="Ø"/>
            </a:pPr>
            <a:r>
              <a:rPr lang="en-US" dirty="0"/>
              <a:t>Final address = </a:t>
            </a:r>
            <a:r>
              <a:rPr lang="en-US" b="1" dirty="0"/>
              <a:t>PC</a:t>
            </a:r>
            <a:r>
              <a:rPr lang="en-US" dirty="0"/>
              <a:t> + </a:t>
            </a:r>
            <a:r>
              <a:rPr lang="en-US" b="1" dirty="0" err="1"/>
              <a:t>imm</a:t>
            </a:r>
            <a:endParaRPr lang="en-US" b="1" dirty="0"/>
          </a:p>
          <a:p>
            <a:pPr>
              <a:lnSpc>
                <a:spcPct val="100000"/>
              </a:lnSpc>
              <a:buFont typeface="Wingdings" panose="05000000000000000000" pitchFamily="2" charset="2"/>
              <a:buChar char="Ø"/>
            </a:pPr>
            <a:r>
              <a:rPr lang="en-US" dirty="0"/>
              <a:t>The return address is stored in the destination register </a:t>
            </a:r>
            <a:r>
              <a:rPr lang="en-US" dirty="0" err="1"/>
              <a:t>rd</a:t>
            </a:r>
            <a:endParaRPr lang="en-US" dirty="0"/>
          </a:p>
          <a:p>
            <a:pPr>
              <a:lnSpc>
                <a:spcPct val="100000"/>
              </a:lnSpc>
              <a:buFont typeface="Wingdings" panose="05000000000000000000" pitchFamily="2" charset="2"/>
              <a:buChar char="Ø"/>
            </a:pPr>
            <a:r>
              <a:rPr lang="en-US" dirty="0"/>
              <a:t>Opcode = </a:t>
            </a:r>
            <a:r>
              <a:rPr lang="en-US" b="1" dirty="0"/>
              <a:t>1101111</a:t>
            </a:r>
            <a:r>
              <a:rPr lang="en-US" dirty="0"/>
              <a:t> for all J-type instructions</a:t>
            </a:r>
          </a:p>
          <a:p>
            <a:pPr marL="0" indent="0">
              <a:lnSpc>
                <a:spcPct val="100000"/>
              </a:lnSpc>
              <a:buNone/>
            </a:pPr>
            <a:r>
              <a:rPr lang="en-US" b="1" i="1" dirty="0"/>
              <a:t>Supported J-Type Instruction :</a:t>
            </a:r>
          </a:p>
          <a:p>
            <a:pPr marL="0" indent="0">
              <a:lnSpc>
                <a:spcPct val="100000"/>
              </a:lnSpc>
              <a:buNone/>
            </a:pPr>
            <a:r>
              <a:rPr lang="en-US" dirty="0"/>
              <a:t>&gt; </a:t>
            </a:r>
            <a:r>
              <a:rPr lang="en-US" b="1" u="sng" dirty="0" err="1"/>
              <a:t>jal</a:t>
            </a:r>
            <a:r>
              <a:rPr lang="en-US" b="1" u="sng" dirty="0"/>
              <a:t> </a:t>
            </a:r>
            <a:r>
              <a:rPr lang="en-US" b="1" u="sng" dirty="0" err="1"/>
              <a:t>rd</a:t>
            </a:r>
            <a:r>
              <a:rPr lang="en-US" b="1" u="sng" dirty="0"/>
              <a:t>, </a:t>
            </a:r>
            <a:r>
              <a:rPr lang="en-US" b="1" u="sng" dirty="0" err="1"/>
              <a:t>imm</a:t>
            </a:r>
            <a:r>
              <a:rPr lang="en-US" b="1" dirty="0"/>
              <a:t> : </a:t>
            </a:r>
            <a:r>
              <a:rPr lang="en-US" dirty="0"/>
              <a:t>Jump to </a:t>
            </a:r>
            <a:r>
              <a:rPr lang="en-US" b="1" dirty="0"/>
              <a:t>PC</a:t>
            </a:r>
            <a:r>
              <a:rPr lang="en-US" dirty="0"/>
              <a:t> + </a:t>
            </a:r>
            <a:r>
              <a:rPr lang="en-US" b="1" dirty="0" err="1"/>
              <a:t>imm</a:t>
            </a:r>
            <a:r>
              <a:rPr lang="en-US" dirty="0"/>
              <a:t>, store </a:t>
            </a:r>
            <a:r>
              <a:rPr lang="en-US" b="1" dirty="0"/>
              <a:t>PC</a:t>
            </a:r>
            <a:r>
              <a:rPr lang="en-US" dirty="0"/>
              <a:t> + </a:t>
            </a:r>
            <a:r>
              <a:rPr lang="en-US" b="1" dirty="0"/>
              <a:t>4</a:t>
            </a:r>
            <a:r>
              <a:rPr lang="en-US" dirty="0"/>
              <a:t> in </a:t>
            </a:r>
            <a:r>
              <a:rPr lang="en-US" b="1" dirty="0" err="1"/>
              <a:t>rd</a:t>
            </a:r>
            <a:endParaRPr lang="en-US" b="1" dirty="0"/>
          </a:p>
          <a:p>
            <a:pPr marL="0" indent="0">
              <a:lnSpc>
                <a:spcPct val="100000"/>
              </a:lnSpc>
              <a:buNone/>
            </a:pPr>
            <a:endParaRPr lang="en-US" dirty="0"/>
          </a:p>
          <a:p>
            <a:pPr marL="0" indent="0">
              <a:lnSpc>
                <a:spcPct val="100000"/>
              </a:lnSpc>
              <a:buNone/>
            </a:pPr>
            <a:endParaRPr lang="en-IN" dirty="0"/>
          </a:p>
        </p:txBody>
      </p:sp>
      <p:graphicFrame>
        <p:nvGraphicFramePr>
          <p:cNvPr id="5" name="Table 4">
            <a:extLst>
              <a:ext uri="{FF2B5EF4-FFF2-40B4-BE49-F238E27FC236}">
                <a16:creationId xmlns:a16="http://schemas.microsoft.com/office/drawing/2014/main" id="{AEEB2D95-AFD1-C732-2AA9-633541F9BB71}"/>
              </a:ext>
            </a:extLst>
          </p:cNvPr>
          <p:cNvGraphicFramePr>
            <a:graphicFrameLocks noGrp="1"/>
          </p:cNvGraphicFramePr>
          <p:nvPr>
            <p:extLst>
              <p:ext uri="{D42A27DB-BD31-4B8C-83A1-F6EECF244321}">
                <p14:modId xmlns:p14="http://schemas.microsoft.com/office/powerpoint/2010/main" val="14319917"/>
              </p:ext>
            </p:extLst>
          </p:nvPr>
        </p:nvGraphicFramePr>
        <p:xfrm>
          <a:off x="7543800" y="2802466"/>
          <a:ext cx="4216400" cy="1959187"/>
        </p:xfrm>
        <a:graphic>
          <a:graphicData uri="http://schemas.openxmlformats.org/drawingml/2006/table">
            <a:tbl>
              <a:tblPr firstRow="1" bandRow="1">
                <a:tableStyleId>{5C22544A-7EE6-4342-B048-85BDC9FD1C3A}</a:tableStyleId>
              </a:tblPr>
              <a:tblGrid>
                <a:gridCol w="2108200">
                  <a:extLst>
                    <a:ext uri="{9D8B030D-6E8A-4147-A177-3AD203B41FA5}">
                      <a16:colId xmlns:a16="http://schemas.microsoft.com/office/drawing/2014/main" val="1356744530"/>
                    </a:ext>
                  </a:extLst>
                </a:gridCol>
                <a:gridCol w="2108200">
                  <a:extLst>
                    <a:ext uri="{9D8B030D-6E8A-4147-A177-3AD203B41FA5}">
                      <a16:colId xmlns:a16="http://schemas.microsoft.com/office/drawing/2014/main" val="1010515204"/>
                    </a:ext>
                  </a:extLst>
                </a:gridCol>
              </a:tblGrid>
              <a:tr h="770467">
                <a:tc>
                  <a:txBody>
                    <a:bodyPr/>
                    <a:lstStyle/>
                    <a:p>
                      <a:pPr algn="ctr"/>
                      <a:r>
                        <a:rPr lang="en-US" b="1" dirty="0"/>
                        <a:t>Instruction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2480252"/>
                  </a:ext>
                </a:extLst>
              </a:tr>
              <a:tr h="770467">
                <a:tc>
                  <a:txBody>
                    <a:bodyPr/>
                    <a:lstStyle/>
                    <a:p>
                      <a:pPr algn="ctr"/>
                      <a:r>
                        <a:rPr lang="en-US" b="1" dirty="0" err="1"/>
                        <a:t>jal</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Jump and Link (unconditional jump + save return address)</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6843578"/>
                  </a:ext>
                </a:extLst>
              </a:tr>
            </a:tbl>
          </a:graphicData>
        </a:graphic>
      </p:graphicFrame>
    </p:spTree>
    <p:extLst>
      <p:ext uri="{BB962C8B-B14F-4D97-AF65-F5344CB8AC3E}">
        <p14:creationId xmlns:p14="http://schemas.microsoft.com/office/powerpoint/2010/main" val="761390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6DD4E-7E85-B50B-C3D0-88273AC6F8EB}"/>
              </a:ext>
            </a:extLst>
          </p:cNvPr>
          <p:cNvSpPr>
            <a:spLocks noGrp="1"/>
          </p:cNvSpPr>
          <p:nvPr>
            <p:ph type="title"/>
          </p:nvPr>
        </p:nvSpPr>
        <p:spPr>
          <a:xfrm>
            <a:off x="750367" y="90424"/>
            <a:ext cx="10691265" cy="646176"/>
          </a:xfrm>
        </p:spPr>
        <p:txBody>
          <a:bodyPr>
            <a:normAutofit fontScale="90000"/>
          </a:bodyPr>
          <a:lstStyle/>
          <a:p>
            <a:pPr algn="ctr"/>
            <a:r>
              <a:rPr lang="en-US" dirty="0"/>
              <a:t>U-type instructions</a:t>
            </a:r>
            <a:endParaRPr lang="en-IN" dirty="0"/>
          </a:p>
        </p:txBody>
      </p:sp>
      <p:sp>
        <p:nvSpPr>
          <p:cNvPr id="3" name="Content Placeholder 2">
            <a:extLst>
              <a:ext uri="{FF2B5EF4-FFF2-40B4-BE49-F238E27FC236}">
                <a16:creationId xmlns:a16="http://schemas.microsoft.com/office/drawing/2014/main" id="{677D0D3F-5163-AD36-5C12-D3E140C4DEB0}"/>
              </a:ext>
            </a:extLst>
          </p:cNvPr>
          <p:cNvSpPr>
            <a:spLocks noGrp="1"/>
          </p:cNvSpPr>
          <p:nvPr>
            <p:ph idx="1"/>
          </p:nvPr>
        </p:nvSpPr>
        <p:spPr>
          <a:xfrm>
            <a:off x="700635" y="736600"/>
            <a:ext cx="10691265" cy="5410200"/>
          </a:xfrm>
        </p:spPr>
        <p:txBody>
          <a:bodyPr/>
          <a:lstStyle/>
          <a:p>
            <a:pPr marL="0" indent="0">
              <a:lnSpc>
                <a:spcPct val="100000"/>
              </a:lnSpc>
              <a:buNone/>
            </a:pPr>
            <a:r>
              <a:rPr lang="en-US" b="1" dirty="0"/>
              <a:t>U-type (Upper Immediate)</a:t>
            </a:r>
            <a:r>
              <a:rPr lang="en-US" dirty="0"/>
              <a:t> instructions are used for operations that require a </a:t>
            </a:r>
            <a:r>
              <a:rPr lang="en-US" b="1" dirty="0"/>
              <a:t>large immediate value</a:t>
            </a:r>
            <a:r>
              <a:rPr lang="en-US" dirty="0"/>
              <a:t>, typically to set or manipulate the upper 20 bits of a register. These instructions do not perform ALU operations or memory access directly — they </a:t>
            </a:r>
            <a:r>
              <a:rPr lang="en-US" b="1" dirty="0"/>
              <a:t>load or compute constants</a:t>
            </a:r>
            <a:r>
              <a:rPr lang="en-US" dirty="0"/>
              <a:t>.</a:t>
            </a:r>
          </a:p>
          <a:p>
            <a:pPr>
              <a:lnSpc>
                <a:spcPct val="100000"/>
              </a:lnSpc>
              <a:buFont typeface="Wingdings" panose="05000000000000000000" pitchFamily="2" charset="2"/>
              <a:buChar char="Ø"/>
            </a:pPr>
            <a:r>
              <a:rPr lang="en-US" dirty="0" err="1"/>
              <a:t>imm</a:t>
            </a:r>
            <a:r>
              <a:rPr lang="en-US" dirty="0"/>
              <a:t>[31:12]: A 20-bit immediate constant</a:t>
            </a:r>
          </a:p>
          <a:p>
            <a:pPr>
              <a:lnSpc>
                <a:spcPct val="100000"/>
              </a:lnSpc>
              <a:buFont typeface="Wingdings" panose="05000000000000000000" pitchFamily="2" charset="2"/>
              <a:buChar char="Ø"/>
            </a:pPr>
            <a:r>
              <a:rPr lang="en-US" dirty="0"/>
              <a:t>The lower 12 bits are automatically set to 0 (effectively a left shift by 12 bits)</a:t>
            </a:r>
          </a:p>
          <a:p>
            <a:pPr>
              <a:lnSpc>
                <a:spcPct val="100000"/>
              </a:lnSpc>
              <a:buFont typeface="Wingdings" panose="05000000000000000000" pitchFamily="2" charset="2"/>
              <a:buChar char="Ø"/>
            </a:pPr>
            <a:r>
              <a:rPr lang="en-US" dirty="0"/>
              <a:t>The result is stored at the Destination Register rd.</a:t>
            </a:r>
          </a:p>
          <a:p>
            <a:pPr marL="0" indent="0">
              <a:lnSpc>
                <a:spcPct val="100000"/>
              </a:lnSpc>
              <a:buNone/>
            </a:pPr>
            <a:r>
              <a:rPr lang="en-US" b="1" i="1" dirty="0"/>
              <a:t>Supported U-type Instructions :</a:t>
            </a:r>
          </a:p>
          <a:p>
            <a:pPr marL="0" indent="0">
              <a:lnSpc>
                <a:spcPct val="100000"/>
              </a:lnSpc>
              <a:buNone/>
            </a:pPr>
            <a:r>
              <a:rPr lang="en-US" dirty="0"/>
              <a:t>&gt; </a:t>
            </a:r>
            <a:r>
              <a:rPr lang="en-US" b="1" u="sng" dirty="0" err="1"/>
              <a:t>lui</a:t>
            </a:r>
            <a:r>
              <a:rPr lang="en-US" b="1" u="sng" dirty="0"/>
              <a:t> </a:t>
            </a:r>
            <a:r>
              <a:rPr lang="en-US" b="1" u="sng" dirty="0" err="1"/>
              <a:t>rd</a:t>
            </a:r>
            <a:r>
              <a:rPr lang="en-US" b="1" u="sng" dirty="0"/>
              <a:t>, </a:t>
            </a:r>
            <a:r>
              <a:rPr lang="en-US" b="1" u="sng" dirty="0" err="1"/>
              <a:t>imm</a:t>
            </a:r>
            <a:r>
              <a:rPr lang="en-US" b="1" u="sng" dirty="0"/>
              <a:t> </a:t>
            </a:r>
            <a:r>
              <a:rPr lang="en-US" dirty="0"/>
              <a:t>: Load Upper Immediate: </a:t>
            </a:r>
            <a:r>
              <a:rPr lang="en-US" dirty="0" err="1"/>
              <a:t>rd</a:t>
            </a:r>
            <a:r>
              <a:rPr lang="en-US" dirty="0"/>
              <a:t> = </a:t>
            </a:r>
            <a:r>
              <a:rPr lang="en-US" dirty="0" err="1"/>
              <a:t>imm</a:t>
            </a:r>
            <a:r>
              <a:rPr lang="en-US" dirty="0"/>
              <a:t> &lt;&lt; 12</a:t>
            </a:r>
          </a:p>
          <a:p>
            <a:pPr>
              <a:lnSpc>
                <a:spcPct val="100000"/>
              </a:lnSpc>
              <a:buFont typeface="Wingdings" panose="05000000000000000000" pitchFamily="2" charset="2"/>
              <a:buChar char="Ø"/>
            </a:pPr>
            <a:r>
              <a:rPr lang="en-US" b="1" u="sng" dirty="0" err="1"/>
              <a:t>auipc</a:t>
            </a:r>
            <a:r>
              <a:rPr lang="en-US" b="1" u="sng" dirty="0"/>
              <a:t> </a:t>
            </a:r>
            <a:r>
              <a:rPr lang="en-US" b="1" u="sng" dirty="0" err="1"/>
              <a:t>rd</a:t>
            </a:r>
            <a:r>
              <a:rPr lang="en-US" b="1" u="sng" dirty="0"/>
              <a:t>, </a:t>
            </a:r>
            <a:r>
              <a:rPr lang="en-US" b="1" u="sng" dirty="0" err="1"/>
              <a:t>imm</a:t>
            </a:r>
            <a:r>
              <a:rPr lang="en-US" b="1" u="sng" dirty="0"/>
              <a:t> </a:t>
            </a:r>
            <a:r>
              <a:rPr lang="en-US" dirty="0"/>
              <a:t>: Add Upper Immediate to PC: </a:t>
            </a:r>
            <a:r>
              <a:rPr lang="en-US" dirty="0" err="1"/>
              <a:t>rd</a:t>
            </a:r>
            <a:r>
              <a:rPr lang="en-US" dirty="0"/>
              <a:t> = PC + (</a:t>
            </a:r>
            <a:r>
              <a:rPr lang="en-US" dirty="0" err="1"/>
              <a:t>imm</a:t>
            </a:r>
            <a:r>
              <a:rPr lang="en-US" dirty="0"/>
              <a:t> &lt;&lt; 12)</a:t>
            </a:r>
          </a:p>
          <a:p>
            <a:pPr>
              <a:lnSpc>
                <a:spcPct val="100000"/>
              </a:lnSpc>
              <a:buFont typeface="Wingdings" panose="05000000000000000000" pitchFamily="2" charset="2"/>
              <a:buChar char="Ø"/>
            </a:pPr>
            <a:endParaRPr lang="en-US" dirty="0"/>
          </a:p>
          <a:p>
            <a:pPr marL="0" indent="0">
              <a:lnSpc>
                <a:spcPct val="100000"/>
              </a:lnSpc>
              <a:buNone/>
            </a:pPr>
            <a:endParaRPr lang="en-US" i="1" dirty="0"/>
          </a:p>
          <a:p>
            <a:pPr>
              <a:lnSpc>
                <a:spcPct val="100000"/>
              </a:lnSpc>
              <a:buFont typeface="Wingdings" panose="05000000000000000000" pitchFamily="2" charset="2"/>
              <a:buChar char="Ø"/>
            </a:pPr>
            <a:endParaRPr lang="en-IN" dirty="0"/>
          </a:p>
        </p:txBody>
      </p:sp>
      <p:graphicFrame>
        <p:nvGraphicFramePr>
          <p:cNvPr id="4" name="Table 3">
            <a:extLst>
              <a:ext uri="{FF2B5EF4-FFF2-40B4-BE49-F238E27FC236}">
                <a16:creationId xmlns:a16="http://schemas.microsoft.com/office/drawing/2014/main" id="{F4EB909F-843A-07F3-B538-4B8179625A5C}"/>
              </a:ext>
            </a:extLst>
          </p:cNvPr>
          <p:cNvGraphicFramePr>
            <a:graphicFrameLocks noGrp="1"/>
          </p:cNvGraphicFramePr>
          <p:nvPr>
            <p:extLst>
              <p:ext uri="{D42A27DB-BD31-4B8C-83A1-F6EECF244321}">
                <p14:modId xmlns:p14="http://schemas.microsoft.com/office/powerpoint/2010/main" val="1763442956"/>
              </p:ext>
            </p:extLst>
          </p:nvPr>
        </p:nvGraphicFramePr>
        <p:xfrm>
          <a:off x="1295400" y="4381500"/>
          <a:ext cx="9512301" cy="1765300"/>
        </p:xfrm>
        <a:graphic>
          <a:graphicData uri="http://schemas.openxmlformats.org/drawingml/2006/table">
            <a:tbl>
              <a:tblPr firstRow="1" bandRow="1">
                <a:tableStyleId>{5C22544A-7EE6-4342-B048-85BDC9FD1C3A}</a:tableStyleId>
              </a:tblPr>
              <a:tblGrid>
                <a:gridCol w="3170767">
                  <a:extLst>
                    <a:ext uri="{9D8B030D-6E8A-4147-A177-3AD203B41FA5}">
                      <a16:colId xmlns:a16="http://schemas.microsoft.com/office/drawing/2014/main" val="3480633817"/>
                    </a:ext>
                  </a:extLst>
                </a:gridCol>
                <a:gridCol w="3170767">
                  <a:extLst>
                    <a:ext uri="{9D8B030D-6E8A-4147-A177-3AD203B41FA5}">
                      <a16:colId xmlns:a16="http://schemas.microsoft.com/office/drawing/2014/main" val="4174728185"/>
                    </a:ext>
                  </a:extLst>
                </a:gridCol>
                <a:gridCol w="3170767">
                  <a:extLst>
                    <a:ext uri="{9D8B030D-6E8A-4147-A177-3AD203B41FA5}">
                      <a16:colId xmlns:a16="http://schemas.microsoft.com/office/drawing/2014/main" val="1441437818"/>
                    </a:ext>
                  </a:extLst>
                </a:gridCol>
              </a:tblGrid>
              <a:tr h="394144">
                <a:tc>
                  <a:txBody>
                    <a:bodyPr/>
                    <a:lstStyle/>
                    <a:p>
                      <a:pPr algn="ctr"/>
                      <a:r>
                        <a:rPr lang="en-US" b="1" dirty="0"/>
                        <a:t>Instruction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opcode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3610711"/>
                  </a:ext>
                </a:extLst>
              </a:tr>
              <a:tr h="685578">
                <a:tc>
                  <a:txBody>
                    <a:bodyPr/>
                    <a:lstStyle/>
                    <a:p>
                      <a:pPr algn="ctr"/>
                      <a:r>
                        <a:rPr lang="en-US" b="1" dirty="0" err="1"/>
                        <a:t>lui</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0110111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Load upper immediate into register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225674"/>
                  </a:ext>
                </a:extLst>
              </a:tr>
              <a:tr h="685578">
                <a:tc>
                  <a:txBody>
                    <a:bodyPr/>
                    <a:lstStyle/>
                    <a:p>
                      <a:pPr algn="ctr"/>
                      <a:r>
                        <a:rPr lang="en-US" b="1" dirty="0" err="1"/>
                        <a:t>auipc</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0010111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PC-relative address 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4154335"/>
                  </a:ext>
                </a:extLst>
              </a:tr>
            </a:tbl>
          </a:graphicData>
        </a:graphic>
      </p:graphicFrame>
    </p:spTree>
    <p:extLst>
      <p:ext uri="{BB962C8B-B14F-4D97-AF65-F5344CB8AC3E}">
        <p14:creationId xmlns:p14="http://schemas.microsoft.com/office/powerpoint/2010/main" val="3894354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08684-1B46-FC90-083E-39ED010EBD90}"/>
              </a:ext>
            </a:extLst>
          </p:cNvPr>
          <p:cNvSpPr>
            <a:spLocks noGrp="1"/>
          </p:cNvSpPr>
          <p:nvPr>
            <p:ph type="title"/>
          </p:nvPr>
        </p:nvSpPr>
        <p:spPr>
          <a:xfrm>
            <a:off x="700635" y="101600"/>
            <a:ext cx="10691265" cy="551543"/>
          </a:xfrm>
        </p:spPr>
        <p:txBody>
          <a:bodyPr>
            <a:normAutofit fontScale="90000"/>
          </a:bodyPr>
          <a:lstStyle/>
          <a:p>
            <a:pPr algn="ctr"/>
            <a:r>
              <a:rPr lang="en-US" dirty="0"/>
              <a:t>High level view of the system</a:t>
            </a:r>
            <a:endParaRPr lang="en-IN" dirty="0"/>
          </a:p>
        </p:txBody>
      </p:sp>
      <p:sp>
        <p:nvSpPr>
          <p:cNvPr id="3" name="Content Placeholder 2">
            <a:extLst>
              <a:ext uri="{FF2B5EF4-FFF2-40B4-BE49-F238E27FC236}">
                <a16:creationId xmlns:a16="http://schemas.microsoft.com/office/drawing/2014/main" id="{06FF099D-30B0-B24E-54C8-5575B9EBC1D1}"/>
              </a:ext>
            </a:extLst>
          </p:cNvPr>
          <p:cNvSpPr>
            <a:spLocks noGrp="1"/>
          </p:cNvSpPr>
          <p:nvPr>
            <p:ph idx="1"/>
          </p:nvPr>
        </p:nvSpPr>
        <p:spPr>
          <a:xfrm>
            <a:off x="700635" y="820271"/>
            <a:ext cx="10691265" cy="5141617"/>
          </a:xfrm>
        </p:spPr>
        <p:txBody>
          <a:bodyPr/>
          <a:lstStyle/>
          <a:p>
            <a:pPr marL="0" indent="0">
              <a:buNone/>
            </a:pPr>
            <a:r>
              <a:rPr lang="en-US" dirty="0"/>
              <a:t>A Single Cycle RISCV Processor executes instructions by coordinating two core subsystems :</a:t>
            </a:r>
            <a:br>
              <a:rPr lang="en-US" dirty="0"/>
            </a:br>
            <a:r>
              <a:rPr lang="en-US" dirty="0" err="1"/>
              <a:t>i</a:t>
            </a:r>
            <a:r>
              <a:rPr lang="en-US" dirty="0"/>
              <a:t>) </a:t>
            </a:r>
            <a:r>
              <a:rPr lang="en-US" b="1" dirty="0"/>
              <a:t>The Datapath </a:t>
            </a:r>
          </a:p>
          <a:p>
            <a:pPr marL="0" indent="0">
              <a:buNone/>
            </a:pPr>
            <a:r>
              <a:rPr lang="en-US" dirty="0"/>
              <a:t>ii) </a:t>
            </a:r>
            <a:r>
              <a:rPr lang="en-US" b="1" dirty="0"/>
              <a:t>The Control Unit</a:t>
            </a:r>
            <a:endParaRPr lang="en-IN" b="1" dirty="0"/>
          </a:p>
        </p:txBody>
      </p:sp>
      <p:sp>
        <p:nvSpPr>
          <p:cNvPr id="4" name="Rectangle 3">
            <a:extLst>
              <a:ext uri="{FF2B5EF4-FFF2-40B4-BE49-F238E27FC236}">
                <a16:creationId xmlns:a16="http://schemas.microsoft.com/office/drawing/2014/main" id="{5BC01B3E-E9D2-8078-F32C-26CA941CFA29}"/>
              </a:ext>
            </a:extLst>
          </p:cNvPr>
          <p:cNvSpPr/>
          <p:nvPr/>
        </p:nvSpPr>
        <p:spPr>
          <a:xfrm>
            <a:off x="700367" y="1951216"/>
            <a:ext cx="5587106" cy="3913094"/>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6E6442E0-B721-A28E-1846-B85D7F797A85}"/>
              </a:ext>
            </a:extLst>
          </p:cNvPr>
          <p:cNvSpPr/>
          <p:nvPr/>
        </p:nvSpPr>
        <p:spPr>
          <a:xfrm>
            <a:off x="6838804" y="2043953"/>
            <a:ext cx="4553095" cy="3913094"/>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C78AB1A-A150-2DD1-985B-21927587437C}"/>
              </a:ext>
            </a:extLst>
          </p:cNvPr>
          <p:cNvSpPr txBox="1"/>
          <p:nvPr/>
        </p:nvSpPr>
        <p:spPr>
          <a:xfrm>
            <a:off x="914400" y="2066006"/>
            <a:ext cx="4356847" cy="523220"/>
          </a:xfrm>
          <a:prstGeom prst="rect">
            <a:avLst/>
          </a:prstGeom>
          <a:noFill/>
        </p:spPr>
        <p:txBody>
          <a:bodyPr wrap="square" rtlCol="0">
            <a:spAutoFit/>
          </a:bodyPr>
          <a:lstStyle/>
          <a:p>
            <a:pPr algn="ctr"/>
            <a:r>
              <a:rPr lang="en-US" sz="2800" b="1" dirty="0">
                <a:solidFill>
                  <a:srgbClr val="FFFF00"/>
                </a:solidFill>
              </a:rPr>
              <a:t>The Datapath</a:t>
            </a:r>
            <a:endParaRPr lang="en-IN" sz="2800" b="1" dirty="0">
              <a:solidFill>
                <a:srgbClr val="FFFF00"/>
              </a:solidFill>
            </a:endParaRPr>
          </a:p>
        </p:txBody>
      </p:sp>
      <p:sp>
        <p:nvSpPr>
          <p:cNvPr id="7" name="TextBox 6">
            <a:extLst>
              <a:ext uri="{FF2B5EF4-FFF2-40B4-BE49-F238E27FC236}">
                <a16:creationId xmlns:a16="http://schemas.microsoft.com/office/drawing/2014/main" id="{3E721F3D-3295-BEC8-9FB3-4A7B128F55D7}"/>
              </a:ext>
            </a:extLst>
          </p:cNvPr>
          <p:cNvSpPr txBox="1"/>
          <p:nvPr/>
        </p:nvSpPr>
        <p:spPr>
          <a:xfrm>
            <a:off x="6637243" y="2127561"/>
            <a:ext cx="4356847" cy="461665"/>
          </a:xfrm>
          <a:prstGeom prst="rect">
            <a:avLst/>
          </a:prstGeom>
          <a:noFill/>
        </p:spPr>
        <p:txBody>
          <a:bodyPr wrap="square" rtlCol="0">
            <a:spAutoFit/>
          </a:bodyPr>
          <a:lstStyle/>
          <a:p>
            <a:pPr algn="ctr"/>
            <a:r>
              <a:rPr lang="en-US" sz="2400" b="1" dirty="0">
                <a:solidFill>
                  <a:srgbClr val="FFFF00"/>
                </a:solidFill>
              </a:rPr>
              <a:t>The Control Unit</a:t>
            </a:r>
            <a:endParaRPr lang="en-IN" sz="2400" b="1" dirty="0">
              <a:solidFill>
                <a:srgbClr val="FFFF00"/>
              </a:solidFill>
            </a:endParaRPr>
          </a:p>
        </p:txBody>
      </p:sp>
      <p:cxnSp>
        <p:nvCxnSpPr>
          <p:cNvPr id="9" name="Straight Arrow Connector 8">
            <a:extLst>
              <a:ext uri="{FF2B5EF4-FFF2-40B4-BE49-F238E27FC236}">
                <a16:creationId xmlns:a16="http://schemas.microsoft.com/office/drawing/2014/main" id="{C5E004C2-45A2-674F-B36F-3DAE3154CD18}"/>
              </a:ext>
            </a:extLst>
          </p:cNvPr>
          <p:cNvCxnSpPr>
            <a:cxnSpLocks/>
          </p:cNvCxnSpPr>
          <p:nvPr/>
        </p:nvCxnSpPr>
        <p:spPr>
          <a:xfrm>
            <a:off x="6274028" y="2398734"/>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FF91E0CD-1E13-6D59-8481-05FAD9DB2B1B}"/>
              </a:ext>
            </a:extLst>
          </p:cNvPr>
          <p:cNvCxnSpPr>
            <a:cxnSpLocks/>
          </p:cNvCxnSpPr>
          <p:nvPr/>
        </p:nvCxnSpPr>
        <p:spPr>
          <a:xfrm flipH="1">
            <a:off x="6274029" y="3708398"/>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BFE3E98A-F882-8B0A-CFF2-A1AC46585AF7}"/>
              </a:ext>
            </a:extLst>
          </p:cNvPr>
          <p:cNvCxnSpPr>
            <a:cxnSpLocks/>
          </p:cNvCxnSpPr>
          <p:nvPr/>
        </p:nvCxnSpPr>
        <p:spPr>
          <a:xfrm flipH="1">
            <a:off x="6274029" y="3860798"/>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1C57171C-8273-87C4-8406-F40CA9C87D17}"/>
              </a:ext>
            </a:extLst>
          </p:cNvPr>
          <p:cNvCxnSpPr>
            <a:cxnSpLocks/>
          </p:cNvCxnSpPr>
          <p:nvPr/>
        </p:nvCxnSpPr>
        <p:spPr>
          <a:xfrm flipH="1">
            <a:off x="6274029" y="3998910"/>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34CAF405-9AF9-2D17-ACDF-4AF90D1ACD4F}"/>
              </a:ext>
            </a:extLst>
          </p:cNvPr>
          <p:cNvCxnSpPr>
            <a:cxnSpLocks/>
          </p:cNvCxnSpPr>
          <p:nvPr/>
        </p:nvCxnSpPr>
        <p:spPr>
          <a:xfrm flipH="1">
            <a:off x="6274029" y="4151310"/>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1B02A6D-B3D6-50A8-9B88-F83ED4084E1E}"/>
              </a:ext>
            </a:extLst>
          </p:cNvPr>
          <p:cNvCxnSpPr>
            <a:cxnSpLocks/>
          </p:cNvCxnSpPr>
          <p:nvPr/>
        </p:nvCxnSpPr>
        <p:spPr>
          <a:xfrm flipH="1">
            <a:off x="6274028" y="4308473"/>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CA92261-7C29-66A9-6649-016AE21DF11E}"/>
              </a:ext>
            </a:extLst>
          </p:cNvPr>
          <p:cNvCxnSpPr>
            <a:cxnSpLocks/>
          </p:cNvCxnSpPr>
          <p:nvPr/>
        </p:nvCxnSpPr>
        <p:spPr>
          <a:xfrm flipH="1">
            <a:off x="6274028" y="4460873"/>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Rounded Corners 22">
            <a:extLst>
              <a:ext uri="{FF2B5EF4-FFF2-40B4-BE49-F238E27FC236}">
                <a16:creationId xmlns:a16="http://schemas.microsoft.com/office/drawing/2014/main" id="{741DB129-1CFE-4FBD-243D-148791D487AF}"/>
              </a:ext>
            </a:extLst>
          </p:cNvPr>
          <p:cNvSpPr/>
          <p:nvPr/>
        </p:nvSpPr>
        <p:spPr>
          <a:xfrm>
            <a:off x="914400" y="2946400"/>
            <a:ext cx="1374982" cy="961363"/>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 Counter </a:t>
            </a:r>
          </a:p>
          <a:p>
            <a:pPr algn="ctr"/>
            <a:r>
              <a:rPr lang="en-US" dirty="0"/>
              <a:t>(PC)</a:t>
            </a:r>
            <a:endParaRPr lang="en-IN" dirty="0"/>
          </a:p>
        </p:txBody>
      </p:sp>
      <p:sp>
        <p:nvSpPr>
          <p:cNvPr id="24" name="Rectangle: Rounded Corners 23">
            <a:extLst>
              <a:ext uri="{FF2B5EF4-FFF2-40B4-BE49-F238E27FC236}">
                <a16:creationId xmlns:a16="http://schemas.microsoft.com/office/drawing/2014/main" id="{7B20B6DD-9930-09FD-B66B-91D72337FC9E}"/>
              </a:ext>
            </a:extLst>
          </p:cNvPr>
          <p:cNvSpPr/>
          <p:nvPr/>
        </p:nvSpPr>
        <p:spPr>
          <a:xfrm>
            <a:off x="2523296" y="2946400"/>
            <a:ext cx="1257300" cy="961363"/>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Instruction</a:t>
            </a:r>
            <a:br>
              <a:rPr lang="en-US" sz="1600" dirty="0"/>
            </a:br>
            <a:r>
              <a:rPr lang="en-US" sz="1600" dirty="0"/>
              <a:t>Memory</a:t>
            </a:r>
            <a:endParaRPr lang="en-IN" sz="1600" dirty="0"/>
          </a:p>
        </p:txBody>
      </p:sp>
      <p:sp>
        <p:nvSpPr>
          <p:cNvPr id="25" name="Rectangle: Rounded Corners 24">
            <a:extLst>
              <a:ext uri="{FF2B5EF4-FFF2-40B4-BE49-F238E27FC236}">
                <a16:creationId xmlns:a16="http://schemas.microsoft.com/office/drawing/2014/main" id="{D6CA472D-7C7B-7246-A806-4BF3A39351D9}"/>
              </a:ext>
            </a:extLst>
          </p:cNvPr>
          <p:cNvSpPr/>
          <p:nvPr/>
        </p:nvSpPr>
        <p:spPr>
          <a:xfrm>
            <a:off x="4129360" y="4522264"/>
            <a:ext cx="1257300" cy="961363"/>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Memory</a:t>
            </a:r>
            <a:endParaRPr lang="en-IN" dirty="0"/>
          </a:p>
        </p:txBody>
      </p:sp>
      <p:sp>
        <p:nvSpPr>
          <p:cNvPr id="27" name="Rectangle: Rounded Corners 26">
            <a:extLst>
              <a:ext uri="{FF2B5EF4-FFF2-40B4-BE49-F238E27FC236}">
                <a16:creationId xmlns:a16="http://schemas.microsoft.com/office/drawing/2014/main" id="{2430CCD3-01BD-38BC-7F4D-C7D40DF3292B}"/>
              </a:ext>
            </a:extLst>
          </p:cNvPr>
          <p:cNvSpPr/>
          <p:nvPr/>
        </p:nvSpPr>
        <p:spPr>
          <a:xfrm>
            <a:off x="4014510" y="2946400"/>
            <a:ext cx="1257300" cy="961363"/>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Register </a:t>
            </a:r>
          </a:p>
          <a:p>
            <a:pPr algn="ctr"/>
            <a:r>
              <a:rPr lang="en-US" dirty="0"/>
              <a:t>File</a:t>
            </a:r>
            <a:endParaRPr lang="en-IN" dirty="0"/>
          </a:p>
        </p:txBody>
      </p:sp>
      <p:sp>
        <p:nvSpPr>
          <p:cNvPr id="28" name="Flowchart: Manual Input 27">
            <a:extLst>
              <a:ext uri="{FF2B5EF4-FFF2-40B4-BE49-F238E27FC236}">
                <a16:creationId xmlns:a16="http://schemas.microsoft.com/office/drawing/2014/main" id="{7C0F9339-FC62-79DB-3B78-7798BCBCD3EF}"/>
              </a:ext>
            </a:extLst>
          </p:cNvPr>
          <p:cNvSpPr/>
          <p:nvPr/>
        </p:nvSpPr>
        <p:spPr>
          <a:xfrm>
            <a:off x="881110" y="5131444"/>
            <a:ext cx="1257300" cy="648769"/>
          </a:xfrm>
          <a:prstGeom prst="flowChartManualInpu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Sign </a:t>
            </a:r>
            <a:r>
              <a:rPr lang="en-IN" dirty="0"/>
              <a:t>Extender</a:t>
            </a:r>
          </a:p>
        </p:txBody>
      </p:sp>
      <p:sp>
        <p:nvSpPr>
          <p:cNvPr id="30" name="Trapezoid 29">
            <a:extLst>
              <a:ext uri="{FF2B5EF4-FFF2-40B4-BE49-F238E27FC236}">
                <a16:creationId xmlns:a16="http://schemas.microsoft.com/office/drawing/2014/main" id="{F2F62D16-B328-C4E6-7C0B-8C1AB2690F9B}"/>
              </a:ext>
            </a:extLst>
          </p:cNvPr>
          <p:cNvSpPr/>
          <p:nvPr/>
        </p:nvSpPr>
        <p:spPr>
          <a:xfrm rot="5400000">
            <a:off x="2525095" y="4553789"/>
            <a:ext cx="1589020" cy="886763"/>
          </a:xfrm>
          <a:prstGeom prst="trapezoid">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bg1"/>
                </a:solidFill>
              </a:rPr>
              <a:t>ALU</a:t>
            </a:r>
            <a:endParaRPr lang="en-IN" dirty="0">
              <a:solidFill>
                <a:schemeClr val="bg1"/>
              </a:solidFill>
            </a:endParaRPr>
          </a:p>
        </p:txBody>
      </p:sp>
      <p:sp>
        <p:nvSpPr>
          <p:cNvPr id="33" name="Arrow: Pentagon 32">
            <a:extLst>
              <a:ext uri="{FF2B5EF4-FFF2-40B4-BE49-F238E27FC236}">
                <a16:creationId xmlns:a16="http://schemas.microsoft.com/office/drawing/2014/main" id="{22DE594E-5ABD-6F90-B9C2-737ED482B097}"/>
              </a:ext>
            </a:extLst>
          </p:cNvPr>
          <p:cNvSpPr/>
          <p:nvPr/>
        </p:nvSpPr>
        <p:spPr>
          <a:xfrm>
            <a:off x="2657895" y="4560861"/>
            <a:ext cx="436659" cy="846262"/>
          </a:xfrm>
          <a:prstGeom prst="homePlat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6" name="Straight Arrow Connector 35">
            <a:extLst>
              <a:ext uri="{FF2B5EF4-FFF2-40B4-BE49-F238E27FC236}">
                <a16:creationId xmlns:a16="http://schemas.microsoft.com/office/drawing/2014/main" id="{FAD6F3C7-DCD6-F3DB-26C1-568FFC2B04E4}"/>
              </a:ext>
            </a:extLst>
          </p:cNvPr>
          <p:cNvCxnSpPr>
            <a:endCxn id="24" idx="1"/>
          </p:cNvCxnSpPr>
          <p:nvPr/>
        </p:nvCxnSpPr>
        <p:spPr>
          <a:xfrm>
            <a:off x="2286000" y="3427081"/>
            <a:ext cx="237296"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2C013B4-81F9-E92E-7F66-69E71DB709FC}"/>
              </a:ext>
            </a:extLst>
          </p:cNvPr>
          <p:cNvCxnSpPr>
            <a:cxnSpLocks/>
            <a:endCxn id="27" idx="1"/>
          </p:cNvCxnSpPr>
          <p:nvPr/>
        </p:nvCxnSpPr>
        <p:spPr>
          <a:xfrm>
            <a:off x="3780596" y="3427081"/>
            <a:ext cx="23391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948E3A21-8ECF-5F34-DF1B-8C116A3CBFF2}"/>
              </a:ext>
            </a:extLst>
          </p:cNvPr>
          <p:cNvCxnSpPr>
            <a:cxnSpLocks/>
            <a:stCxn id="27" idx="2"/>
          </p:cNvCxnSpPr>
          <p:nvPr/>
        </p:nvCxnSpPr>
        <p:spPr>
          <a:xfrm flipH="1">
            <a:off x="4642413" y="3907763"/>
            <a:ext cx="747" cy="152408"/>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C10CCD44-5119-DC68-FCA0-9E3017DD90AB}"/>
              </a:ext>
            </a:extLst>
          </p:cNvPr>
          <p:cNvCxnSpPr/>
          <p:nvPr/>
        </p:nvCxnSpPr>
        <p:spPr>
          <a:xfrm flipH="1">
            <a:off x="2523296" y="4060171"/>
            <a:ext cx="2119117" cy="0"/>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B293F6C3-83FE-8325-FB43-BCA6D36F118F}"/>
              </a:ext>
            </a:extLst>
          </p:cNvPr>
          <p:cNvCxnSpPr/>
          <p:nvPr/>
        </p:nvCxnSpPr>
        <p:spPr>
          <a:xfrm>
            <a:off x="2523296" y="4060171"/>
            <a:ext cx="0" cy="309563"/>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A68DDAB5-095C-2C70-85C3-4F727B338A9C}"/>
              </a:ext>
            </a:extLst>
          </p:cNvPr>
          <p:cNvCxnSpPr/>
          <p:nvPr/>
        </p:nvCxnSpPr>
        <p:spPr>
          <a:xfrm>
            <a:off x="2523296" y="4369734"/>
            <a:ext cx="3529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68490193-3AC3-3B51-1210-5EF831B8C623}"/>
              </a:ext>
            </a:extLst>
          </p:cNvPr>
          <p:cNvCxnSpPr>
            <a:cxnSpLocks/>
          </p:cNvCxnSpPr>
          <p:nvPr/>
        </p:nvCxnSpPr>
        <p:spPr>
          <a:xfrm>
            <a:off x="2146300" y="5600700"/>
            <a:ext cx="3330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42882B78-BBF8-3AD2-FECE-7AF1BA806473}"/>
              </a:ext>
            </a:extLst>
          </p:cNvPr>
          <p:cNvCxnSpPr>
            <a:cxnSpLocks/>
            <a:stCxn id="30" idx="0"/>
            <a:endCxn id="25" idx="1"/>
          </p:cNvCxnSpPr>
          <p:nvPr/>
        </p:nvCxnSpPr>
        <p:spPr>
          <a:xfrm>
            <a:off x="3762987" y="4997171"/>
            <a:ext cx="366373" cy="57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33324ABC-B678-02BF-B968-3D253BE936BB}"/>
              </a:ext>
            </a:extLst>
          </p:cNvPr>
          <p:cNvCxnSpPr>
            <a:cxnSpLocks/>
          </p:cNvCxnSpPr>
          <p:nvPr/>
        </p:nvCxnSpPr>
        <p:spPr>
          <a:xfrm>
            <a:off x="6287474" y="2625760"/>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ED0308E8-A4A4-5230-46B6-8C87A0EA8D26}"/>
              </a:ext>
            </a:extLst>
          </p:cNvPr>
          <p:cNvCxnSpPr>
            <a:cxnSpLocks/>
          </p:cNvCxnSpPr>
          <p:nvPr/>
        </p:nvCxnSpPr>
        <p:spPr>
          <a:xfrm>
            <a:off x="6287474" y="2855934"/>
            <a:ext cx="564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Rectangle: Rounded Corners 65">
            <a:extLst>
              <a:ext uri="{FF2B5EF4-FFF2-40B4-BE49-F238E27FC236}">
                <a16:creationId xmlns:a16="http://schemas.microsoft.com/office/drawing/2014/main" id="{88A61595-80F0-CA01-CAD8-C03A2EE4E061}"/>
              </a:ext>
            </a:extLst>
          </p:cNvPr>
          <p:cNvSpPr/>
          <p:nvPr/>
        </p:nvSpPr>
        <p:spPr>
          <a:xfrm>
            <a:off x="7001704" y="2946400"/>
            <a:ext cx="1984518" cy="1828796"/>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Control Unit</a:t>
            </a:r>
            <a:endParaRPr lang="en-IN" b="1" dirty="0"/>
          </a:p>
        </p:txBody>
      </p:sp>
      <p:sp>
        <p:nvSpPr>
          <p:cNvPr id="67" name="Rectangle: Rounded Corners 66">
            <a:extLst>
              <a:ext uri="{FF2B5EF4-FFF2-40B4-BE49-F238E27FC236}">
                <a16:creationId xmlns:a16="http://schemas.microsoft.com/office/drawing/2014/main" id="{F15B522C-DEF3-AE77-4E5B-8BDDFD6871C3}"/>
              </a:ext>
            </a:extLst>
          </p:cNvPr>
          <p:cNvSpPr/>
          <p:nvPr/>
        </p:nvSpPr>
        <p:spPr>
          <a:xfrm>
            <a:off x="9229842" y="2946400"/>
            <a:ext cx="2047758" cy="1828796"/>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ALU Control</a:t>
            </a:r>
            <a:endParaRPr lang="en-IN" b="1" dirty="0"/>
          </a:p>
        </p:txBody>
      </p:sp>
      <p:cxnSp>
        <p:nvCxnSpPr>
          <p:cNvPr id="69" name="Straight Arrow Connector 68">
            <a:extLst>
              <a:ext uri="{FF2B5EF4-FFF2-40B4-BE49-F238E27FC236}">
                <a16:creationId xmlns:a16="http://schemas.microsoft.com/office/drawing/2014/main" id="{55CC51B3-A208-C088-F401-098A9D3DC068}"/>
              </a:ext>
            </a:extLst>
          </p:cNvPr>
          <p:cNvCxnSpPr>
            <a:cxnSpLocks/>
            <a:stCxn id="66" idx="3"/>
            <a:endCxn id="67" idx="1"/>
          </p:cNvCxnSpPr>
          <p:nvPr/>
        </p:nvCxnSpPr>
        <p:spPr>
          <a:xfrm>
            <a:off x="8986222" y="3860798"/>
            <a:ext cx="2436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Rectangle: Rounded Corners 75">
            <a:extLst>
              <a:ext uri="{FF2B5EF4-FFF2-40B4-BE49-F238E27FC236}">
                <a16:creationId xmlns:a16="http://schemas.microsoft.com/office/drawing/2014/main" id="{7914D0EA-2D27-AE84-4B55-37DDCFF7EEF4}"/>
              </a:ext>
            </a:extLst>
          </p:cNvPr>
          <p:cNvSpPr/>
          <p:nvPr/>
        </p:nvSpPr>
        <p:spPr>
          <a:xfrm>
            <a:off x="914007" y="4022629"/>
            <a:ext cx="1374982" cy="961363"/>
          </a:xfrm>
          <a:prstGeom prst="roundRect">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PC Adder</a:t>
            </a:r>
            <a:endParaRPr lang="en-IN" dirty="0"/>
          </a:p>
        </p:txBody>
      </p:sp>
      <p:cxnSp>
        <p:nvCxnSpPr>
          <p:cNvPr id="78" name="Straight Arrow Connector 77">
            <a:extLst>
              <a:ext uri="{FF2B5EF4-FFF2-40B4-BE49-F238E27FC236}">
                <a16:creationId xmlns:a16="http://schemas.microsoft.com/office/drawing/2014/main" id="{6259BEF5-11DB-0005-6E7C-31D340671452}"/>
              </a:ext>
            </a:extLst>
          </p:cNvPr>
          <p:cNvCxnSpPr>
            <a:cxnSpLocks/>
            <a:endCxn id="76" idx="0"/>
          </p:cNvCxnSpPr>
          <p:nvPr/>
        </p:nvCxnSpPr>
        <p:spPr>
          <a:xfrm>
            <a:off x="1601498" y="3907763"/>
            <a:ext cx="0" cy="1148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1824D5EB-B6BA-1F7F-C7E9-18EC9EB800EC}"/>
              </a:ext>
            </a:extLst>
          </p:cNvPr>
          <p:cNvCxnSpPr>
            <a:cxnSpLocks/>
          </p:cNvCxnSpPr>
          <p:nvPr/>
        </p:nvCxnSpPr>
        <p:spPr>
          <a:xfrm flipV="1">
            <a:off x="2357438" y="2815593"/>
            <a:ext cx="0" cy="1687718"/>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Connector 94">
            <a:extLst>
              <a:ext uri="{FF2B5EF4-FFF2-40B4-BE49-F238E27FC236}">
                <a16:creationId xmlns:a16="http://schemas.microsoft.com/office/drawing/2014/main" id="{6A1A1FF8-28EC-C408-48A9-05599EDF159D}"/>
              </a:ext>
            </a:extLst>
          </p:cNvPr>
          <p:cNvCxnSpPr/>
          <p:nvPr/>
        </p:nvCxnSpPr>
        <p:spPr>
          <a:xfrm>
            <a:off x="2286000" y="4503311"/>
            <a:ext cx="71438" cy="0"/>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3D4095A0-338D-1571-77A8-93475A7BC1FB}"/>
              </a:ext>
            </a:extLst>
          </p:cNvPr>
          <p:cNvCxnSpPr>
            <a:cxnSpLocks/>
          </p:cNvCxnSpPr>
          <p:nvPr/>
        </p:nvCxnSpPr>
        <p:spPr>
          <a:xfrm flipH="1">
            <a:off x="809625" y="2815593"/>
            <a:ext cx="1547813" cy="0"/>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92FB59B8-0F3F-D1F4-1506-45409FE97D8D}"/>
              </a:ext>
            </a:extLst>
          </p:cNvPr>
          <p:cNvCxnSpPr/>
          <p:nvPr/>
        </p:nvCxnSpPr>
        <p:spPr>
          <a:xfrm>
            <a:off x="738188" y="2815593"/>
            <a:ext cx="0" cy="611488"/>
          </a:xfrm>
          <a:prstGeom prst="line">
            <a:avLst/>
          </a:prstGeom>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2C0E11DA-E55D-39B9-9216-07964E60B524}"/>
              </a:ext>
            </a:extLst>
          </p:cNvPr>
          <p:cNvCxnSpPr>
            <a:endCxn id="23" idx="1"/>
          </p:cNvCxnSpPr>
          <p:nvPr/>
        </p:nvCxnSpPr>
        <p:spPr>
          <a:xfrm>
            <a:off x="809625" y="3427081"/>
            <a:ext cx="10477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4" name="TextBox 103">
            <a:extLst>
              <a:ext uri="{FF2B5EF4-FFF2-40B4-BE49-F238E27FC236}">
                <a16:creationId xmlns:a16="http://schemas.microsoft.com/office/drawing/2014/main" id="{6B53C5A4-F0B5-68E2-1F46-08D575258D93}"/>
              </a:ext>
            </a:extLst>
          </p:cNvPr>
          <p:cNvSpPr txBox="1"/>
          <p:nvPr/>
        </p:nvSpPr>
        <p:spPr>
          <a:xfrm>
            <a:off x="700367" y="4369734"/>
            <a:ext cx="109258" cy="246221"/>
          </a:xfrm>
          <a:prstGeom prst="rect">
            <a:avLst/>
          </a:prstGeom>
          <a:noFill/>
        </p:spPr>
        <p:txBody>
          <a:bodyPr wrap="square" rtlCol="0">
            <a:spAutoFit/>
          </a:bodyPr>
          <a:lstStyle/>
          <a:p>
            <a:pPr algn="ctr"/>
            <a:r>
              <a:rPr lang="en-US" sz="1000" dirty="0"/>
              <a:t>4</a:t>
            </a:r>
            <a:endParaRPr lang="en-IN" dirty="0"/>
          </a:p>
        </p:txBody>
      </p:sp>
      <p:cxnSp>
        <p:nvCxnSpPr>
          <p:cNvPr id="106" name="Straight Arrow Connector 105">
            <a:extLst>
              <a:ext uri="{FF2B5EF4-FFF2-40B4-BE49-F238E27FC236}">
                <a16:creationId xmlns:a16="http://schemas.microsoft.com/office/drawing/2014/main" id="{427811BD-DA97-D506-153D-58E74644BE87}"/>
              </a:ext>
            </a:extLst>
          </p:cNvPr>
          <p:cNvCxnSpPr>
            <a:endCxn id="76" idx="1"/>
          </p:cNvCxnSpPr>
          <p:nvPr/>
        </p:nvCxnSpPr>
        <p:spPr>
          <a:xfrm>
            <a:off x="809625" y="4503311"/>
            <a:ext cx="10438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Connector 107">
            <a:extLst>
              <a:ext uri="{FF2B5EF4-FFF2-40B4-BE49-F238E27FC236}">
                <a16:creationId xmlns:a16="http://schemas.microsoft.com/office/drawing/2014/main" id="{A9D22510-84CB-5797-BB09-5D9453049167}"/>
              </a:ext>
            </a:extLst>
          </p:cNvPr>
          <p:cNvCxnSpPr/>
          <p:nvPr/>
        </p:nvCxnSpPr>
        <p:spPr>
          <a:xfrm>
            <a:off x="3870960" y="3427081"/>
            <a:ext cx="0" cy="595548"/>
          </a:xfrm>
          <a:prstGeom prst="line">
            <a:avLst/>
          </a:prstGeom>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231AF43F-3C2C-173A-65E7-52F9A13E88CB}"/>
              </a:ext>
            </a:extLst>
          </p:cNvPr>
          <p:cNvCxnSpPr>
            <a:cxnSpLocks/>
          </p:cNvCxnSpPr>
          <p:nvPr/>
        </p:nvCxnSpPr>
        <p:spPr>
          <a:xfrm flipH="1">
            <a:off x="2446020" y="4022629"/>
            <a:ext cx="1424940" cy="0"/>
          </a:xfrm>
          <a:prstGeom prst="line">
            <a:avLst/>
          </a:prstGeom>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a16="http://schemas.microsoft.com/office/drawing/2014/main" id="{5EAD84E3-DCB4-B20D-8A58-3BA8A194D6C5}"/>
              </a:ext>
            </a:extLst>
          </p:cNvPr>
          <p:cNvCxnSpPr>
            <a:cxnSpLocks/>
          </p:cNvCxnSpPr>
          <p:nvPr/>
        </p:nvCxnSpPr>
        <p:spPr>
          <a:xfrm>
            <a:off x="2446020" y="4022629"/>
            <a:ext cx="0" cy="1044671"/>
          </a:xfrm>
          <a:prstGeom prst="line">
            <a:avLst/>
          </a:prstGeom>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1CDFA6DA-6EE1-A661-0F4F-C426466BAFE2}"/>
              </a:ext>
            </a:extLst>
          </p:cNvPr>
          <p:cNvCxnSpPr>
            <a:cxnSpLocks/>
          </p:cNvCxnSpPr>
          <p:nvPr/>
        </p:nvCxnSpPr>
        <p:spPr>
          <a:xfrm flipH="1">
            <a:off x="809625" y="5131444"/>
            <a:ext cx="1636395" cy="0"/>
          </a:xfrm>
          <a:prstGeom prst="line">
            <a:avLst/>
          </a:prstGeom>
        </p:spPr>
        <p:style>
          <a:lnRef idx="1">
            <a:schemeClr val="dk1"/>
          </a:lnRef>
          <a:fillRef idx="0">
            <a:schemeClr val="dk1"/>
          </a:fillRef>
          <a:effectRef idx="0">
            <a:schemeClr val="dk1"/>
          </a:effectRef>
          <a:fontRef idx="minor">
            <a:schemeClr val="tx1"/>
          </a:fontRef>
        </p:style>
      </p:cxnSp>
      <p:cxnSp>
        <p:nvCxnSpPr>
          <p:cNvPr id="121" name="Straight Connector 120">
            <a:extLst>
              <a:ext uri="{FF2B5EF4-FFF2-40B4-BE49-F238E27FC236}">
                <a16:creationId xmlns:a16="http://schemas.microsoft.com/office/drawing/2014/main" id="{58D25135-8ECF-073B-E6AE-075B640B8368}"/>
              </a:ext>
            </a:extLst>
          </p:cNvPr>
          <p:cNvCxnSpPr>
            <a:cxnSpLocks/>
          </p:cNvCxnSpPr>
          <p:nvPr/>
        </p:nvCxnSpPr>
        <p:spPr>
          <a:xfrm>
            <a:off x="731044" y="5131444"/>
            <a:ext cx="0" cy="324384"/>
          </a:xfrm>
          <a:prstGeom prst="line">
            <a:avLst/>
          </a:prstGeom>
        </p:spPr>
        <p:style>
          <a:lnRef idx="1">
            <a:schemeClr val="dk1"/>
          </a:lnRef>
          <a:fillRef idx="0">
            <a:schemeClr val="dk1"/>
          </a:fillRef>
          <a:effectRef idx="0">
            <a:schemeClr val="dk1"/>
          </a:effectRef>
          <a:fontRef idx="minor">
            <a:schemeClr val="tx1"/>
          </a:fontRef>
        </p:style>
      </p:cxnSp>
      <p:cxnSp>
        <p:nvCxnSpPr>
          <p:cNvPr id="134" name="Straight Arrow Connector 133">
            <a:extLst>
              <a:ext uri="{FF2B5EF4-FFF2-40B4-BE49-F238E27FC236}">
                <a16:creationId xmlns:a16="http://schemas.microsoft.com/office/drawing/2014/main" id="{E242228A-6590-446F-9AF4-5BA42C392D03}"/>
              </a:ext>
            </a:extLst>
          </p:cNvPr>
          <p:cNvCxnSpPr>
            <a:endCxn id="28" idx="1"/>
          </p:cNvCxnSpPr>
          <p:nvPr/>
        </p:nvCxnSpPr>
        <p:spPr>
          <a:xfrm>
            <a:off x="809625" y="5455828"/>
            <a:ext cx="7148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Connector 135">
            <a:extLst>
              <a:ext uri="{FF2B5EF4-FFF2-40B4-BE49-F238E27FC236}">
                <a16:creationId xmlns:a16="http://schemas.microsoft.com/office/drawing/2014/main" id="{822EDC28-6FA7-DF78-CBBF-998832F36C8D}"/>
              </a:ext>
            </a:extLst>
          </p:cNvPr>
          <p:cNvCxnSpPr/>
          <p:nvPr/>
        </p:nvCxnSpPr>
        <p:spPr>
          <a:xfrm>
            <a:off x="728663" y="5455828"/>
            <a:ext cx="80962" cy="0"/>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0C6799B7-7BC9-6FBB-98F4-207F3EE73D58}"/>
              </a:ext>
            </a:extLst>
          </p:cNvPr>
          <p:cNvCxnSpPr/>
          <p:nvPr/>
        </p:nvCxnSpPr>
        <p:spPr>
          <a:xfrm>
            <a:off x="731044" y="5131444"/>
            <a:ext cx="78581" cy="0"/>
          </a:xfrm>
          <a:prstGeom prst="line">
            <a:avLst/>
          </a:prstGeom>
        </p:spPr>
        <p:style>
          <a:lnRef idx="1">
            <a:schemeClr val="dk1"/>
          </a:lnRef>
          <a:fillRef idx="0">
            <a:schemeClr val="dk1"/>
          </a:fillRef>
          <a:effectRef idx="0">
            <a:schemeClr val="dk1"/>
          </a:effectRef>
          <a:fontRef idx="minor">
            <a:schemeClr val="tx1"/>
          </a:fontRef>
        </p:style>
      </p:cxnSp>
      <p:cxnSp>
        <p:nvCxnSpPr>
          <p:cNvPr id="140" name="Straight Connector 139">
            <a:extLst>
              <a:ext uri="{FF2B5EF4-FFF2-40B4-BE49-F238E27FC236}">
                <a16:creationId xmlns:a16="http://schemas.microsoft.com/office/drawing/2014/main" id="{12E1C298-D83D-1EFA-FFEC-60548C8352E9}"/>
              </a:ext>
            </a:extLst>
          </p:cNvPr>
          <p:cNvCxnSpPr/>
          <p:nvPr/>
        </p:nvCxnSpPr>
        <p:spPr>
          <a:xfrm>
            <a:off x="728663" y="2815593"/>
            <a:ext cx="80962" cy="0"/>
          </a:xfrm>
          <a:prstGeom prst="line">
            <a:avLst/>
          </a:prstGeom>
        </p:spPr>
        <p:style>
          <a:lnRef idx="1">
            <a:schemeClr val="dk1"/>
          </a:lnRef>
          <a:fillRef idx="0">
            <a:schemeClr val="dk1"/>
          </a:fillRef>
          <a:effectRef idx="0">
            <a:schemeClr val="dk1"/>
          </a:effectRef>
          <a:fontRef idx="minor">
            <a:schemeClr val="tx1"/>
          </a:fontRef>
        </p:style>
      </p:cxnSp>
      <p:cxnSp>
        <p:nvCxnSpPr>
          <p:cNvPr id="142" name="Straight Connector 141">
            <a:extLst>
              <a:ext uri="{FF2B5EF4-FFF2-40B4-BE49-F238E27FC236}">
                <a16:creationId xmlns:a16="http://schemas.microsoft.com/office/drawing/2014/main" id="{75D787F0-889E-C82A-AAE5-11A4A551137F}"/>
              </a:ext>
            </a:extLst>
          </p:cNvPr>
          <p:cNvCxnSpPr/>
          <p:nvPr/>
        </p:nvCxnSpPr>
        <p:spPr>
          <a:xfrm>
            <a:off x="747713" y="3427081"/>
            <a:ext cx="61912" cy="0"/>
          </a:xfrm>
          <a:prstGeom prst="line">
            <a:avLst/>
          </a:prstGeom>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25C3DA03-2F68-40C7-79A9-3A8DEBA98326}"/>
              </a:ext>
            </a:extLst>
          </p:cNvPr>
          <p:cNvCxnSpPr>
            <a:cxnSpLocks/>
          </p:cNvCxnSpPr>
          <p:nvPr/>
        </p:nvCxnSpPr>
        <p:spPr>
          <a:xfrm>
            <a:off x="2446020" y="5045075"/>
            <a:ext cx="0" cy="86369"/>
          </a:xfrm>
          <a:prstGeom prst="line">
            <a:avLst/>
          </a:prstGeom>
        </p:spPr>
        <p:style>
          <a:lnRef idx="1">
            <a:schemeClr val="dk1"/>
          </a:lnRef>
          <a:fillRef idx="0">
            <a:schemeClr val="dk1"/>
          </a:fillRef>
          <a:effectRef idx="0">
            <a:schemeClr val="dk1"/>
          </a:effectRef>
          <a:fontRef idx="minor">
            <a:schemeClr val="tx1"/>
          </a:fontRef>
        </p:style>
      </p:cxnSp>
      <p:sp>
        <p:nvSpPr>
          <p:cNvPr id="149" name="Trapezoid 148">
            <a:extLst>
              <a:ext uri="{FF2B5EF4-FFF2-40B4-BE49-F238E27FC236}">
                <a16:creationId xmlns:a16="http://schemas.microsoft.com/office/drawing/2014/main" id="{DEC35C82-7EE5-BE53-8209-2A2C0FF99541}"/>
              </a:ext>
            </a:extLst>
          </p:cNvPr>
          <p:cNvSpPr/>
          <p:nvPr/>
        </p:nvSpPr>
        <p:spPr>
          <a:xfrm rot="5400000">
            <a:off x="5271900" y="4817540"/>
            <a:ext cx="961365" cy="370814"/>
          </a:xfrm>
          <a:prstGeom prst="trapezoid">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numCol="3" rtlCol="0" anchor="ctr"/>
          <a:lstStyle/>
          <a:p>
            <a:pPr algn="ctr"/>
            <a:r>
              <a:rPr lang="en-US" dirty="0"/>
              <a:t>MUX</a:t>
            </a:r>
            <a:endParaRPr lang="en-IN" dirty="0"/>
          </a:p>
        </p:txBody>
      </p:sp>
      <p:cxnSp>
        <p:nvCxnSpPr>
          <p:cNvPr id="151" name="Straight Arrow Connector 150">
            <a:extLst>
              <a:ext uri="{FF2B5EF4-FFF2-40B4-BE49-F238E27FC236}">
                <a16:creationId xmlns:a16="http://schemas.microsoft.com/office/drawing/2014/main" id="{3BF47C17-D0C5-F0B1-4A19-B9F862916CD4}"/>
              </a:ext>
            </a:extLst>
          </p:cNvPr>
          <p:cNvCxnSpPr/>
          <p:nvPr/>
        </p:nvCxnSpPr>
        <p:spPr>
          <a:xfrm>
            <a:off x="5384006" y="4662488"/>
            <a:ext cx="1831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A1ED1BA1-0B0B-8DD9-2812-150638BD397F}"/>
              </a:ext>
            </a:extLst>
          </p:cNvPr>
          <p:cNvCxnSpPr/>
          <p:nvPr/>
        </p:nvCxnSpPr>
        <p:spPr>
          <a:xfrm>
            <a:off x="3931444" y="4997171"/>
            <a:ext cx="0" cy="672585"/>
          </a:xfrm>
          <a:prstGeom prst="line">
            <a:avLst/>
          </a:prstGeom>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0AED1E79-5F24-371E-6FC8-A2C75C2A2588}"/>
              </a:ext>
            </a:extLst>
          </p:cNvPr>
          <p:cNvCxnSpPr/>
          <p:nvPr/>
        </p:nvCxnSpPr>
        <p:spPr>
          <a:xfrm>
            <a:off x="3931444" y="5672138"/>
            <a:ext cx="1535906" cy="0"/>
          </a:xfrm>
          <a:prstGeom prst="line">
            <a:avLst/>
          </a:prstGeom>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5DAED932-0284-CC35-15DD-4F954E69E66E}"/>
              </a:ext>
            </a:extLst>
          </p:cNvPr>
          <p:cNvCxnSpPr>
            <a:cxnSpLocks/>
          </p:cNvCxnSpPr>
          <p:nvPr/>
        </p:nvCxnSpPr>
        <p:spPr>
          <a:xfrm flipH="1" flipV="1">
            <a:off x="5452107" y="5131444"/>
            <a:ext cx="9525" cy="538312"/>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30A72030-A0EE-FEBE-3F5A-38C601C3A33B}"/>
              </a:ext>
            </a:extLst>
          </p:cNvPr>
          <p:cNvCxnSpPr>
            <a:cxnSpLocks/>
          </p:cNvCxnSpPr>
          <p:nvPr/>
        </p:nvCxnSpPr>
        <p:spPr>
          <a:xfrm>
            <a:off x="5452107" y="5131444"/>
            <a:ext cx="1150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Connector 165">
            <a:extLst>
              <a:ext uri="{FF2B5EF4-FFF2-40B4-BE49-F238E27FC236}">
                <a16:creationId xmlns:a16="http://schemas.microsoft.com/office/drawing/2014/main" id="{89108F27-2B1B-B9E5-24D4-CDCD9296B668}"/>
              </a:ext>
            </a:extLst>
          </p:cNvPr>
          <p:cNvCxnSpPr>
            <a:cxnSpLocks/>
            <a:stCxn id="149" idx="0"/>
          </p:cNvCxnSpPr>
          <p:nvPr/>
        </p:nvCxnSpPr>
        <p:spPr>
          <a:xfrm>
            <a:off x="5937990" y="5002948"/>
            <a:ext cx="115068" cy="0"/>
          </a:xfrm>
          <a:prstGeom prst="line">
            <a:avLst/>
          </a:prstGeom>
        </p:spPr>
        <p:style>
          <a:lnRef idx="1">
            <a:schemeClr val="dk1"/>
          </a:lnRef>
          <a:fillRef idx="0">
            <a:schemeClr val="dk1"/>
          </a:fillRef>
          <a:effectRef idx="0">
            <a:schemeClr val="dk1"/>
          </a:effectRef>
          <a:fontRef idx="minor">
            <a:schemeClr val="tx1"/>
          </a:fontRef>
        </p:style>
      </p:cxnSp>
      <p:cxnSp>
        <p:nvCxnSpPr>
          <p:cNvPr id="173" name="Straight Connector 172">
            <a:extLst>
              <a:ext uri="{FF2B5EF4-FFF2-40B4-BE49-F238E27FC236}">
                <a16:creationId xmlns:a16="http://schemas.microsoft.com/office/drawing/2014/main" id="{E29FF08F-1E7A-AACB-908A-DA176A849746}"/>
              </a:ext>
            </a:extLst>
          </p:cNvPr>
          <p:cNvCxnSpPr/>
          <p:nvPr/>
        </p:nvCxnSpPr>
        <p:spPr>
          <a:xfrm flipV="1">
            <a:off x="6046267" y="3391079"/>
            <a:ext cx="0" cy="1606091"/>
          </a:xfrm>
          <a:prstGeom prst="line">
            <a:avLst/>
          </a:prstGeom>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91DF2A92-D63C-321C-5C6E-CC95B110C5D9}"/>
              </a:ext>
            </a:extLst>
          </p:cNvPr>
          <p:cNvCxnSpPr/>
          <p:nvPr/>
        </p:nvCxnSpPr>
        <p:spPr>
          <a:xfrm flipH="1">
            <a:off x="5271247" y="3391079"/>
            <a:ext cx="7818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rapezoid 9">
            <a:extLst>
              <a:ext uri="{FF2B5EF4-FFF2-40B4-BE49-F238E27FC236}">
                <a16:creationId xmlns:a16="http://schemas.microsoft.com/office/drawing/2014/main" id="{08DCED47-13E8-7874-33C9-F6C01ADAEF18}"/>
              </a:ext>
            </a:extLst>
          </p:cNvPr>
          <p:cNvSpPr/>
          <p:nvPr/>
        </p:nvSpPr>
        <p:spPr>
          <a:xfrm rot="5400000">
            <a:off x="2377573" y="5422479"/>
            <a:ext cx="417239" cy="213688"/>
          </a:xfrm>
          <a:prstGeom prst="trapezoid">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numCol="3" rtlCol="0" anchor="ctr"/>
          <a:lstStyle/>
          <a:p>
            <a:pPr algn="ctr"/>
            <a:r>
              <a:rPr lang="en-US" sz="700" dirty="0">
                <a:latin typeface="Aptos Narrow" panose="020B0004020202020204" pitchFamily="34" charset="0"/>
              </a:rPr>
              <a:t>MUX</a:t>
            </a:r>
            <a:endParaRPr lang="en-IN" dirty="0">
              <a:latin typeface="Aptos Narrow" panose="020B0004020202020204" pitchFamily="34" charset="0"/>
            </a:endParaRPr>
          </a:p>
        </p:txBody>
      </p:sp>
      <p:cxnSp>
        <p:nvCxnSpPr>
          <p:cNvPr id="14" name="Straight Arrow Connector 13">
            <a:extLst>
              <a:ext uri="{FF2B5EF4-FFF2-40B4-BE49-F238E27FC236}">
                <a16:creationId xmlns:a16="http://schemas.microsoft.com/office/drawing/2014/main" id="{DB5D57D7-4683-CC5A-1C09-549EB103EB98}"/>
              </a:ext>
            </a:extLst>
          </p:cNvPr>
          <p:cNvCxnSpPr>
            <a:stCxn id="10" idx="0"/>
          </p:cNvCxnSpPr>
          <p:nvPr/>
        </p:nvCxnSpPr>
        <p:spPr>
          <a:xfrm>
            <a:off x="2693037" y="5529324"/>
            <a:ext cx="183186" cy="47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1C5CBD4-CDE9-5197-F43B-5553BF069085}"/>
              </a:ext>
            </a:extLst>
          </p:cNvPr>
          <p:cNvSpPr txBox="1"/>
          <p:nvPr/>
        </p:nvSpPr>
        <p:spPr>
          <a:xfrm>
            <a:off x="2455732" y="4175633"/>
            <a:ext cx="769173" cy="246221"/>
          </a:xfrm>
          <a:prstGeom prst="rect">
            <a:avLst/>
          </a:prstGeom>
          <a:noFill/>
        </p:spPr>
        <p:txBody>
          <a:bodyPr wrap="square" rtlCol="0">
            <a:spAutoFit/>
          </a:bodyPr>
          <a:lstStyle/>
          <a:p>
            <a:r>
              <a:rPr lang="en-US" sz="1000" dirty="0"/>
              <a:t>RD1</a:t>
            </a:r>
            <a:endParaRPr lang="en-IN" dirty="0"/>
          </a:p>
        </p:txBody>
      </p:sp>
      <p:cxnSp>
        <p:nvCxnSpPr>
          <p:cNvPr id="17" name="Straight Connector 16">
            <a:extLst>
              <a:ext uri="{FF2B5EF4-FFF2-40B4-BE49-F238E27FC236}">
                <a16:creationId xmlns:a16="http://schemas.microsoft.com/office/drawing/2014/main" id="{A93703D7-7335-7BFA-5001-816446A03E95}"/>
              </a:ext>
            </a:extLst>
          </p:cNvPr>
          <p:cNvCxnSpPr>
            <a:cxnSpLocks/>
          </p:cNvCxnSpPr>
          <p:nvPr/>
        </p:nvCxnSpPr>
        <p:spPr>
          <a:xfrm flipH="1">
            <a:off x="2479348" y="4117321"/>
            <a:ext cx="2360806"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BAB1C22B-CBA7-4606-8AB4-105435675501}"/>
              </a:ext>
            </a:extLst>
          </p:cNvPr>
          <p:cNvCxnSpPr>
            <a:cxnSpLocks/>
          </p:cNvCxnSpPr>
          <p:nvPr/>
        </p:nvCxnSpPr>
        <p:spPr>
          <a:xfrm>
            <a:off x="4839780" y="3907763"/>
            <a:ext cx="374" cy="209558"/>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9245F6A3-5519-1895-848A-9ABC1372914C}"/>
              </a:ext>
            </a:extLst>
          </p:cNvPr>
          <p:cNvCxnSpPr>
            <a:cxnSpLocks/>
          </p:cNvCxnSpPr>
          <p:nvPr/>
        </p:nvCxnSpPr>
        <p:spPr>
          <a:xfrm>
            <a:off x="2479348" y="4117321"/>
            <a:ext cx="0" cy="1044671"/>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C5A4F2B-694B-364B-22CA-372556DD9ACD}"/>
              </a:ext>
            </a:extLst>
          </p:cNvPr>
          <p:cNvCxnSpPr>
            <a:cxnSpLocks/>
          </p:cNvCxnSpPr>
          <p:nvPr/>
        </p:nvCxnSpPr>
        <p:spPr>
          <a:xfrm flipH="1">
            <a:off x="2260600" y="5165811"/>
            <a:ext cx="218748"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C417E7AB-B95C-D19F-53EB-D0A7659B57FE}"/>
              </a:ext>
            </a:extLst>
          </p:cNvPr>
          <p:cNvCxnSpPr>
            <a:cxnSpLocks/>
          </p:cNvCxnSpPr>
          <p:nvPr/>
        </p:nvCxnSpPr>
        <p:spPr>
          <a:xfrm>
            <a:off x="2260600" y="5161992"/>
            <a:ext cx="0" cy="238608"/>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4373E45F-3324-B9C8-BF0A-1E49FB931AE2}"/>
              </a:ext>
            </a:extLst>
          </p:cNvPr>
          <p:cNvCxnSpPr>
            <a:cxnSpLocks/>
          </p:cNvCxnSpPr>
          <p:nvPr/>
        </p:nvCxnSpPr>
        <p:spPr>
          <a:xfrm>
            <a:off x="2255679" y="5400600"/>
            <a:ext cx="160262"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E04FABC-FAC5-814A-7FFA-8521476CA440}"/>
              </a:ext>
            </a:extLst>
          </p:cNvPr>
          <p:cNvCxnSpPr/>
          <p:nvPr/>
        </p:nvCxnSpPr>
        <p:spPr>
          <a:xfrm>
            <a:off x="2415941" y="5400600"/>
            <a:ext cx="7148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ED0B59AC-38C9-A545-8F9B-01018F0D8B1A}"/>
              </a:ext>
            </a:extLst>
          </p:cNvPr>
          <p:cNvSpPr txBox="1"/>
          <p:nvPr/>
        </p:nvSpPr>
        <p:spPr>
          <a:xfrm>
            <a:off x="2188075" y="5128012"/>
            <a:ext cx="490233" cy="246221"/>
          </a:xfrm>
          <a:prstGeom prst="rect">
            <a:avLst/>
          </a:prstGeom>
          <a:noFill/>
        </p:spPr>
        <p:txBody>
          <a:bodyPr wrap="square" rtlCol="0">
            <a:spAutoFit/>
          </a:bodyPr>
          <a:lstStyle/>
          <a:p>
            <a:r>
              <a:rPr lang="en-US" sz="1000" dirty="0"/>
              <a:t>RD2</a:t>
            </a:r>
            <a:endParaRPr lang="en-IN" dirty="0"/>
          </a:p>
        </p:txBody>
      </p:sp>
      <p:sp>
        <p:nvSpPr>
          <p:cNvPr id="52" name="TextBox 51">
            <a:extLst>
              <a:ext uri="{FF2B5EF4-FFF2-40B4-BE49-F238E27FC236}">
                <a16:creationId xmlns:a16="http://schemas.microsoft.com/office/drawing/2014/main" id="{05CB2501-AC66-9D22-D37D-52B64149966A}"/>
              </a:ext>
            </a:extLst>
          </p:cNvPr>
          <p:cNvSpPr txBox="1"/>
          <p:nvPr/>
        </p:nvSpPr>
        <p:spPr>
          <a:xfrm>
            <a:off x="2821712" y="4238151"/>
            <a:ext cx="282272" cy="261610"/>
          </a:xfrm>
          <a:prstGeom prst="rect">
            <a:avLst/>
          </a:prstGeom>
          <a:noFill/>
        </p:spPr>
        <p:txBody>
          <a:bodyPr wrap="square" rtlCol="0">
            <a:spAutoFit/>
          </a:bodyPr>
          <a:lstStyle/>
          <a:p>
            <a:r>
              <a:rPr lang="en-US" sz="1050" dirty="0"/>
              <a:t>0</a:t>
            </a:r>
            <a:endParaRPr lang="en-IN" sz="1050" dirty="0"/>
          </a:p>
        </p:txBody>
      </p:sp>
      <p:sp>
        <p:nvSpPr>
          <p:cNvPr id="53" name="TextBox 52">
            <a:extLst>
              <a:ext uri="{FF2B5EF4-FFF2-40B4-BE49-F238E27FC236}">
                <a16:creationId xmlns:a16="http://schemas.microsoft.com/office/drawing/2014/main" id="{7BD713E4-4501-8FDC-F408-5FAE7C80258E}"/>
              </a:ext>
            </a:extLst>
          </p:cNvPr>
          <p:cNvSpPr txBox="1"/>
          <p:nvPr/>
        </p:nvSpPr>
        <p:spPr>
          <a:xfrm>
            <a:off x="2841199" y="5400600"/>
            <a:ext cx="282272" cy="261610"/>
          </a:xfrm>
          <a:prstGeom prst="rect">
            <a:avLst/>
          </a:prstGeom>
          <a:noFill/>
        </p:spPr>
        <p:txBody>
          <a:bodyPr wrap="square" rtlCol="0">
            <a:spAutoFit/>
          </a:bodyPr>
          <a:lstStyle/>
          <a:p>
            <a:r>
              <a:rPr lang="en-US" sz="1050" dirty="0"/>
              <a:t>1</a:t>
            </a:r>
            <a:endParaRPr lang="en-IN" sz="1050" dirty="0"/>
          </a:p>
        </p:txBody>
      </p:sp>
    </p:spTree>
    <p:extLst>
      <p:ext uri="{BB962C8B-B14F-4D97-AF65-F5344CB8AC3E}">
        <p14:creationId xmlns:p14="http://schemas.microsoft.com/office/powerpoint/2010/main" val="3769238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F49CF-9263-746D-554E-07C30D140067}"/>
              </a:ext>
            </a:extLst>
          </p:cNvPr>
          <p:cNvSpPr>
            <a:spLocks noGrp="1"/>
          </p:cNvSpPr>
          <p:nvPr>
            <p:ph type="title"/>
          </p:nvPr>
        </p:nvSpPr>
        <p:spPr>
          <a:xfrm>
            <a:off x="750367" y="152400"/>
            <a:ext cx="10691265" cy="520700"/>
          </a:xfrm>
        </p:spPr>
        <p:txBody>
          <a:bodyPr>
            <a:normAutofit fontScale="90000"/>
          </a:bodyPr>
          <a:lstStyle/>
          <a:p>
            <a:pPr algn="ctr"/>
            <a:r>
              <a:rPr lang="en-US" dirty="0"/>
              <a:t>The </a:t>
            </a:r>
            <a:r>
              <a:rPr lang="en-US" dirty="0" err="1"/>
              <a:t>datapath</a:t>
            </a:r>
            <a:endParaRPr lang="en-IN" dirty="0"/>
          </a:p>
        </p:txBody>
      </p:sp>
      <p:sp>
        <p:nvSpPr>
          <p:cNvPr id="3" name="Content Placeholder 2">
            <a:extLst>
              <a:ext uri="{FF2B5EF4-FFF2-40B4-BE49-F238E27FC236}">
                <a16:creationId xmlns:a16="http://schemas.microsoft.com/office/drawing/2014/main" id="{C03CE776-D378-1724-C60B-338F49541AB2}"/>
              </a:ext>
            </a:extLst>
          </p:cNvPr>
          <p:cNvSpPr>
            <a:spLocks noGrp="1"/>
          </p:cNvSpPr>
          <p:nvPr>
            <p:ph idx="1"/>
          </p:nvPr>
        </p:nvSpPr>
        <p:spPr>
          <a:xfrm>
            <a:off x="700635" y="762000"/>
            <a:ext cx="10691265" cy="5397500"/>
          </a:xfrm>
        </p:spPr>
        <p:txBody>
          <a:bodyPr>
            <a:normAutofit fontScale="85000" lnSpcReduction="20000"/>
          </a:bodyPr>
          <a:lstStyle/>
          <a:p>
            <a:pPr marL="0" indent="0">
              <a:lnSpc>
                <a:spcPct val="100000"/>
              </a:lnSpc>
              <a:buNone/>
            </a:pPr>
            <a:r>
              <a:rPr lang="en-US" sz="1800" dirty="0">
                <a:latin typeface="Calibri" panose="020F0502020204030204" pitchFamily="34" charset="0"/>
                <a:cs typeface="Calibri" panose="020F0502020204030204" pitchFamily="34" charset="0"/>
              </a:rPr>
              <a:t>The </a:t>
            </a:r>
            <a:r>
              <a:rPr lang="en-US" sz="1800" b="1" dirty="0">
                <a:latin typeface="Calibri" panose="020F0502020204030204" pitchFamily="34" charset="0"/>
                <a:cs typeface="Calibri" panose="020F0502020204030204" pitchFamily="34" charset="0"/>
              </a:rPr>
              <a:t>Datapath</a:t>
            </a:r>
            <a:r>
              <a:rPr lang="en-US" sz="1800" dirty="0">
                <a:latin typeface="Calibri" panose="020F0502020204030204" pitchFamily="34" charset="0"/>
                <a:cs typeface="Calibri" panose="020F0502020204030204" pitchFamily="34" charset="0"/>
              </a:rPr>
              <a:t> is the part of the processor that </a:t>
            </a:r>
            <a:r>
              <a:rPr lang="en-US" sz="1800" b="1" dirty="0">
                <a:latin typeface="Calibri" panose="020F0502020204030204" pitchFamily="34" charset="0"/>
                <a:cs typeface="Calibri" panose="020F0502020204030204" pitchFamily="34" charset="0"/>
              </a:rPr>
              <a:t>performs operations on data</a:t>
            </a:r>
            <a:r>
              <a:rPr lang="en-US" sz="1800" dirty="0">
                <a:latin typeface="Calibri" panose="020F0502020204030204" pitchFamily="34" charset="0"/>
                <a:cs typeface="Calibri" panose="020F0502020204030204" pitchFamily="34" charset="0"/>
              </a:rPr>
              <a:t> — such as fetching, computing, and storing — under the control of the </a:t>
            </a:r>
            <a:r>
              <a:rPr lang="en-US" sz="1800" b="1" dirty="0">
                <a:latin typeface="Calibri" panose="020F0502020204030204" pitchFamily="34" charset="0"/>
                <a:cs typeface="Calibri" panose="020F0502020204030204" pitchFamily="34" charset="0"/>
              </a:rPr>
              <a:t>Control Unit</a:t>
            </a:r>
            <a:r>
              <a:rPr lang="en-US" sz="1800" dirty="0">
                <a:latin typeface="Calibri" panose="020F0502020204030204" pitchFamily="34" charset="0"/>
                <a:cs typeface="Calibri" panose="020F0502020204030204" pitchFamily="34" charset="0"/>
              </a:rPr>
              <a:t>. The Datapath consists of :</a:t>
            </a:r>
            <a:br>
              <a:rPr lang="en-US" sz="1800" dirty="0">
                <a:latin typeface="Calibri" panose="020F0502020204030204" pitchFamily="34" charset="0"/>
                <a:cs typeface="Calibri" panose="020F0502020204030204" pitchFamily="34" charset="0"/>
              </a:rPr>
            </a:br>
            <a:r>
              <a:rPr lang="en-US" sz="1800" b="1" dirty="0" err="1">
                <a:latin typeface="Calibri" panose="020F0502020204030204" pitchFamily="34" charset="0"/>
                <a:cs typeface="Calibri" panose="020F0502020204030204" pitchFamily="34" charset="0"/>
              </a:rPr>
              <a:t>i</a:t>
            </a:r>
            <a:r>
              <a:rPr lang="en-US" sz="1800" b="1"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 </a:t>
            </a:r>
            <a:r>
              <a:rPr lang="en-US" sz="1800" b="1" u="sng" dirty="0">
                <a:latin typeface="Calibri" panose="020F0502020204030204" pitchFamily="34" charset="0"/>
                <a:cs typeface="Calibri" panose="020F0502020204030204" pitchFamily="34" charset="0"/>
              </a:rPr>
              <a:t>The Program Counter : </a:t>
            </a:r>
            <a:r>
              <a:rPr lang="en-US" sz="1800" dirty="0">
                <a:latin typeface="Calibri" panose="020F0502020204030204" pitchFamily="34" charset="0"/>
                <a:cs typeface="Calibri" panose="020F0502020204030204" pitchFamily="34" charset="0"/>
              </a:rPr>
              <a:t>The </a:t>
            </a:r>
            <a:r>
              <a:rPr lang="en-US" sz="1800" b="1" dirty="0">
                <a:latin typeface="Calibri" panose="020F0502020204030204" pitchFamily="34" charset="0"/>
                <a:cs typeface="Calibri" panose="020F0502020204030204" pitchFamily="34" charset="0"/>
              </a:rPr>
              <a:t>Program Counter</a:t>
            </a:r>
            <a:r>
              <a:rPr lang="en-US" sz="1800" dirty="0">
                <a:latin typeface="Calibri" panose="020F0502020204030204" pitchFamily="34" charset="0"/>
                <a:cs typeface="Calibri" panose="020F0502020204030204" pitchFamily="34" charset="0"/>
              </a:rPr>
              <a:t> is a register that holds the </a:t>
            </a:r>
            <a:r>
              <a:rPr lang="en-US" sz="1800" b="1" dirty="0">
                <a:latin typeface="Calibri" panose="020F0502020204030204" pitchFamily="34" charset="0"/>
                <a:cs typeface="Calibri" panose="020F0502020204030204" pitchFamily="34" charset="0"/>
              </a:rPr>
              <a:t>address of the next instruction</a:t>
            </a:r>
            <a:r>
              <a:rPr lang="en-US" sz="1800" dirty="0">
                <a:latin typeface="Calibri" panose="020F0502020204030204" pitchFamily="34" charset="0"/>
                <a:cs typeface="Calibri" panose="020F0502020204030204" pitchFamily="34" charset="0"/>
              </a:rPr>
              <a:t> to execute. On every clock cycle the PC :</a:t>
            </a:r>
          </a:p>
          <a:p>
            <a:pPr marL="0" indent="0">
              <a:lnSpc>
                <a:spcPct val="100000"/>
              </a:lnSpc>
              <a:buNone/>
            </a:pPr>
            <a:r>
              <a:rPr lang="en-US" sz="1800" dirty="0">
                <a:latin typeface="Calibri" panose="020F0502020204030204" pitchFamily="34" charset="0"/>
                <a:cs typeface="Calibri" panose="020F0502020204030204" pitchFamily="34" charset="0"/>
              </a:rPr>
              <a:t>	a) Sends its value to </a:t>
            </a:r>
            <a:r>
              <a:rPr lang="en-US" sz="1800" b="1" dirty="0">
                <a:latin typeface="Calibri" panose="020F0502020204030204" pitchFamily="34" charset="0"/>
                <a:cs typeface="Calibri" panose="020F0502020204030204" pitchFamily="34" charset="0"/>
              </a:rPr>
              <a:t>Instruction Memory</a:t>
            </a:r>
            <a:r>
              <a:rPr lang="en-US" sz="1800" dirty="0">
                <a:latin typeface="Calibri" panose="020F0502020204030204" pitchFamily="34" charset="0"/>
                <a:cs typeface="Calibri" panose="020F0502020204030204" pitchFamily="34" charset="0"/>
              </a:rPr>
              <a:t> to fetch the current instruction.</a:t>
            </a:r>
          </a:p>
          <a:p>
            <a:pPr marL="0" indent="0">
              <a:lnSpc>
                <a:spcPct val="100000"/>
              </a:lnSpc>
              <a:buNone/>
            </a:pPr>
            <a:r>
              <a:rPr lang="en-US" sz="1800" dirty="0">
                <a:latin typeface="Calibri" panose="020F0502020204030204" pitchFamily="34" charset="0"/>
                <a:cs typeface="Calibri" panose="020F0502020204030204" pitchFamily="34" charset="0"/>
              </a:rPr>
              <a:t>	b) Gets updated to point to the next instruction (normally PC + 4 or to a </a:t>
            </a:r>
            <a:r>
              <a:rPr lang="en-US" sz="1800" b="1" dirty="0">
                <a:latin typeface="Calibri" panose="020F0502020204030204" pitchFamily="34" charset="0"/>
                <a:cs typeface="Calibri" panose="020F0502020204030204" pitchFamily="34" charset="0"/>
              </a:rPr>
              <a:t>branch</a:t>
            </a:r>
            <a:r>
              <a:rPr lang="en-US" sz="1800" dirty="0">
                <a:latin typeface="Calibri" panose="020F0502020204030204" pitchFamily="34" charset="0"/>
                <a:cs typeface="Calibri" panose="020F0502020204030204" pitchFamily="34" charset="0"/>
              </a:rPr>
              <a:t>/</a:t>
            </a:r>
            <a:r>
              <a:rPr lang="en-US" sz="1800" b="1" dirty="0">
                <a:latin typeface="Calibri" panose="020F0502020204030204" pitchFamily="34" charset="0"/>
                <a:cs typeface="Calibri" panose="020F0502020204030204" pitchFamily="34" charset="0"/>
              </a:rPr>
              <a:t>jump</a:t>
            </a:r>
            <a:r>
              <a:rPr lang="en-US" sz="1800" dirty="0">
                <a:latin typeface="Calibri" panose="020F0502020204030204" pitchFamily="34" charset="0"/>
                <a:cs typeface="Calibri" panose="020F0502020204030204" pitchFamily="34" charset="0"/>
              </a:rPr>
              <a:t> </a:t>
            </a:r>
            <a:r>
              <a:rPr lang="en-US" sz="1800" b="1" dirty="0">
                <a:latin typeface="Calibri" panose="020F0502020204030204" pitchFamily="34" charset="0"/>
                <a:cs typeface="Calibri" panose="020F0502020204030204" pitchFamily="34" charset="0"/>
              </a:rPr>
              <a:t>target</a:t>
            </a:r>
            <a:r>
              <a:rPr lang="en-US" sz="1800" dirty="0">
                <a:latin typeface="Calibri" panose="020F0502020204030204" pitchFamily="34" charset="0"/>
                <a:cs typeface="Calibri" panose="020F0502020204030204" pitchFamily="34" charset="0"/>
              </a:rPr>
              <a:t>).</a:t>
            </a:r>
          </a:p>
          <a:p>
            <a:pPr marL="0" indent="0">
              <a:lnSpc>
                <a:spcPct val="100000"/>
              </a:lnSpc>
              <a:buNone/>
            </a:pPr>
            <a:r>
              <a:rPr lang="en-US" sz="1800" b="1" dirty="0">
                <a:latin typeface="Calibri" panose="020F0502020204030204" pitchFamily="34" charset="0"/>
                <a:cs typeface="Calibri" panose="020F0502020204030204" pitchFamily="34" charset="0"/>
              </a:rPr>
              <a:t>ii) </a:t>
            </a:r>
            <a:r>
              <a:rPr lang="en-US" sz="1800" b="1" u="sng" dirty="0">
                <a:latin typeface="Calibri" panose="020F0502020204030204" pitchFamily="34" charset="0"/>
                <a:cs typeface="Calibri" panose="020F0502020204030204" pitchFamily="34" charset="0"/>
              </a:rPr>
              <a:t>The Instruction Memory :</a:t>
            </a:r>
            <a:r>
              <a:rPr lang="en-US" sz="1800" dirty="0">
                <a:latin typeface="Calibri" panose="020F0502020204030204" pitchFamily="34" charset="0"/>
                <a:cs typeface="Calibri" panose="020F0502020204030204" pitchFamily="34" charset="0"/>
              </a:rPr>
              <a:t> </a:t>
            </a:r>
            <a:r>
              <a:rPr lang="en-US" sz="1800" dirty="0"/>
              <a:t>A </a:t>
            </a:r>
            <a:r>
              <a:rPr lang="en-US" sz="1800" b="1" dirty="0"/>
              <a:t>Read-Only Memory (ROM)</a:t>
            </a:r>
            <a:r>
              <a:rPr lang="en-US" sz="1800" dirty="0"/>
              <a:t> block that stores the program's instructions (in binary format). The PC acts as an address input to this memory. Outputs a 32-bit instruction based on the PC’s value. Operates synchronously with the clock.</a:t>
            </a:r>
          </a:p>
          <a:p>
            <a:pPr marL="0" indent="0">
              <a:lnSpc>
                <a:spcPct val="100000"/>
              </a:lnSpc>
              <a:buNone/>
            </a:pPr>
            <a:r>
              <a:rPr lang="en-US" sz="1800" b="1" dirty="0">
                <a:latin typeface="Calibri" panose="020F0502020204030204" pitchFamily="34" charset="0"/>
                <a:cs typeface="Calibri" panose="020F0502020204030204" pitchFamily="34" charset="0"/>
              </a:rPr>
              <a:t>ii) </a:t>
            </a:r>
            <a:r>
              <a:rPr lang="en-US" sz="1800" b="1" u="sng" dirty="0">
                <a:latin typeface="Calibri" panose="020F0502020204030204" pitchFamily="34" charset="0"/>
                <a:cs typeface="Calibri" panose="020F0502020204030204" pitchFamily="34" charset="0"/>
              </a:rPr>
              <a:t>The Register File :</a:t>
            </a:r>
            <a:r>
              <a:rPr lang="en-US" sz="1800" dirty="0">
                <a:latin typeface="Calibri" panose="020F0502020204030204" pitchFamily="34" charset="0"/>
                <a:cs typeface="Calibri" panose="020F0502020204030204" pitchFamily="34" charset="0"/>
              </a:rPr>
              <a:t> A set of 32 registers (x0 to x31), each 32 bits wide. These registers are also called General Purpose Registers or GPR. Reads values from source registers rs1 and rs2. Writes the result to </a:t>
            </a:r>
            <a:r>
              <a:rPr lang="en-US" sz="1800" dirty="0" err="1">
                <a:latin typeface="Calibri" panose="020F0502020204030204" pitchFamily="34" charset="0"/>
                <a:cs typeface="Calibri" panose="020F0502020204030204" pitchFamily="34" charset="0"/>
              </a:rPr>
              <a:t>rd</a:t>
            </a:r>
            <a:r>
              <a:rPr lang="en-US" sz="1800" dirty="0">
                <a:latin typeface="Calibri" panose="020F0502020204030204" pitchFamily="34" charset="0"/>
                <a:cs typeface="Calibri" panose="020F0502020204030204" pitchFamily="34" charset="0"/>
              </a:rPr>
              <a:t> if </a:t>
            </a:r>
            <a:r>
              <a:rPr lang="en-US" sz="1800" dirty="0" err="1">
                <a:latin typeface="Calibri" panose="020F0502020204030204" pitchFamily="34" charset="0"/>
                <a:cs typeface="Calibri" panose="020F0502020204030204" pitchFamily="34" charset="0"/>
              </a:rPr>
              <a:t>RegWrite</a:t>
            </a:r>
            <a:r>
              <a:rPr lang="en-US" sz="1800" dirty="0">
                <a:latin typeface="Calibri" panose="020F0502020204030204" pitchFamily="34" charset="0"/>
                <a:cs typeface="Calibri" panose="020F0502020204030204" pitchFamily="34" charset="0"/>
              </a:rPr>
              <a:t> signal is active.</a:t>
            </a:r>
          </a:p>
          <a:p>
            <a:pPr marL="0" indent="0">
              <a:lnSpc>
                <a:spcPct val="100000"/>
              </a:lnSpc>
              <a:buNone/>
            </a:pPr>
            <a:r>
              <a:rPr lang="en-US" sz="1800" b="1" dirty="0">
                <a:latin typeface="Calibri" panose="020F0502020204030204" pitchFamily="34" charset="0"/>
                <a:cs typeface="Calibri" panose="020F0502020204030204" pitchFamily="34" charset="0"/>
              </a:rPr>
              <a:t>iv) </a:t>
            </a:r>
            <a:r>
              <a:rPr lang="en-IN" sz="1800" b="1" u="sng" dirty="0"/>
              <a:t>Sign Extender :</a:t>
            </a:r>
            <a:r>
              <a:rPr lang="en-IN" sz="1800" dirty="0"/>
              <a:t> </a:t>
            </a:r>
            <a:r>
              <a:rPr lang="en-US" sz="1800" dirty="0"/>
              <a:t>Extracts the immediate (constant) field from the instruction based on its format (I-type, S-type, etc.). Performs sign-extension (e.g., a 12-bit </a:t>
            </a:r>
            <a:r>
              <a:rPr lang="en-US" sz="1800" b="1" dirty="0" err="1"/>
              <a:t>imm</a:t>
            </a:r>
            <a:r>
              <a:rPr lang="en-US" sz="1800" dirty="0"/>
              <a:t> is extended to 32 bits with sign bit replicated). The generated immediate is used as a second operand in ALU operations or address offset in memory and branch instructions.</a:t>
            </a:r>
          </a:p>
          <a:p>
            <a:pPr marL="0" indent="0">
              <a:lnSpc>
                <a:spcPct val="100000"/>
              </a:lnSpc>
              <a:buNone/>
            </a:pPr>
            <a:r>
              <a:rPr lang="en-US" sz="1800" b="1" dirty="0"/>
              <a:t>v)</a:t>
            </a:r>
            <a:r>
              <a:rPr lang="en-US" sz="1800" dirty="0"/>
              <a:t> </a:t>
            </a:r>
            <a:r>
              <a:rPr lang="en-US" sz="1800" b="1" u="sng" dirty="0"/>
              <a:t>PC Adder :</a:t>
            </a:r>
            <a:r>
              <a:rPr lang="en-US" sz="1800" dirty="0"/>
              <a:t> A Simple Full Adder which adds a constant 4 (in decimal) to PC. It accepts PC’s output and generates PC+4 which is given to the Program Counter as an Input to point to the next Instruction.</a:t>
            </a:r>
          </a:p>
          <a:p>
            <a:pPr marL="0" indent="0">
              <a:lnSpc>
                <a:spcPct val="100000"/>
              </a:lnSpc>
              <a:buNone/>
            </a:pPr>
            <a:r>
              <a:rPr lang="en-US" sz="1800" b="1" dirty="0"/>
              <a:t>vi) </a:t>
            </a:r>
            <a:r>
              <a:rPr lang="en-US" sz="1800" b="1" u="sng" dirty="0"/>
              <a:t>ALU :</a:t>
            </a:r>
            <a:r>
              <a:rPr lang="en-US" sz="1800" dirty="0"/>
              <a:t> Performs core</a:t>
            </a:r>
            <a:r>
              <a:rPr lang="en-US" sz="1800" b="1" dirty="0"/>
              <a:t> Arithmetic </a:t>
            </a:r>
            <a:r>
              <a:rPr lang="en-US" sz="1800" dirty="0"/>
              <a:t>and</a:t>
            </a:r>
            <a:r>
              <a:rPr lang="en-US" sz="1800" b="1" dirty="0"/>
              <a:t> Logical </a:t>
            </a:r>
            <a:r>
              <a:rPr lang="en-US" sz="1800" dirty="0"/>
              <a:t>operations</a:t>
            </a:r>
            <a:r>
              <a:rPr lang="en-US" sz="1800" b="1" dirty="0"/>
              <a:t> </a:t>
            </a:r>
            <a:r>
              <a:rPr lang="en-US" sz="1800" dirty="0"/>
              <a:t>like add, or, </a:t>
            </a:r>
            <a:r>
              <a:rPr lang="en-US" sz="1800" dirty="0" err="1"/>
              <a:t>xor</a:t>
            </a:r>
            <a:r>
              <a:rPr lang="en-US" sz="1800" dirty="0"/>
              <a:t>, sub, compare etc. Its Inputs are rs1(fixed) and rs2 or Immediate. Its outputs are Zero and </a:t>
            </a:r>
            <a:r>
              <a:rPr lang="en-US" sz="1800" dirty="0" err="1"/>
              <a:t>ALUResult</a:t>
            </a:r>
            <a:r>
              <a:rPr lang="en-US" sz="1800" dirty="0"/>
              <a:t>.</a:t>
            </a:r>
          </a:p>
          <a:p>
            <a:pPr marL="0" indent="0">
              <a:lnSpc>
                <a:spcPct val="100000"/>
              </a:lnSpc>
              <a:buNone/>
            </a:pPr>
            <a:r>
              <a:rPr lang="en-US" sz="1800" b="1" dirty="0"/>
              <a:t>vii) </a:t>
            </a:r>
            <a:r>
              <a:rPr lang="en-US" sz="1800" b="1" u="sng" dirty="0"/>
              <a:t>MUX</a:t>
            </a:r>
            <a:r>
              <a:rPr lang="en-US" sz="1800" dirty="0"/>
              <a:t> : A simple 2:1 MUX which selects between the Data coming from the Data Memory (0) and the ALU Result (1). The purpose of this MUX is to differentiate between Store and other instructions.</a:t>
            </a:r>
          </a:p>
          <a:p>
            <a:pPr marL="0" indent="0">
              <a:lnSpc>
                <a:spcPct val="100000"/>
              </a:lnSpc>
              <a:buNone/>
            </a:pPr>
            <a:r>
              <a:rPr lang="en-US" sz="1800" dirty="0"/>
              <a:t>Also, there is another MUX before ALU input 1 to select </a:t>
            </a:r>
            <a:r>
              <a:rPr lang="en-US" sz="1800" dirty="0" err="1"/>
              <a:t>imm</a:t>
            </a:r>
            <a:r>
              <a:rPr lang="en-US" sz="1800" dirty="0"/>
              <a:t> or RD2. The selector signal is </a:t>
            </a:r>
            <a:r>
              <a:rPr lang="en-US" sz="1800" dirty="0" err="1"/>
              <a:t>ALUSrc</a:t>
            </a:r>
            <a:r>
              <a:rPr lang="en-US" sz="1800" dirty="0"/>
              <a:t> which comes from the Control Unit.</a:t>
            </a:r>
          </a:p>
          <a:p>
            <a:pPr marL="0" indent="0">
              <a:lnSpc>
                <a:spcPct val="100000"/>
              </a:lnSpc>
              <a:buNone/>
            </a:pPr>
            <a:endParaRPr lang="en-US" sz="1800" b="1" u="sng" dirty="0"/>
          </a:p>
          <a:p>
            <a:pPr marL="0" indent="0">
              <a:lnSpc>
                <a:spcPct val="100000"/>
              </a:lnSpc>
              <a:buNone/>
            </a:pPr>
            <a:endParaRPr lang="en-US" sz="1800" b="1" u="sng" dirty="0">
              <a:latin typeface="Calibri" panose="020F0502020204030204" pitchFamily="34" charset="0"/>
              <a:cs typeface="Calibri" panose="020F0502020204030204" pitchFamily="34" charset="0"/>
            </a:endParaRPr>
          </a:p>
          <a:p>
            <a:pPr marL="0" indent="0">
              <a:lnSpc>
                <a:spcPct val="100000"/>
              </a:lnSpc>
              <a:buNone/>
            </a:pPr>
            <a:endParaRPr lang="en-IN" sz="1800" b="1"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5401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5729-300F-14F6-2D0F-D50E2531B30A}"/>
              </a:ext>
            </a:extLst>
          </p:cNvPr>
          <p:cNvSpPr>
            <a:spLocks noGrp="1"/>
          </p:cNvSpPr>
          <p:nvPr>
            <p:ph type="title"/>
          </p:nvPr>
        </p:nvSpPr>
        <p:spPr>
          <a:xfrm>
            <a:off x="750367" y="88900"/>
            <a:ext cx="10691265" cy="596900"/>
          </a:xfrm>
        </p:spPr>
        <p:txBody>
          <a:bodyPr>
            <a:normAutofit fontScale="90000"/>
          </a:bodyPr>
          <a:lstStyle/>
          <a:p>
            <a:pPr algn="ctr"/>
            <a:r>
              <a:rPr lang="en-US" dirty="0"/>
              <a:t>The control unit</a:t>
            </a:r>
            <a:endParaRPr lang="en-IN" dirty="0"/>
          </a:p>
        </p:txBody>
      </p:sp>
      <p:sp>
        <p:nvSpPr>
          <p:cNvPr id="3" name="Content Placeholder 2">
            <a:extLst>
              <a:ext uri="{FF2B5EF4-FFF2-40B4-BE49-F238E27FC236}">
                <a16:creationId xmlns:a16="http://schemas.microsoft.com/office/drawing/2014/main" id="{52FCE4E7-A465-74AF-8949-8F71F2E10101}"/>
              </a:ext>
            </a:extLst>
          </p:cNvPr>
          <p:cNvSpPr>
            <a:spLocks noGrp="1"/>
          </p:cNvSpPr>
          <p:nvPr>
            <p:ph idx="1"/>
          </p:nvPr>
        </p:nvSpPr>
        <p:spPr>
          <a:xfrm>
            <a:off x="700635" y="774700"/>
            <a:ext cx="10931071" cy="5372100"/>
          </a:xfrm>
        </p:spPr>
        <p:txBody>
          <a:bodyPr>
            <a:normAutofit/>
          </a:bodyPr>
          <a:lstStyle/>
          <a:p>
            <a:pPr marL="0" indent="0">
              <a:buNone/>
            </a:pPr>
            <a:r>
              <a:rPr lang="en-US" sz="2400" dirty="0"/>
              <a:t>The </a:t>
            </a:r>
            <a:r>
              <a:rPr lang="en-US" sz="2400" b="1" dirty="0"/>
              <a:t>Control Unit</a:t>
            </a:r>
            <a:r>
              <a:rPr lang="en-US" sz="2400" dirty="0"/>
              <a:t> is responsible for </a:t>
            </a:r>
            <a:r>
              <a:rPr lang="en-US" sz="2400" b="1" dirty="0"/>
              <a:t>decoding the instruction</a:t>
            </a:r>
            <a:r>
              <a:rPr lang="en-US" sz="2400" dirty="0"/>
              <a:t> and generating </a:t>
            </a:r>
            <a:r>
              <a:rPr lang="en-US" sz="2400" b="1" dirty="0"/>
              <a:t>control signals</a:t>
            </a:r>
            <a:r>
              <a:rPr lang="en-US" sz="2400" dirty="0"/>
              <a:t> that drive the </a:t>
            </a:r>
            <a:r>
              <a:rPr lang="en-US" sz="2400" dirty="0" err="1"/>
              <a:t>datapath</a:t>
            </a:r>
            <a:r>
              <a:rPr lang="en-US" sz="2400" dirty="0"/>
              <a:t> components (registers, ALU, memory, multiplexers, etc.). It consists of two main parts:</a:t>
            </a:r>
          </a:p>
          <a:p>
            <a:r>
              <a:rPr lang="en-US" sz="2400" b="1" u="sng" dirty="0"/>
              <a:t>Main Control Unit </a:t>
            </a:r>
            <a:r>
              <a:rPr lang="en-US" sz="2400" dirty="0"/>
              <a:t>– This unit takes the </a:t>
            </a:r>
            <a:r>
              <a:rPr lang="en-US" sz="2400" b="1" dirty="0"/>
              <a:t>7-bit opcode</a:t>
            </a:r>
            <a:r>
              <a:rPr lang="en-US" sz="2400" dirty="0"/>
              <a:t> from the instruction and produces control signals that affect the entire </a:t>
            </a:r>
            <a:r>
              <a:rPr lang="en-US" sz="2400" b="1" dirty="0"/>
              <a:t>Datapath</a:t>
            </a:r>
            <a:r>
              <a:rPr lang="en-US" sz="2400" dirty="0"/>
              <a:t>. Based on the opcode, this block produces various control signals to Datapath. </a:t>
            </a:r>
          </a:p>
          <a:p>
            <a:pPr>
              <a:lnSpc>
                <a:spcPct val="100000"/>
              </a:lnSpc>
            </a:pPr>
            <a:r>
              <a:rPr lang="en-IN" sz="2400" b="1" u="sng" dirty="0"/>
              <a:t>ALU Control</a:t>
            </a:r>
            <a:r>
              <a:rPr lang="en-IN" sz="2400" b="1" dirty="0"/>
              <a:t> : </a:t>
            </a:r>
            <a:r>
              <a:rPr lang="en-US" sz="2400" dirty="0"/>
              <a:t>The ALU Control Unit is responsible for selecting the exact operation that the ALU must perform, based on:</a:t>
            </a:r>
          </a:p>
          <a:p>
            <a:pPr lvl="1">
              <a:lnSpc>
                <a:spcPct val="100000"/>
              </a:lnSpc>
            </a:pPr>
            <a:r>
              <a:rPr lang="en-US" sz="2000" dirty="0"/>
              <a:t>Instruction type (R-type, I-type, Branch, Load/Store)</a:t>
            </a:r>
          </a:p>
          <a:p>
            <a:pPr lvl="1">
              <a:lnSpc>
                <a:spcPct val="100000"/>
              </a:lnSpc>
            </a:pPr>
            <a:r>
              <a:rPr lang="en-US" sz="2000" dirty="0"/>
              <a:t>funct3 and funct7 fields from the instruction</a:t>
            </a:r>
          </a:p>
          <a:p>
            <a:pPr lvl="1">
              <a:lnSpc>
                <a:spcPct val="100000"/>
              </a:lnSpc>
            </a:pPr>
            <a:r>
              <a:rPr lang="en-US" sz="2000" dirty="0"/>
              <a:t>A higher-level control signal: </a:t>
            </a:r>
            <a:r>
              <a:rPr lang="en-US" sz="2000" dirty="0" err="1"/>
              <a:t>ALUOp</a:t>
            </a:r>
            <a:r>
              <a:rPr lang="en-US" sz="2000" dirty="0"/>
              <a:t> (2 bits), generated by the Main Control Unit</a:t>
            </a:r>
          </a:p>
          <a:p>
            <a:pPr marL="0" indent="0">
              <a:lnSpc>
                <a:spcPct val="100000"/>
              </a:lnSpc>
              <a:buNone/>
            </a:pPr>
            <a:r>
              <a:rPr lang="en-US" sz="2400" dirty="0"/>
              <a:t>These two modules will be discussed in great details in the Designing section.</a:t>
            </a:r>
          </a:p>
          <a:p>
            <a:endParaRPr lang="en-US" sz="2400" dirty="0"/>
          </a:p>
          <a:p>
            <a:endParaRPr lang="en-US" sz="2400" b="1" dirty="0"/>
          </a:p>
          <a:p>
            <a:endParaRPr lang="en-US" sz="2400" b="1" dirty="0"/>
          </a:p>
          <a:p>
            <a:pPr marL="0" indent="0">
              <a:buNone/>
            </a:pPr>
            <a:endParaRPr lang="en-IN" sz="2400" dirty="0"/>
          </a:p>
        </p:txBody>
      </p:sp>
    </p:spTree>
    <p:extLst>
      <p:ext uri="{BB962C8B-B14F-4D97-AF65-F5344CB8AC3E}">
        <p14:creationId xmlns:p14="http://schemas.microsoft.com/office/powerpoint/2010/main" val="2068910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F387-7D59-7E4A-5AD8-D9FBD0248102}"/>
              </a:ext>
            </a:extLst>
          </p:cNvPr>
          <p:cNvSpPr>
            <a:spLocks noGrp="1"/>
          </p:cNvSpPr>
          <p:nvPr>
            <p:ph type="title"/>
          </p:nvPr>
        </p:nvSpPr>
        <p:spPr>
          <a:xfrm>
            <a:off x="838560" y="44824"/>
            <a:ext cx="10516828" cy="667871"/>
          </a:xfrm>
        </p:spPr>
        <p:txBody>
          <a:bodyPr anchor="ctr"/>
          <a:lstStyle/>
          <a:p>
            <a:pPr algn="ctr"/>
            <a:r>
              <a:rPr lang="en-US" dirty="0"/>
              <a:t>The overall system</a:t>
            </a:r>
            <a:endParaRPr lang="en-IN" dirty="0"/>
          </a:p>
        </p:txBody>
      </p:sp>
      <p:pic>
        <p:nvPicPr>
          <p:cNvPr id="6" name="Picture Placeholder 5" descr="A diagram of a machine">
            <a:extLst>
              <a:ext uri="{FF2B5EF4-FFF2-40B4-BE49-F238E27FC236}">
                <a16:creationId xmlns:a16="http://schemas.microsoft.com/office/drawing/2014/main" id="{56CF6C8F-6FF0-2859-B71C-1191D05792B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556" b="556"/>
          <a:stretch>
            <a:fillRect/>
          </a:stretch>
        </p:blipFill>
        <p:spPr>
          <a:xfrm>
            <a:off x="5183188" y="806824"/>
            <a:ext cx="6172200" cy="5238376"/>
          </a:xfrm>
        </p:spPr>
        <p:style>
          <a:lnRef idx="2">
            <a:schemeClr val="dk1"/>
          </a:lnRef>
          <a:fillRef idx="1">
            <a:schemeClr val="lt1"/>
          </a:fillRef>
          <a:effectRef idx="0">
            <a:schemeClr val="dk1"/>
          </a:effectRef>
          <a:fontRef idx="minor">
            <a:schemeClr val="dk1"/>
          </a:fontRef>
        </p:style>
      </p:pic>
      <p:sp>
        <p:nvSpPr>
          <p:cNvPr id="4" name="Text Placeholder 3">
            <a:extLst>
              <a:ext uri="{FF2B5EF4-FFF2-40B4-BE49-F238E27FC236}">
                <a16:creationId xmlns:a16="http://schemas.microsoft.com/office/drawing/2014/main" id="{247FC045-048E-B298-38A3-32FCDDBE995C}"/>
              </a:ext>
            </a:extLst>
          </p:cNvPr>
          <p:cNvSpPr>
            <a:spLocks noGrp="1"/>
          </p:cNvSpPr>
          <p:nvPr>
            <p:ph type="body" sz="half" idx="2"/>
          </p:nvPr>
        </p:nvSpPr>
        <p:spPr>
          <a:xfrm>
            <a:off x="704088" y="806824"/>
            <a:ext cx="4312412" cy="5238376"/>
          </a:xfrm>
        </p:spPr>
        <p:style>
          <a:lnRef idx="2">
            <a:schemeClr val="dk1"/>
          </a:lnRef>
          <a:fillRef idx="1">
            <a:schemeClr val="lt1"/>
          </a:fillRef>
          <a:effectRef idx="0">
            <a:schemeClr val="dk1"/>
          </a:effectRef>
          <a:fontRef idx="minor">
            <a:schemeClr val="dk1"/>
          </a:fontRef>
        </p:style>
        <p:txBody>
          <a:bodyPr>
            <a:normAutofit/>
          </a:bodyPr>
          <a:lstStyle/>
          <a:p>
            <a:r>
              <a:rPr lang="en-US" dirty="0"/>
              <a:t>This diagram illustrates the </a:t>
            </a:r>
            <a:r>
              <a:rPr lang="en-US" b="1" dirty="0"/>
              <a:t>complete integration</a:t>
            </a:r>
            <a:r>
              <a:rPr lang="en-US" dirty="0"/>
              <a:t> of the </a:t>
            </a:r>
            <a:r>
              <a:rPr lang="en-US" b="1" dirty="0"/>
              <a:t>Datapath</a:t>
            </a:r>
            <a:r>
              <a:rPr lang="en-US" dirty="0"/>
              <a:t> and the </a:t>
            </a:r>
            <a:r>
              <a:rPr lang="en-US" b="1" dirty="0"/>
              <a:t>Control Unit</a:t>
            </a:r>
            <a:r>
              <a:rPr lang="en-US" dirty="0"/>
              <a:t>, forming the core of the </a:t>
            </a:r>
            <a:r>
              <a:rPr lang="en-US" b="1" dirty="0"/>
              <a:t>single-cycle RISC-V processor</a:t>
            </a:r>
            <a:r>
              <a:rPr lang="en-US" dirty="0"/>
              <a:t>. Each connection shown is critical for executing instructions correctly in one clock cycle.</a:t>
            </a:r>
          </a:p>
          <a:p>
            <a:r>
              <a:rPr lang="en-US" dirty="0"/>
              <a:t>Notice that the PC is loaded with PC+4 or PC + some offset depending upon the Branch (from the Control Unit) and the Zero (from the ALU). This is due to the fact that the Branch instructions can be used to jump to different locations.</a:t>
            </a:r>
          </a:p>
          <a:p>
            <a:r>
              <a:rPr lang="en-US" b="1" dirty="0"/>
              <a:t>This picture is taken from </a:t>
            </a:r>
            <a:r>
              <a:rPr lang="en-US" b="1" i="1" dirty="0"/>
              <a:t>Computer Organization and Design</a:t>
            </a:r>
            <a:r>
              <a:rPr lang="en-US" b="1" dirty="0"/>
              <a:t> by David A. Patterson and John L. Hennessy</a:t>
            </a:r>
            <a:endParaRPr lang="en-IN" b="1" dirty="0"/>
          </a:p>
        </p:txBody>
      </p:sp>
    </p:spTree>
    <p:extLst>
      <p:ext uri="{BB962C8B-B14F-4D97-AF65-F5344CB8AC3E}">
        <p14:creationId xmlns:p14="http://schemas.microsoft.com/office/powerpoint/2010/main" val="2859910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9F44D-7B9E-1711-9BAC-30A0F7E16654}"/>
              </a:ext>
            </a:extLst>
          </p:cNvPr>
          <p:cNvSpPr>
            <a:spLocks noGrp="1"/>
          </p:cNvSpPr>
          <p:nvPr>
            <p:ph type="title"/>
          </p:nvPr>
        </p:nvSpPr>
        <p:spPr>
          <a:xfrm>
            <a:off x="750367" y="101600"/>
            <a:ext cx="10691265" cy="635000"/>
          </a:xfrm>
        </p:spPr>
        <p:txBody>
          <a:bodyPr>
            <a:normAutofit fontScale="90000"/>
          </a:bodyPr>
          <a:lstStyle/>
          <a:p>
            <a:pPr algn="ctr"/>
            <a:r>
              <a:rPr lang="en-US" dirty="0"/>
              <a:t>Designing the control unit</a:t>
            </a:r>
            <a:endParaRPr lang="en-IN" dirty="0"/>
          </a:p>
        </p:txBody>
      </p:sp>
      <p:sp>
        <p:nvSpPr>
          <p:cNvPr id="3" name="Content Placeholder 2">
            <a:extLst>
              <a:ext uri="{FF2B5EF4-FFF2-40B4-BE49-F238E27FC236}">
                <a16:creationId xmlns:a16="http://schemas.microsoft.com/office/drawing/2014/main" id="{205B10D3-5F4D-2FE7-F5B4-EA6C91CFA60A}"/>
              </a:ext>
            </a:extLst>
          </p:cNvPr>
          <p:cNvSpPr>
            <a:spLocks noGrp="1"/>
          </p:cNvSpPr>
          <p:nvPr>
            <p:ph idx="1"/>
          </p:nvPr>
        </p:nvSpPr>
        <p:spPr>
          <a:xfrm>
            <a:off x="700635" y="736599"/>
            <a:ext cx="10805570" cy="5420361"/>
          </a:xfrm>
        </p:spPr>
        <p:txBody>
          <a:bodyPr/>
          <a:lstStyle/>
          <a:p>
            <a:pPr marL="0" indent="0">
              <a:buNone/>
            </a:pPr>
            <a:r>
              <a:rPr lang="en-US" dirty="0"/>
              <a:t>Our first step will be to design the Control Unit which will send Control Signals to the Datapath. As, discussed previously, the CU consists of a Main Control Unit and an ALU Control Unit. We will start designing the Main Control Unit first since it sends the </a:t>
            </a:r>
            <a:r>
              <a:rPr lang="en-US" dirty="0" err="1"/>
              <a:t>ALUOp</a:t>
            </a:r>
            <a:r>
              <a:rPr lang="en-US" dirty="0"/>
              <a:t> signal to the ALU Control Unit. </a:t>
            </a:r>
          </a:p>
          <a:p>
            <a:pPr marL="0" indent="0">
              <a:buNone/>
            </a:pPr>
            <a:r>
              <a:rPr lang="en-US" b="1" u="sng" dirty="0"/>
              <a:t>The Main Control Unit (</a:t>
            </a:r>
            <a:r>
              <a:rPr lang="en-US" b="1" u="sng" dirty="0" err="1"/>
              <a:t>controlUnit.v</a:t>
            </a:r>
            <a:r>
              <a:rPr lang="en-US" b="1" u="sng" dirty="0"/>
              <a:t>)</a:t>
            </a:r>
          </a:p>
          <a:p>
            <a:pPr marL="0" indent="0">
              <a:buNone/>
            </a:pPr>
            <a:r>
              <a:rPr lang="en-US" dirty="0"/>
              <a:t>This block accepts the </a:t>
            </a:r>
            <a:r>
              <a:rPr lang="en-US" b="1" dirty="0"/>
              <a:t>opcode (7 bits)</a:t>
            </a:r>
            <a:r>
              <a:rPr lang="en-US" dirty="0"/>
              <a:t> as its input and produces necessary control signals. Its outputs are :</a:t>
            </a:r>
          </a:p>
          <a:p>
            <a:pPr marL="0" indent="0">
              <a:buNone/>
            </a:pPr>
            <a:r>
              <a:rPr lang="en-US" dirty="0"/>
              <a:t>&gt; ALU Op : </a:t>
            </a:r>
            <a:endParaRPr lang="en-IN" dirty="0"/>
          </a:p>
        </p:txBody>
      </p:sp>
      <p:graphicFrame>
        <p:nvGraphicFramePr>
          <p:cNvPr id="4" name="Table 3">
            <a:extLst>
              <a:ext uri="{FF2B5EF4-FFF2-40B4-BE49-F238E27FC236}">
                <a16:creationId xmlns:a16="http://schemas.microsoft.com/office/drawing/2014/main" id="{21BA13DD-0C17-F794-6CBD-94357C09ACEA}"/>
              </a:ext>
            </a:extLst>
          </p:cNvPr>
          <p:cNvGraphicFramePr>
            <a:graphicFrameLocks noGrp="1"/>
          </p:cNvGraphicFramePr>
          <p:nvPr>
            <p:extLst>
              <p:ext uri="{D42A27DB-BD31-4B8C-83A1-F6EECF244321}">
                <p14:modId xmlns:p14="http://schemas.microsoft.com/office/powerpoint/2010/main" val="3305110754"/>
              </p:ext>
            </p:extLst>
          </p:nvPr>
        </p:nvGraphicFramePr>
        <p:xfrm>
          <a:off x="807520" y="3566161"/>
          <a:ext cx="2590794" cy="2590800"/>
        </p:xfrm>
        <a:graphic>
          <a:graphicData uri="http://schemas.openxmlformats.org/drawingml/2006/table">
            <a:tbl>
              <a:tblPr firstRow="1" bandRow="1">
                <a:tableStyleId>{5C22544A-7EE6-4342-B048-85BDC9FD1C3A}</a:tableStyleId>
              </a:tblPr>
              <a:tblGrid>
                <a:gridCol w="1295397">
                  <a:extLst>
                    <a:ext uri="{9D8B030D-6E8A-4147-A177-3AD203B41FA5}">
                      <a16:colId xmlns:a16="http://schemas.microsoft.com/office/drawing/2014/main" val="4123184799"/>
                    </a:ext>
                  </a:extLst>
                </a:gridCol>
                <a:gridCol w="1295397">
                  <a:extLst>
                    <a:ext uri="{9D8B030D-6E8A-4147-A177-3AD203B41FA5}">
                      <a16:colId xmlns:a16="http://schemas.microsoft.com/office/drawing/2014/main" val="2578406814"/>
                    </a:ext>
                  </a:extLst>
                </a:gridCol>
              </a:tblGrid>
              <a:tr h="296135">
                <a:tc>
                  <a:txBody>
                    <a:bodyPr/>
                    <a:lstStyle/>
                    <a:p>
                      <a:pPr algn="ctr"/>
                      <a:r>
                        <a:rPr lang="en-US" sz="1400" dirty="0"/>
                        <a:t>Signal</a:t>
                      </a:r>
                      <a:endParaRPr lang="en-I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Purpose</a:t>
                      </a:r>
                      <a:endParaRPr lang="en-I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604803"/>
                  </a:ext>
                </a:extLst>
              </a:tr>
              <a:tr h="577461">
                <a:tc>
                  <a:txBody>
                    <a:bodyPr/>
                    <a:lstStyle/>
                    <a:p>
                      <a:pPr algn="ctr"/>
                      <a:r>
                        <a:rPr lang="en-IN" sz="2000" b="1" i="0" kern="1200" dirty="0" err="1">
                          <a:solidFill>
                            <a:schemeClr val="dk1"/>
                          </a:solidFill>
                          <a:effectLst/>
                          <a:latin typeface="+mn-lt"/>
                          <a:ea typeface="+mn-ea"/>
                          <a:cs typeface="+mn-cs"/>
                        </a:rPr>
                        <a:t>RegWrite</a:t>
                      </a:r>
                      <a:endParaRPr lang="en-I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Calibri" panose="020F0502020204030204" pitchFamily="34" charset="0"/>
                          <a:cs typeface="Calibri" panose="020F0502020204030204" pitchFamily="34" charset="0"/>
                        </a:rPr>
                        <a:t>Enables writing to the register file (for </a:t>
                      </a:r>
                      <a:r>
                        <a:rPr lang="en-US" sz="1100" b="1" dirty="0" err="1">
                          <a:latin typeface="Calibri" panose="020F0502020204030204" pitchFamily="34" charset="0"/>
                          <a:cs typeface="Calibri" panose="020F0502020204030204" pitchFamily="34" charset="0"/>
                        </a:rPr>
                        <a:t>rd</a:t>
                      </a:r>
                      <a:r>
                        <a:rPr lang="en-US" sz="1100" b="1" dirty="0">
                          <a:latin typeface="Calibri" panose="020F0502020204030204" pitchFamily="34" charset="0"/>
                          <a:cs typeface="Calibri" panose="020F0502020204030204" pitchFamily="34" charset="0"/>
                        </a:rPr>
                        <a:t>).</a:t>
                      </a:r>
                      <a:endParaRPr lang="en-IN" sz="11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414451"/>
                  </a:ext>
                </a:extLst>
              </a:tr>
              <a:tr h="740335">
                <a:tc>
                  <a:txBody>
                    <a:bodyPr/>
                    <a:lstStyle/>
                    <a:p>
                      <a:pPr algn="ctr"/>
                      <a:r>
                        <a:rPr lang="en-IN" sz="2000" b="1" i="0" kern="1200" dirty="0" err="1">
                          <a:solidFill>
                            <a:schemeClr val="dk1"/>
                          </a:solidFill>
                          <a:effectLst/>
                          <a:latin typeface="+mn-lt"/>
                          <a:ea typeface="+mn-ea"/>
                          <a:cs typeface="+mn-cs"/>
                        </a:rPr>
                        <a:t>ALUSrc</a:t>
                      </a:r>
                      <a:endParaRPr lang="en-I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Calibri" panose="020F0502020204030204" pitchFamily="34" charset="0"/>
                          <a:cs typeface="Calibri" panose="020F0502020204030204" pitchFamily="34" charset="0"/>
                        </a:rPr>
                        <a:t>Selects between rs2 (0) or an immediate (1) as ALU input.</a:t>
                      </a:r>
                      <a:endParaRPr lang="en-IN" sz="11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483182"/>
                  </a:ext>
                </a:extLst>
              </a:tr>
              <a:tr h="903209">
                <a:tc>
                  <a:txBody>
                    <a:bodyPr/>
                    <a:lstStyle/>
                    <a:p>
                      <a:pPr algn="ctr"/>
                      <a:r>
                        <a:rPr lang="en-IN" sz="1600" b="1" i="0" kern="1200" dirty="0" err="1">
                          <a:solidFill>
                            <a:schemeClr val="dk1"/>
                          </a:solidFill>
                          <a:effectLst/>
                          <a:latin typeface="+mn-lt"/>
                          <a:ea typeface="+mn-ea"/>
                          <a:cs typeface="+mn-cs"/>
                        </a:rPr>
                        <a:t>MemtoReg</a:t>
                      </a:r>
                      <a:endParaRPr lang="en-IN"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Calibri" panose="020F0502020204030204" pitchFamily="34" charset="0"/>
                          <a:cs typeface="Calibri" panose="020F0502020204030204" pitchFamily="34" charset="0"/>
                        </a:rPr>
                        <a:t>Selects whether ALU result (0) or memory read data (1) is written back to rd.</a:t>
                      </a:r>
                      <a:endParaRPr lang="en-IN" sz="11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635736"/>
                  </a:ext>
                </a:extLst>
              </a:tr>
            </a:tbl>
          </a:graphicData>
        </a:graphic>
      </p:graphicFrame>
      <p:graphicFrame>
        <p:nvGraphicFramePr>
          <p:cNvPr id="5" name="Table 4">
            <a:extLst>
              <a:ext uri="{FF2B5EF4-FFF2-40B4-BE49-F238E27FC236}">
                <a16:creationId xmlns:a16="http://schemas.microsoft.com/office/drawing/2014/main" id="{0DA44B1F-55E5-FC66-1C9A-E1281DF94C60}"/>
              </a:ext>
            </a:extLst>
          </p:cNvPr>
          <p:cNvGraphicFramePr>
            <a:graphicFrameLocks noGrp="1"/>
          </p:cNvGraphicFramePr>
          <p:nvPr>
            <p:extLst>
              <p:ext uri="{D42A27DB-BD31-4B8C-83A1-F6EECF244321}">
                <p14:modId xmlns:p14="http://schemas.microsoft.com/office/powerpoint/2010/main" val="1015894468"/>
              </p:ext>
            </p:extLst>
          </p:nvPr>
        </p:nvGraphicFramePr>
        <p:xfrm>
          <a:off x="3505199" y="3566160"/>
          <a:ext cx="2590800" cy="2591983"/>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4123184799"/>
                    </a:ext>
                  </a:extLst>
                </a:gridCol>
                <a:gridCol w="1295400">
                  <a:extLst>
                    <a:ext uri="{9D8B030D-6E8A-4147-A177-3AD203B41FA5}">
                      <a16:colId xmlns:a16="http://schemas.microsoft.com/office/drawing/2014/main" val="2578406814"/>
                    </a:ext>
                  </a:extLst>
                </a:gridCol>
              </a:tblGrid>
              <a:tr h="364577">
                <a:tc>
                  <a:txBody>
                    <a:bodyPr/>
                    <a:lstStyle/>
                    <a:p>
                      <a:pPr algn="ctr"/>
                      <a:r>
                        <a:rPr lang="en-US" sz="1800" dirty="0"/>
                        <a:t>Signal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Purpose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604803"/>
                  </a:ext>
                </a:extLst>
              </a:tr>
              <a:tr h="801440">
                <a:tc>
                  <a:txBody>
                    <a:bodyPr/>
                    <a:lstStyle/>
                    <a:p>
                      <a:pPr algn="ctr"/>
                      <a:r>
                        <a:rPr lang="en-IN" sz="1800" b="1" i="0" kern="1200" dirty="0" err="1">
                          <a:solidFill>
                            <a:schemeClr val="dk1"/>
                          </a:solidFill>
                          <a:effectLst/>
                          <a:latin typeface="+mn-lt"/>
                          <a:ea typeface="+mn-ea"/>
                          <a:cs typeface="+mn-cs"/>
                        </a:rPr>
                        <a:t>MemRead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Calibri" panose="020F0502020204030204" pitchFamily="34" charset="0"/>
                          <a:cs typeface="Calibri" panose="020F0502020204030204" pitchFamily="34" charset="0"/>
                        </a:rPr>
                        <a:t>Enables reading from data memory (for </a:t>
                      </a:r>
                      <a:r>
                        <a:rPr lang="en-US" sz="1100" b="1" dirty="0" err="1">
                          <a:latin typeface="Calibri" panose="020F0502020204030204" pitchFamily="34" charset="0"/>
                          <a:cs typeface="Calibri" panose="020F0502020204030204" pitchFamily="34" charset="0"/>
                        </a:rPr>
                        <a:t>lw</a:t>
                      </a:r>
                      <a:r>
                        <a:rPr lang="en-US" sz="1100" b="1" dirty="0">
                          <a:latin typeface="Calibri" panose="020F0502020204030204" pitchFamily="34" charset="0"/>
                          <a:cs typeface="Calibri" panose="020F0502020204030204" pitchFamily="34" charset="0"/>
                        </a:rPr>
                        <a:t>).</a:t>
                      </a:r>
                      <a:endParaRPr lang="en-IN" sz="11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414451"/>
                  </a:ext>
                </a:extLst>
              </a:tr>
              <a:tr h="623343">
                <a:tc>
                  <a:txBody>
                    <a:bodyPr/>
                    <a:lstStyle/>
                    <a:p>
                      <a:pPr algn="ctr"/>
                      <a:r>
                        <a:rPr lang="en-IN" sz="1800" b="1" i="0" kern="1200" dirty="0" err="1">
                          <a:solidFill>
                            <a:schemeClr val="dk1"/>
                          </a:solidFill>
                          <a:effectLst/>
                          <a:latin typeface="+mn-lt"/>
                          <a:ea typeface="+mn-ea"/>
                          <a:cs typeface="+mn-cs"/>
                        </a:rPr>
                        <a:t>MemWrite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i="0" kern="1200" dirty="0">
                          <a:solidFill>
                            <a:schemeClr val="dk1"/>
                          </a:solidFill>
                          <a:effectLst/>
                          <a:latin typeface="Calibri" panose="020F0502020204030204" pitchFamily="34" charset="0"/>
                          <a:ea typeface="+mn-ea"/>
                          <a:cs typeface="Calibri" panose="020F0502020204030204" pitchFamily="34" charset="0"/>
                        </a:rPr>
                        <a:t>Enables writing to data memory (for </a:t>
                      </a:r>
                      <a:r>
                        <a:rPr lang="en-US" sz="1100" b="1" dirty="0" err="1">
                          <a:latin typeface="Calibri" panose="020F0502020204030204" pitchFamily="34" charset="0"/>
                          <a:cs typeface="Calibri" panose="020F0502020204030204" pitchFamily="34" charset="0"/>
                        </a:rPr>
                        <a:t>sw</a:t>
                      </a:r>
                      <a:r>
                        <a:rPr lang="en-US" sz="1100" b="1" i="0" kern="1200" dirty="0">
                          <a:solidFill>
                            <a:schemeClr val="dk1"/>
                          </a:solidFill>
                          <a:effectLst/>
                          <a:latin typeface="Calibri" panose="020F0502020204030204" pitchFamily="34" charset="0"/>
                          <a:ea typeface="+mn-ea"/>
                          <a:cs typeface="Calibri" panose="020F0502020204030204" pitchFamily="34" charset="0"/>
                        </a:rPr>
                        <a:t>).</a:t>
                      </a:r>
                      <a:endParaRPr lang="en-IN" sz="11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483182"/>
                  </a:ext>
                </a:extLst>
              </a:tr>
              <a:tr h="801440">
                <a:tc>
                  <a:txBody>
                    <a:bodyPr/>
                    <a:lstStyle/>
                    <a:p>
                      <a:pPr algn="ctr"/>
                      <a:r>
                        <a:rPr lang="en-IN" sz="1800" b="1" i="0" kern="1200" dirty="0">
                          <a:solidFill>
                            <a:schemeClr val="dk1"/>
                          </a:solidFill>
                          <a:effectLst/>
                          <a:latin typeface="+mn-lt"/>
                          <a:ea typeface="+mn-ea"/>
                          <a:cs typeface="+mn-cs"/>
                        </a:rPr>
                        <a:t>Branch</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i="0" kern="1200" dirty="0">
                          <a:solidFill>
                            <a:schemeClr val="dk1"/>
                          </a:solidFill>
                          <a:effectLst/>
                          <a:latin typeface="Calibri" panose="020F0502020204030204" pitchFamily="34" charset="0"/>
                          <a:ea typeface="+mn-ea"/>
                          <a:cs typeface="Calibri" panose="020F0502020204030204" pitchFamily="34" charset="0"/>
                        </a:rPr>
                        <a:t>Indicates a branch instruction (</a:t>
                      </a:r>
                      <a:r>
                        <a:rPr lang="en-IN" sz="1100" b="1" dirty="0" err="1">
                          <a:latin typeface="Calibri" panose="020F0502020204030204" pitchFamily="34" charset="0"/>
                          <a:cs typeface="Calibri" panose="020F0502020204030204" pitchFamily="34" charset="0"/>
                        </a:rPr>
                        <a:t>beq</a:t>
                      </a:r>
                      <a:r>
                        <a:rPr lang="en-IN" sz="1100" b="1" i="0" kern="1200" dirty="0">
                          <a:solidFill>
                            <a:schemeClr val="dk1"/>
                          </a:solidFill>
                          <a:effectLst/>
                          <a:latin typeface="Calibri" panose="020F0502020204030204" pitchFamily="34" charset="0"/>
                          <a:ea typeface="+mn-ea"/>
                          <a:cs typeface="Calibri" panose="020F0502020204030204" pitchFamily="34" charset="0"/>
                        </a:rPr>
                        <a:t>, </a:t>
                      </a:r>
                      <a:r>
                        <a:rPr lang="en-IN" sz="1100" b="1" dirty="0" err="1">
                          <a:latin typeface="Calibri" panose="020F0502020204030204" pitchFamily="34" charset="0"/>
                          <a:cs typeface="Calibri" panose="020F0502020204030204" pitchFamily="34" charset="0"/>
                        </a:rPr>
                        <a:t>bne</a:t>
                      </a:r>
                      <a:r>
                        <a:rPr lang="en-IN" sz="1100" b="1" i="0" kern="1200" dirty="0">
                          <a:solidFill>
                            <a:schemeClr val="dk1"/>
                          </a:solidFill>
                          <a:effectLst/>
                          <a:latin typeface="Calibri" panose="020F0502020204030204" pitchFamily="34" charset="0"/>
                          <a:ea typeface="+mn-ea"/>
                          <a:cs typeface="Calibri" panose="020F0502020204030204" pitchFamily="34" charset="0"/>
                        </a:rPr>
                        <a:t>).</a:t>
                      </a:r>
                      <a:endParaRPr lang="en-IN" sz="11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635736"/>
                  </a:ext>
                </a:extLst>
              </a:tr>
            </a:tbl>
          </a:graphicData>
        </a:graphic>
      </p:graphicFrame>
      <p:graphicFrame>
        <p:nvGraphicFramePr>
          <p:cNvPr id="7" name="Table 6">
            <a:extLst>
              <a:ext uri="{FF2B5EF4-FFF2-40B4-BE49-F238E27FC236}">
                <a16:creationId xmlns:a16="http://schemas.microsoft.com/office/drawing/2014/main" id="{581B7602-304D-B22E-FB87-30D33AE17AC7}"/>
              </a:ext>
            </a:extLst>
          </p:cNvPr>
          <p:cNvGraphicFramePr>
            <a:graphicFrameLocks noGrp="1"/>
          </p:cNvGraphicFramePr>
          <p:nvPr>
            <p:extLst>
              <p:ext uri="{D42A27DB-BD31-4B8C-83A1-F6EECF244321}">
                <p14:modId xmlns:p14="http://schemas.microsoft.com/office/powerpoint/2010/main" val="1860392396"/>
              </p:ext>
            </p:extLst>
          </p:nvPr>
        </p:nvGraphicFramePr>
        <p:xfrm>
          <a:off x="8915405" y="3566160"/>
          <a:ext cx="2590800" cy="258064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4123184799"/>
                    </a:ext>
                  </a:extLst>
                </a:gridCol>
                <a:gridCol w="1295400">
                  <a:extLst>
                    <a:ext uri="{9D8B030D-6E8A-4147-A177-3AD203B41FA5}">
                      <a16:colId xmlns:a16="http://schemas.microsoft.com/office/drawing/2014/main" val="2578406814"/>
                    </a:ext>
                  </a:extLst>
                </a:gridCol>
              </a:tblGrid>
              <a:tr h="3686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Signal</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Purpose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604803"/>
                  </a:ext>
                </a:extLst>
              </a:tr>
              <a:tr h="829491">
                <a:tc>
                  <a:txBody>
                    <a:bodyPr/>
                    <a:lstStyle/>
                    <a:p>
                      <a:pPr algn="ctr"/>
                      <a:r>
                        <a:rPr lang="en-IN" sz="1800" b="1" i="0" kern="1200" dirty="0">
                          <a:solidFill>
                            <a:schemeClr val="dk1"/>
                          </a:solidFill>
                          <a:effectLst/>
                          <a:latin typeface="+mn-lt"/>
                          <a:ea typeface="+mn-ea"/>
                          <a:cs typeface="+mn-cs"/>
                        </a:rPr>
                        <a:t>Lui</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latin typeface="Calibri" panose="020F0502020204030204" pitchFamily="34" charset="0"/>
                          <a:cs typeface="Calibri" panose="020F0502020204030204" pitchFamily="34" charset="0"/>
                        </a:rPr>
                        <a:t>Indicates load upper immediate (LUI). Writes </a:t>
                      </a:r>
                      <a:r>
                        <a:rPr lang="en-US" sz="1200" b="1" dirty="0" err="1">
                          <a:latin typeface="Calibri" panose="020F0502020204030204" pitchFamily="34" charset="0"/>
                          <a:cs typeface="Calibri" panose="020F0502020204030204" pitchFamily="34" charset="0"/>
                        </a:rPr>
                        <a:t>imm</a:t>
                      </a:r>
                      <a:r>
                        <a:rPr lang="en-US" sz="1200" b="1" dirty="0">
                          <a:latin typeface="Calibri" panose="020F0502020204030204" pitchFamily="34" charset="0"/>
                          <a:cs typeface="Calibri" panose="020F0502020204030204" pitchFamily="34" charset="0"/>
                        </a:rPr>
                        <a:t> &lt;&lt; 12 to rd.</a:t>
                      </a:r>
                      <a:endParaRPr lang="en-IN" sz="12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414451"/>
                  </a:ext>
                </a:extLst>
              </a:tr>
              <a:tr h="1013823">
                <a:tc>
                  <a:txBody>
                    <a:bodyPr/>
                    <a:lstStyle/>
                    <a:p>
                      <a:pPr algn="ctr"/>
                      <a:r>
                        <a:rPr lang="en-IN" sz="1800" b="1" i="0" kern="1200" dirty="0" err="1">
                          <a:solidFill>
                            <a:schemeClr val="dk1"/>
                          </a:solidFill>
                          <a:effectLst/>
                          <a:latin typeface="+mn-lt"/>
                          <a:ea typeface="+mn-ea"/>
                          <a:cs typeface="+mn-cs"/>
                        </a:rPr>
                        <a:t>Auipc</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latin typeface="Calibri" panose="020F0502020204030204" pitchFamily="34" charset="0"/>
                          <a:cs typeface="Calibri" panose="020F0502020204030204" pitchFamily="34" charset="0"/>
                        </a:rPr>
                        <a:t>Indicates add upper immediate to PC (AUIPC). Writes PC + (</a:t>
                      </a:r>
                      <a:r>
                        <a:rPr lang="en-US" sz="1200" b="1" dirty="0" err="1">
                          <a:latin typeface="Calibri" panose="020F0502020204030204" pitchFamily="34" charset="0"/>
                          <a:cs typeface="Calibri" panose="020F0502020204030204" pitchFamily="34" charset="0"/>
                        </a:rPr>
                        <a:t>imm</a:t>
                      </a:r>
                      <a:r>
                        <a:rPr lang="en-US" sz="1200" b="1" dirty="0">
                          <a:latin typeface="Calibri" panose="020F0502020204030204" pitchFamily="34" charset="0"/>
                          <a:cs typeface="Calibri" panose="020F0502020204030204" pitchFamily="34" charset="0"/>
                        </a:rPr>
                        <a:t> &lt;&lt; 12) to rd.</a:t>
                      </a:r>
                      <a:endParaRPr lang="en-IN" sz="12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483182"/>
                  </a:ext>
                </a:extLst>
              </a:tr>
              <a:tr h="368663">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2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635736"/>
                  </a:ext>
                </a:extLst>
              </a:tr>
            </a:tbl>
          </a:graphicData>
        </a:graphic>
      </p:graphicFrame>
      <p:graphicFrame>
        <p:nvGraphicFramePr>
          <p:cNvPr id="6" name="Table 5">
            <a:extLst>
              <a:ext uri="{FF2B5EF4-FFF2-40B4-BE49-F238E27FC236}">
                <a16:creationId xmlns:a16="http://schemas.microsoft.com/office/drawing/2014/main" id="{238D0E6D-8F1F-D6CE-C29C-24149954B45F}"/>
              </a:ext>
            </a:extLst>
          </p:cNvPr>
          <p:cNvGraphicFramePr>
            <a:graphicFrameLocks noGrp="1"/>
          </p:cNvGraphicFramePr>
          <p:nvPr>
            <p:extLst>
              <p:ext uri="{D42A27DB-BD31-4B8C-83A1-F6EECF244321}">
                <p14:modId xmlns:p14="http://schemas.microsoft.com/office/powerpoint/2010/main" val="2882979881"/>
              </p:ext>
            </p:extLst>
          </p:nvPr>
        </p:nvGraphicFramePr>
        <p:xfrm>
          <a:off x="6210302" y="3143250"/>
          <a:ext cx="2590800" cy="301752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4123184799"/>
                    </a:ext>
                  </a:extLst>
                </a:gridCol>
                <a:gridCol w="1295400">
                  <a:extLst>
                    <a:ext uri="{9D8B030D-6E8A-4147-A177-3AD203B41FA5}">
                      <a16:colId xmlns:a16="http://schemas.microsoft.com/office/drawing/2014/main" val="2578406814"/>
                    </a:ext>
                  </a:extLst>
                </a:gridCol>
              </a:tblGrid>
              <a:tr h="273050">
                <a:tc>
                  <a:txBody>
                    <a:bodyPr/>
                    <a:lstStyle/>
                    <a:p>
                      <a:pPr algn="ctr"/>
                      <a:r>
                        <a:rPr lang="en-US" sz="1200" dirty="0"/>
                        <a:t>Signal</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Purpose</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604803"/>
                  </a:ext>
                </a:extLst>
              </a:tr>
              <a:tr h="14562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50" b="1" i="0" kern="1200" dirty="0" err="1">
                          <a:solidFill>
                            <a:schemeClr val="dk1"/>
                          </a:solidFill>
                          <a:effectLst/>
                          <a:latin typeface="+mn-lt"/>
                          <a:ea typeface="+mn-ea"/>
                          <a:cs typeface="+mn-cs"/>
                        </a:rPr>
                        <a:t>ALUOp</a:t>
                      </a:r>
                      <a:r>
                        <a:rPr lang="en-IN" sz="1050" b="0" i="0" kern="1200" dirty="0">
                          <a:solidFill>
                            <a:schemeClr val="dk1"/>
                          </a:solidFill>
                          <a:effectLst/>
                          <a:latin typeface="+mn-lt"/>
                          <a:ea typeface="+mn-ea"/>
                          <a:cs typeface="+mn-cs"/>
                        </a:rPr>
                        <a:t> (2 bits)</a:t>
                      </a:r>
                      <a:endParaRPr lang="en-IN" sz="1050" dirty="0"/>
                    </a:p>
                    <a:p>
                      <a:pPr algn="ctr"/>
                      <a:endParaRPr lang="en-IN"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alibri" panose="020F0502020204030204" pitchFamily="34" charset="0"/>
                          <a:cs typeface="Calibri" panose="020F0502020204030204" pitchFamily="34" charset="0"/>
                        </a:rPr>
                        <a:t>Guides the ALU Control on which operation category to perform:</a:t>
                      </a:r>
                    </a:p>
                    <a:p>
                      <a:pPr algn="ctr"/>
                      <a:r>
                        <a:rPr lang="en-US" sz="900" b="1" dirty="0">
                          <a:latin typeface="Calibri" panose="020F0502020204030204" pitchFamily="34" charset="0"/>
                          <a:cs typeface="Calibri" panose="020F0502020204030204" pitchFamily="34" charset="0"/>
                        </a:rPr>
                        <a:t>- 00 = ADD (loads/stores)</a:t>
                      </a:r>
                    </a:p>
                    <a:p>
                      <a:pPr algn="ctr"/>
                      <a:r>
                        <a:rPr lang="en-US" sz="900" b="1" dirty="0">
                          <a:latin typeface="Calibri" panose="020F0502020204030204" pitchFamily="34" charset="0"/>
                          <a:cs typeface="Calibri" panose="020F0502020204030204" pitchFamily="34" charset="0"/>
                        </a:rPr>
                        <a:t>- 01 = SUB/SLT (branches)</a:t>
                      </a:r>
                    </a:p>
                    <a:p>
                      <a:pPr algn="ctr"/>
                      <a:r>
                        <a:rPr lang="en-US" sz="900" b="1" dirty="0">
                          <a:latin typeface="Calibri" panose="020F0502020204030204" pitchFamily="34" charset="0"/>
                          <a:cs typeface="Calibri" panose="020F0502020204030204" pitchFamily="34" charset="0"/>
                        </a:rPr>
                        <a:t>- 10 = Decode funct3/funct7 (R/I-type).</a:t>
                      </a:r>
                      <a:endParaRPr lang="en-IN" sz="9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414451"/>
                  </a:ext>
                </a:extLst>
              </a:tr>
              <a:tr h="637117">
                <a:tc>
                  <a:txBody>
                    <a:bodyPr/>
                    <a:lstStyle/>
                    <a:p>
                      <a:pPr algn="ctr"/>
                      <a:r>
                        <a:rPr lang="en-US" sz="1050" b="1" dirty="0"/>
                        <a:t>Jal</a:t>
                      </a:r>
                      <a:endParaRPr lang="en-IN"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alibri" panose="020F0502020204030204" pitchFamily="34" charset="0"/>
                          <a:cs typeface="Calibri" panose="020F0502020204030204" pitchFamily="34" charset="0"/>
                        </a:rPr>
                        <a:t>Indicates a jump-and-link (JAL) instruction. Updates PC and writes PC+4 to rd.</a:t>
                      </a:r>
                      <a:endParaRPr lang="en-IN" sz="9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483182"/>
                  </a:ext>
                </a:extLst>
              </a:tr>
              <a:tr h="637117">
                <a:tc>
                  <a:txBody>
                    <a:bodyPr/>
                    <a:lstStyle/>
                    <a:p>
                      <a:pPr algn="ctr"/>
                      <a:r>
                        <a:rPr lang="en-US" sz="1050" b="1" dirty="0" err="1"/>
                        <a:t>Jalr</a:t>
                      </a:r>
                      <a:endParaRPr lang="en-IN"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alibri" panose="020F0502020204030204" pitchFamily="34" charset="0"/>
                          <a:cs typeface="Calibri" panose="020F0502020204030204" pitchFamily="34" charset="0"/>
                        </a:rPr>
                        <a:t>Indicates a jump-and-link-register (JALR) instruction. Uses rs1 + </a:t>
                      </a:r>
                      <a:r>
                        <a:rPr lang="en-US" sz="900" b="1" dirty="0" err="1">
                          <a:latin typeface="Calibri" panose="020F0502020204030204" pitchFamily="34" charset="0"/>
                          <a:cs typeface="Calibri" panose="020F0502020204030204" pitchFamily="34" charset="0"/>
                        </a:rPr>
                        <a:t>imm</a:t>
                      </a:r>
                      <a:r>
                        <a:rPr lang="en-US" sz="900" b="1" dirty="0">
                          <a:latin typeface="Calibri" panose="020F0502020204030204" pitchFamily="34" charset="0"/>
                          <a:cs typeface="Calibri" panose="020F0502020204030204" pitchFamily="34" charset="0"/>
                        </a:rPr>
                        <a:t> for jump target.</a:t>
                      </a:r>
                      <a:endParaRPr lang="en-IN" sz="900" b="1"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635736"/>
                  </a:ext>
                </a:extLst>
              </a:tr>
            </a:tbl>
          </a:graphicData>
        </a:graphic>
      </p:graphicFrame>
    </p:spTree>
    <p:extLst>
      <p:ext uri="{BB962C8B-B14F-4D97-AF65-F5344CB8AC3E}">
        <p14:creationId xmlns:p14="http://schemas.microsoft.com/office/powerpoint/2010/main" val="3474543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C547B-7FC2-010A-DA30-30B2BE7FF885}"/>
              </a:ext>
            </a:extLst>
          </p:cNvPr>
          <p:cNvSpPr>
            <a:spLocks noGrp="1"/>
          </p:cNvSpPr>
          <p:nvPr>
            <p:ph type="title"/>
          </p:nvPr>
        </p:nvSpPr>
        <p:spPr>
          <a:xfrm>
            <a:off x="856488" y="88900"/>
            <a:ext cx="10498900" cy="596901"/>
          </a:xfrm>
        </p:spPr>
        <p:txBody>
          <a:bodyPr>
            <a:normAutofit/>
          </a:bodyPr>
          <a:lstStyle/>
          <a:p>
            <a:pPr algn="ctr"/>
            <a:r>
              <a:rPr lang="en-US" dirty="0"/>
              <a:t>Designing the control unit</a:t>
            </a:r>
            <a:endParaRPr lang="en-IN" dirty="0"/>
          </a:p>
        </p:txBody>
      </p:sp>
      <p:sp>
        <p:nvSpPr>
          <p:cNvPr id="3" name="Picture Placeholder 2">
            <a:extLst>
              <a:ext uri="{FF2B5EF4-FFF2-40B4-BE49-F238E27FC236}">
                <a16:creationId xmlns:a16="http://schemas.microsoft.com/office/drawing/2014/main" id="{E0B8D3E8-D7ED-601C-2C05-7B2D13A84962}"/>
              </a:ext>
            </a:extLst>
          </p:cNvPr>
          <p:cNvSpPr>
            <a:spLocks noGrp="1"/>
          </p:cNvSpPr>
          <p:nvPr>
            <p:ph type="pic" idx="1"/>
          </p:nvPr>
        </p:nvSpPr>
        <p:spPr>
          <a:xfrm>
            <a:off x="6705600" y="797434"/>
            <a:ext cx="5321300" cy="2192338"/>
          </a:xfrm>
        </p:spPr>
        <p:style>
          <a:lnRef idx="2">
            <a:schemeClr val="dk1"/>
          </a:lnRef>
          <a:fillRef idx="1">
            <a:schemeClr val="lt1"/>
          </a:fillRef>
          <a:effectRef idx="0">
            <a:schemeClr val="dk1"/>
          </a:effectRef>
          <a:fontRef idx="minor">
            <a:schemeClr val="dk1"/>
          </a:fontRef>
        </p:style>
        <p:txBody>
          <a:bodyPr/>
          <a:lstStyle/>
          <a:p>
            <a:endParaRPr lang="en-IN"/>
          </a:p>
        </p:txBody>
      </p:sp>
      <p:sp>
        <p:nvSpPr>
          <p:cNvPr id="4" name="Text Placeholder 3">
            <a:extLst>
              <a:ext uri="{FF2B5EF4-FFF2-40B4-BE49-F238E27FC236}">
                <a16:creationId xmlns:a16="http://schemas.microsoft.com/office/drawing/2014/main" id="{F6B01443-D3D6-10C4-A53B-21C0B5664E7E}"/>
              </a:ext>
            </a:extLst>
          </p:cNvPr>
          <p:cNvSpPr>
            <a:spLocks noGrp="1"/>
          </p:cNvSpPr>
          <p:nvPr>
            <p:ph type="body" sz="half" idx="2"/>
          </p:nvPr>
        </p:nvSpPr>
        <p:spPr>
          <a:xfrm>
            <a:off x="704088" y="800099"/>
            <a:ext cx="6001512" cy="5348293"/>
          </a:xfrm>
        </p:spPr>
        <p:txBody>
          <a:bodyPr>
            <a:normAutofit lnSpcReduction="10000"/>
          </a:bodyPr>
          <a:lstStyle/>
          <a:p>
            <a:r>
              <a:rPr lang="en-US" dirty="0"/>
              <a:t>The main purpose of this block is to determine the Class based on the opcode. There are 9 </a:t>
            </a:r>
            <a:r>
              <a:rPr lang="en-IN" dirty="0"/>
              <a:t>distinct</a:t>
            </a:r>
            <a:r>
              <a:rPr lang="en-US" dirty="0"/>
              <a:t> opcodes representing R (opcode = 0110011), I (0010011), Load (0000011), Store (0100011), Branch (1100011), Jal (1101111), </a:t>
            </a:r>
            <a:r>
              <a:rPr lang="en-US" dirty="0" err="1"/>
              <a:t>Jalr</a:t>
            </a:r>
            <a:r>
              <a:rPr lang="en-US" dirty="0"/>
              <a:t> (1100111), LUI (0110111) and AUIPC (0010111). The control signals will be decided based on these opcodes. For example, if opcode = 0110011 i.e. R type Instruction :</a:t>
            </a:r>
          </a:p>
          <a:p>
            <a:pPr marL="285750" indent="-285750">
              <a:buFont typeface="Wingdings" panose="05000000000000000000" pitchFamily="2" charset="2"/>
              <a:buChar char="Ø"/>
            </a:pPr>
            <a:r>
              <a:rPr lang="en-US" b="1" dirty="0" err="1"/>
              <a:t>ALUSrc</a:t>
            </a:r>
            <a:r>
              <a:rPr lang="en-US" dirty="0"/>
              <a:t> = 0 </a:t>
            </a:r>
            <a:r>
              <a:rPr lang="en-US" dirty="0">
                <a:sym typeface="Wingdings" panose="05000000000000000000" pitchFamily="2" charset="2"/>
              </a:rPr>
              <a:t> Indicates that there is no Imm in the instruction, so, choose the ALU input 1 (Remember there is a MUX before ALU input 1) to RD2 (coming from the Register File).</a:t>
            </a:r>
            <a:endParaRPr lang="en-US" dirty="0"/>
          </a:p>
          <a:p>
            <a:pPr marL="285750" indent="-285750">
              <a:buFont typeface="Wingdings" panose="05000000000000000000" pitchFamily="2" charset="2"/>
              <a:buChar char="Ø"/>
            </a:pPr>
            <a:r>
              <a:rPr lang="en-US" b="1" dirty="0" err="1"/>
              <a:t>RegWrite</a:t>
            </a:r>
            <a:r>
              <a:rPr lang="en-US" dirty="0"/>
              <a:t> = 1 </a:t>
            </a:r>
            <a:r>
              <a:rPr lang="en-US" dirty="0">
                <a:sym typeface="Wingdings" panose="05000000000000000000" pitchFamily="2" charset="2"/>
              </a:rPr>
              <a:t> Tells the Register File to Write the Available data into the destination register rd.</a:t>
            </a:r>
            <a:endParaRPr lang="en-US" dirty="0"/>
          </a:p>
          <a:p>
            <a:pPr marL="285750" indent="-285750">
              <a:buFont typeface="Wingdings" panose="05000000000000000000" pitchFamily="2" charset="2"/>
              <a:buChar char="Ø"/>
            </a:pPr>
            <a:r>
              <a:rPr lang="en-US" b="1" dirty="0" err="1"/>
              <a:t>ALUOp</a:t>
            </a:r>
            <a:r>
              <a:rPr lang="en-US" dirty="0"/>
              <a:t> = 2’b10 </a:t>
            </a:r>
            <a:r>
              <a:rPr lang="en-US" dirty="0">
                <a:sym typeface="Wingdings" panose="05000000000000000000" pitchFamily="2" charset="2"/>
              </a:rPr>
              <a:t> Tells the ALU Control Block that this might be R or I type instruction, so further check funct3 and funct7.</a:t>
            </a:r>
            <a:endParaRPr lang="en-US" dirty="0"/>
          </a:p>
          <a:p>
            <a:r>
              <a:rPr lang="en-US" dirty="0"/>
              <a:t>We will naturally use case statement in Verilog under an always combinational block. The control signals will have a default value of zero.</a:t>
            </a:r>
            <a:endParaRPr lang="en-IN" dirty="0"/>
          </a:p>
        </p:txBody>
      </p:sp>
      <p:sp>
        <p:nvSpPr>
          <p:cNvPr id="6" name="Rectangle 5">
            <a:extLst>
              <a:ext uri="{FF2B5EF4-FFF2-40B4-BE49-F238E27FC236}">
                <a16:creationId xmlns:a16="http://schemas.microsoft.com/office/drawing/2014/main" id="{17A641BB-0009-F4D6-544A-55A03C3D0D6F}"/>
              </a:ext>
            </a:extLst>
          </p:cNvPr>
          <p:cNvSpPr/>
          <p:nvPr/>
        </p:nvSpPr>
        <p:spPr>
          <a:xfrm>
            <a:off x="7975600" y="958202"/>
            <a:ext cx="2349500" cy="19939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 </a:t>
            </a:r>
            <a:br>
              <a:rPr lang="en-US" dirty="0"/>
            </a:br>
            <a:r>
              <a:rPr lang="en-US" dirty="0"/>
              <a:t>Unit</a:t>
            </a:r>
            <a:endParaRPr lang="en-IN" dirty="0"/>
          </a:p>
        </p:txBody>
      </p:sp>
      <p:cxnSp>
        <p:nvCxnSpPr>
          <p:cNvPr id="8" name="Straight Arrow Connector 7">
            <a:extLst>
              <a:ext uri="{FF2B5EF4-FFF2-40B4-BE49-F238E27FC236}">
                <a16:creationId xmlns:a16="http://schemas.microsoft.com/office/drawing/2014/main" id="{926AA316-21F5-675F-AEF0-7E7FFD13F24E}"/>
              </a:ext>
            </a:extLst>
          </p:cNvPr>
          <p:cNvCxnSpPr/>
          <p:nvPr/>
        </p:nvCxnSpPr>
        <p:spPr>
          <a:xfrm>
            <a:off x="10325100" y="109790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1D8E979F-8FC8-1404-811E-CD10B869676A}"/>
              </a:ext>
            </a:extLst>
          </p:cNvPr>
          <p:cNvCxnSpPr/>
          <p:nvPr/>
        </p:nvCxnSpPr>
        <p:spPr>
          <a:xfrm>
            <a:off x="10325100" y="125030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AF1EC13-D555-8AD9-A352-87D80C38B2F0}"/>
              </a:ext>
            </a:extLst>
          </p:cNvPr>
          <p:cNvCxnSpPr/>
          <p:nvPr/>
        </p:nvCxnSpPr>
        <p:spPr>
          <a:xfrm>
            <a:off x="10325100" y="141540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DC5BDB6-D6FA-982F-5227-6CF3ED50114A}"/>
              </a:ext>
            </a:extLst>
          </p:cNvPr>
          <p:cNvCxnSpPr/>
          <p:nvPr/>
        </p:nvCxnSpPr>
        <p:spPr>
          <a:xfrm>
            <a:off x="10325100" y="159955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61C6C46F-F347-F875-9048-0164DFE51A64}"/>
              </a:ext>
            </a:extLst>
          </p:cNvPr>
          <p:cNvCxnSpPr/>
          <p:nvPr/>
        </p:nvCxnSpPr>
        <p:spPr>
          <a:xfrm>
            <a:off x="10325100" y="177100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AE469810-38CF-9BB8-4DB7-EABBE25284B4}"/>
              </a:ext>
            </a:extLst>
          </p:cNvPr>
          <p:cNvCxnSpPr/>
          <p:nvPr/>
        </p:nvCxnSpPr>
        <p:spPr>
          <a:xfrm>
            <a:off x="10325100" y="195515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B395A16-0E2A-8DD7-4455-03F3A4EAEA29}"/>
              </a:ext>
            </a:extLst>
          </p:cNvPr>
          <p:cNvCxnSpPr/>
          <p:nvPr/>
        </p:nvCxnSpPr>
        <p:spPr>
          <a:xfrm>
            <a:off x="10325100" y="214565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0FACF8ED-85EA-9527-E5C6-E106D9FCC2F8}"/>
              </a:ext>
            </a:extLst>
          </p:cNvPr>
          <p:cNvSpPr txBox="1"/>
          <p:nvPr/>
        </p:nvSpPr>
        <p:spPr>
          <a:xfrm>
            <a:off x="10452100" y="913484"/>
            <a:ext cx="584200" cy="215444"/>
          </a:xfrm>
          <a:prstGeom prst="rect">
            <a:avLst/>
          </a:prstGeom>
          <a:noFill/>
        </p:spPr>
        <p:txBody>
          <a:bodyPr wrap="square" rtlCol="0">
            <a:spAutoFit/>
          </a:bodyPr>
          <a:lstStyle/>
          <a:p>
            <a:r>
              <a:rPr lang="en-US" sz="800" b="1" dirty="0" err="1"/>
              <a:t>ALUOp</a:t>
            </a:r>
            <a:endParaRPr lang="en-IN" sz="800" b="1" dirty="0"/>
          </a:p>
        </p:txBody>
      </p:sp>
      <p:sp>
        <p:nvSpPr>
          <p:cNvPr id="16" name="TextBox 15">
            <a:extLst>
              <a:ext uri="{FF2B5EF4-FFF2-40B4-BE49-F238E27FC236}">
                <a16:creationId xmlns:a16="http://schemas.microsoft.com/office/drawing/2014/main" id="{048DECBC-1B14-686C-692A-8265722CB6B0}"/>
              </a:ext>
            </a:extLst>
          </p:cNvPr>
          <p:cNvSpPr txBox="1"/>
          <p:nvPr/>
        </p:nvSpPr>
        <p:spPr>
          <a:xfrm>
            <a:off x="10443766" y="1079263"/>
            <a:ext cx="711200" cy="215444"/>
          </a:xfrm>
          <a:prstGeom prst="rect">
            <a:avLst/>
          </a:prstGeom>
          <a:noFill/>
        </p:spPr>
        <p:txBody>
          <a:bodyPr wrap="square" rtlCol="0">
            <a:spAutoFit/>
          </a:bodyPr>
          <a:lstStyle/>
          <a:p>
            <a:r>
              <a:rPr lang="en-US" sz="800" b="1" dirty="0" err="1"/>
              <a:t>MemtoReg</a:t>
            </a:r>
            <a:endParaRPr lang="en-IN" sz="600" b="1" dirty="0"/>
          </a:p>
        </p:txBody>
      </p:sp>
      <p:sp>
        <p:nvSpPr>
          <p:cNvPr id="17" name="TextBox 16">
            <a:extLst>
              <a:ext uri="{FF2B5EF4-FFF2-40B4-BE49-F238E27FC236}">
                <a16:creationId xmlns:a16="http://schemas.microsoft.com/office/drawing/2014/main" id="{CCD86CCB-EBE6-C8DA-6080-6FDF36F7BED7}"/>
              </a:ext>
            </a:extLst>
          </p:cNvPr>
          <p:cNvSpPr txBox="1"/>
          <p:nvPr/>
        </p:nvSpPr>
        <p:spPr>
          <a:xfrm>
            <a:off x="10399514" y="1228171"/>
            <a:ext cx="816372" cy="246221"/>
          </a:xfrm>
          <a:prstGeom prst="rect">
            <a:avLst/>
          </a:prstGeom>
          <a:noFill/>
        </p:spPr>
        <p:txBody>
          <a:bodyPr wrap="square" rtlCol="0">
            <a:spAutoFit/>
          </a:bodyPr>
          <a:lstStyle/>
          <a:p>
            <a:r>
              <a:rPr lang="en-US" sz="1000" b="1" dirty="0" err="1"/>
              <a:t>MemRead</a:t>
            </a:r>
            <a:endParaRPr lang="en-IN" sz="600" b="1" dirty="0"/>
          </a:p>
        </p:txBody>
      </p:sp>
      <p:sp>
        <p:nvSpPr>
          <p:cNvPr id="18" name="TextBox 17">
            <a:extLst>
              <a:ext uri="{FF2B5EF4-FFF2-40B4-BE49-F238E27FC236}">
                <a16:creationId xmlns:a16="http://schemas.microsoft.com/office/drawing/2014/main" id="{A7743E02-66BC-4361-3B96-595F98968343}"/>
              </a:ext>
            </a:extLst>
          </p:cNvPr>
          <p:cNvSpPr txBox="1"/>
          <p:nvPr/>
        </p:nvSpPr>
        <p:spPr>
          <a:xfrm>
            <a:off x="10373222" y="1416179"/>
            <a:ext cx="816371" cy="246221"/>
          </a:xfrm>
          <a:prstGeom prst="rect">
            <a:avLst/>
          </a:prstGeom>
          <a:noFill/>
        </p:spPr>
        <p:txBody>
          <a:bodyPr wrap="square" rtlCol="0">
            <a:spAutoFit/>
          </a:bodyPr>
          <a:lstStyle/>
          <a:p>
            <a:r>
              <a:rPr lang="en-US" sz="1000" b="1" dirty="0" err="1"/>
              <a:t>MemWrite</a:t>
            </a:r>
            <a:endParaRPr lang="en-IN" sz="600" b="1" dirty="0"/>
          </a:p>
        </p:txBody>
      </p:sp>
      <p:sp>
        <p:nvSpPr>
          <p:cNvPr id="19" name="TextBox 18">
            <a:extLst>
              <a:ext uri="{FF2B5EF4-FFF2-40B4-BE49-F238E27FC236}">
                <a16:creationId xmlns:a16="http://schemas.microsoft.com/office/drawing/2014/main" id="{E98711A0-9CBE-A3FF-15B3-AACB736C75CF}"/>
              </a:ext>
            </a:extLst>
          </p:cNvPr>
          <p:cNvSpPr txBox="1"/>
          <p:nvPr/>
        </p:nvSpPr>
        <p:spPr>
          <a:xfrm>
            <a:off x="10422781" y="1588156"/>
            <a:ext cx="717252" cy="246221"/>
          </a:xfrm>
          <a:prstGeom prst="rect">
            <a:avLst/>
          </a:prstGeom>
          <a:noFill/>
        </p:spPr>
        <p:txBody>
          <a:bodyPr wrap="square" rtlCol="0">
            <a:spAutoFit/>
          </a:bodyPr>
          <a:lstStyle/>
          <a:p>
            <a:r>
              <a:rPr lang="en-US" sz="1000" b="1" dirty="0" err="1"/>
              <a:t>ALUSrc</a:t>
            </a:r>
            <a:endParaRPr lang="en-IN" sz="600" b="1" dirty="0"/>
          </a:p>
        </p:txBody>
      </p:sp>
      <p:sp>
        <p:nvSpPr>
          <p:cNvPr id="20" name="TextBox 19">
            <a:extLst>
              <a:ext uri="{FF2B5EF4-FFF2-40B4-BE49-F238E27FC236}">
                <a16:creationId xmlns:a16="http://schemas.microsoft.com/office/drawing/2014/main" id="{C9672C9C-72C4-F8E5-D9BD-F60DD3F450CE}"/>
              </a:ext>
            </a:extLst>
          </p:cNvPr>
          <p:cNvSpPr txBox="1"/>
          <p:nvPr/>
        </p:nvSpPr>
        <p:spPr>
          <a:xfrm>
            <a:off x="10422781" y="1763185"/>
            <a:ext cx="747265" cy="246221"/>
          </a:xfrm>
          <a:prstGeom prst="rect">
            <a:avLst/>
          </a:prstGeom>
          <a:noFill/>
        </p:spPr>
        <p:txBody>
          <a:bodyPr wrap="square" rtlCol="0">
            <a:spAutoFit/>
          </a:bodyPr>
          <a:lstStyle/>
          <a:p>
            <a:r>
              <a:rPr lang="en-US" sz="1000" b="1" dirty="0" err="1"/>
              <a:t>RegWrite</a:t>
            </a:r>
            <a:endParaRPr lang="en-IN" sz="600" b="1" dirty="0"/>
          </a:p>
        </p:txBody>
      </p:sp>
      <p:sp>
        <p:nvSpPr>
          <p:cNvPr id="21" name="TextBox 20">
            <a:extLst>
              <a:ext uri="{FF2B5EF4-FFF2-40B4-BE49-F238E27FC236}">
                <a16:creationId xmlns:a16="http://schemas.microsoft.com/office/drawing/2014/main" id="{CB2AD42E-B449-4D28-9C6F-4611CCFC7A70}"/>
              </a:ext>
            </a:extLst>
          </p:cNvPr>
          <p:cNvSpPr txBox="1"/>
          <p:nvPr/>
        </p:nvSpPr>
        <p:spPr>
          <a:xfrm>
            <a:off x="10432108" y="1954838"/>
            <a:ext cx="667692" cy="253916"/>
          </a:xfrm>
          <a:prstGeom prst="rect">
            <a:avLst/>
          </a:prstGeom>
          <a:noFill/>
        </p:spPr>
        <p:txBody>
          <a:bodyPr wrap="square" rtlCol="0">
            <a:spAutoFit/>
          </a:bodyPr>
          <a:lstStyle/>
          <a:p>
            <a:r>
              <a:rPr lang="en-US" sz="1050" b="1" dirty="0"/>
              <a:t>Branch</a:t>
            </a:r>
            <a:endParaRPr lang="en-IN" sz="600" b="1" dirty="0"/>
          </a:p>
        </p:txBody>
      </p:sp>
      <p:cxnSp>
        <p:nvCxnSpPr>
          <p:cNvPr id="22" name="Straight Arrow Connector 21">
            <a:extLst>
              <a:ext uri="{FF2B5EF4-FFF2-40B4-BE49-F238E27FC236}">
                <a16:creationId xmlns:a16="http://schemas.microsoft.com/office/drawing/2014/main" id="{3693BE9F-FD80-D827-18AB-B6D89B544031}"/>
              </a:ext>
            </a:extLst>
          </p:cNvPr>
          <p:cNvCxnSpPr/>
          <p:nvPr/>
        </p:nvCxnSpPr>
        <p:spPr>
          <a:xfrm>
            <a:off x="10325100" y="2298052"/>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ABDD131C-3387-FA27-2F6F-21F56FC80FCD}"/>
              </a:ext>
            </a:extLst>
          </p:cNvPr>
          <p:cNvSpPr txBox="1"/>
          <p:nvPr/>
        </p:nvSpPr>
        <p:spPr>
          <a:xfrm>
            <a:off x="10472341" y="2117891"/>
            <a:ext cx="636786" cy="253916"/>
          </a:xfrm>
          <a:prstGeom prst="rect">
            <a:avLst/>
          </a:prstGeom>
          <a:noFill/>
        </p:spPr>
        <p:txBody>
          <a:bodyPr wrap="square" rtlCol="0">
            <a:spAutoFit/>
          </a:bodyPr>
          <a:lstStyle/>
          <a:p>
            <a:r>
              <a:rPr lang="en-US" sz="1000" b="1" dirty="0"/>
              <a:t>Jal</a:t>
            </a:r>
            <a:endParaRPr lang="en-IN" sz="600" b="1" dirty="0"/>
          </a:p>
        </p:txBody>
      </p:sp>
      <p:sp>
        <p:nvSpPr>
          <p:cNvPr id="24" name="TextBox 23">
            <a:extLst>
              <a:ext uri="{FF2B5EF4-FFF2-40B4-BE49-F238E27FC236}">
                <a16:creationId xmlns:a16="http://schemas.microsoft.com/office/drawing/2014/main" id="{18DCE06D-11F1-3300-AF7A-D792B99CF624}"/>
              </a:ext>
            </a:extLst>
          </p:cNvPr>
          <p:cNvSpPr txBox="1"/>
          <p:nvPr/>
        </p:nvSpPr>
        <p:spPr>
          <a:xfrm>
            <a:off x="10472341" y="2313863"/>
            <a:ext cx="584200" cy="246221"/>
          </a:xfrm>
          <a:prstGeom prst="rect">
            <a:avLst/>
          </a:prstGeom>
          <a:noFill/>
        </p:spPr>
        <p:txBody>
          <a:bodyPr wrap="square" rtlCol="0">
            <a:spAutoFit/>
          </a:bodyPr>
          <a:lstStyle/>
          <a:p>
            <a:r>
              <a:rPr lang="en-US" sz="1000" b="1" dirty="0" err="1"/>
              <a:t>Jalr</a:t>
            </a:r>
            <a:endParaRPr lang="en-IN" sz="600" b="1" dirty="0"/>
          </a:p>
        </p:txBody>
      </p:sp>
      <p:cxnSp>
        <p:nvCxnSpPr>
          <p:cNvPr id="25" name="Straight Arrow Connector 24">
            <a:extLst>
              <a:ext uri="{FF2B5EF4-FFF2-40B4-BE49-F238E27FC236}">
                <a16:creationId xmlns:a16="http://schemas.microsoft.com/office/drawing/2014/main" id="{F1B63422-96E3-46CF-5570-0BF9B5C97FE8}"/>
              </a:ext>
            </a:extLst>
          </p:cNvPr>
          <p:cNvCxnSpPr/>
          <p:nvPr/>
        </p:nvCxnSpPr>
        <p:spPr>
          <a:xfrm>
            <a:off x="10325100" y="2498870"/>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7AD1EB8-A1D2-D131-FF32-760074DA2F29}"/>
              </a:ext>
            </a:extLst>
          </p:cNvPr>
          <p:cNvCxnSpPr/>
          <p:nvPr/>
        </p:nvCxnSpPr>
        <p:spPr>
          <a:xfrm>
            <a:off x="7137400" y="1707151"/>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88BD8553-1F4C-A5D1-BD77-9949B76D42DE}"/>
              </a:ext>
            </a:extLst>
          </p:cNvPr>
          <p:cNvSpPr txBox="1"/>
          <p:nvPr/>
        </p:nvSpPr>
        <p:spPr>
          <a:xfrm>
            <a:off x="7158633" y="1480341"/>
            <a:ext cx="584200" cy="246221"/>
          </a:xfrm>
          <a:prstGeom prst="rect">
            <a:avLst/>
          </a:prstGeom>
          <a:noFill/>
        </p:spPr>
        <p:txBody>
          <a:bodyPr wrap="square" rtlCol="0">
            <a:spAutoFit/>
          </a:bodyPr>
          <a:lstStyle/>
          <a:p>
            <a:r>
              <a:rPr lang="en-US" sz="1000" b="1" dirty="0"/>
              <a:t>opcode</a:t>
            </a:r>
            <a:endParaRPr lang="en-IN" sz="700" b="1" dirty="0"/>
          </a:p>
        </p:txBody>
      </p:sp>
      <p:cxnSp>
        <p:nvCxnSpPr>
          <p:cNvPr id="32" name="Straight Connector 31">
            <a:extLst>
              <a:ext uri="{FF2B5EF4-FFF2-40B4-BE49-F238E27FC236}">
                <a16:creationId xmlns:a16="http://schemas.microsoft.com/office/drawing/2014/main" id="{D96E2F94-EB0C-533B-EBAA-593E04AF05EF}"/>
              </a:ext>
            </a:extLst>
          </p:cNvPr>
          <p:cNvCxnSpPr/>
          <p:nvPr/>
        </p:nvCxnSpPr>
        <p:spPr>
          <a:xfrm flipV="1">
            <a:off x="7592542" y="1656681"/>
            <a:ext cx="107950" cy="125698"/>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6C7ADB19-DEA2-FBDB-8C57-88C76061810A}"/>
              </a:ext>
            </a:extLst>
          </p:cNvPr>
          <p:cNvCxnSpPr/>
          <p:nvPr/>
        </p:nvCxnSpPr>
        <p:spPr>
          <a:xfrm flipV="1">
            <a:off x="10389791" y="1054229"/>
            <a:ext cx="107950" cy="125698"/>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A497AF3E-EEF2-73AB-97B8-44E6D3D39181}"/>
              </a:ext>
            </a:extLst>
          </p:cNvPr>
          <p:cNvCxnSpPr/>
          <p:nvPr/>
        </p:nvCxnSpPr>
        <p:spPr>
          <a:xfrm>
            <a:off x="10325100" y="2651270"/>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AAA948A-6A61-C34C-33D6-FB1133763543}"/>
              </a:ext>
            </a:extLst>
          </p:cNvPr>
          <p:cNvCxnSpPr/>
          <p:nvPr/>
        </p:nvCxnSpPr>
        <p:spPr>
          <a:xfrm>
            <a:off x="10325100" y="2796050"/>
            <a:ext cx="838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4B82998A-F6FB-8DB0-B885-C08CF458F3CC}"/>
              </a:ext>
            </a:extLst>
          </p:cNvPr>
          <p:cNvSpPr txBox="1"/>
          <p:nvPr/>
        </p:nvSpPr>
        <p:spPr>
          <a:xfrm>
            <a:off x="10489307" y="2471023"/>
            <a:ext cx="584200" cy="246221"/>
          </a:xfrm>
          <a:prstGeom prst="rect">
            <a:avLst/>
          </a:prstGeom>
          <a:noFill/>
        </p:spPr>
        <p:txBody>
          <a:bodyPr wrap="square" rtlCol="0">
            <a:spAutoFit/>
          </a:bodyPr>
          <a:lstStyle/>
          <a:p>
            <a:r>
              <a:rPr lang="en-US" sz="1000" b="1" dirty="0"/>
              <a:t>LUI</a:t>
            </a:r>
            <a:endParaRPr lang="en-IN" sz="600" b="1" dirty="0"/>
          </a:p>
        </p:txBody>
      </p:sp>
      <p:sp>
        <p:nvSpPr>
          <p:cNvPr id="37" name="TextBox 36">
            <a:extLst>
              <a:ext uri="{FF2B5EF4-FFF2-40B4-BE49-F238E27FC236}">
                <a16:creationId xmlns:a16="http://schemas.microsoft.com/office/drawing/2014/main" id="{419EE4DA-67DD-C450-0371-72088E283572}"/>
              </a:ext>
            </a:extLst>
          </p:cNvPr>
          <p:cNvSpPr txBox="1"/>
          <p:nvPr/>
        </p:nvSpPr>
        <p:spPr>
          <a:xfrm>
            <a:off x="10452100" y="2621980"/>
            <a:ext cx="639366" cy="246221"/>
          </a:xfrm>
          <a:prstGeom prst="rect">
            <a:avLst/>
          </a:prstGeom>
          <a:noFill/>
        </p:spPr>
        <p:txBody>
          <a:bodyPr wrap="square" rtlCol="0">
            <a:spAutoFit/>
          </a:bodyPr>
          <a:lstStyle/>
          <a:p>
            <a:r>
              <a:rPr lang="en-US" sz="1000" b="1" dirty="0"/>
              <a:t>AUIPC</a:t>
            </a:r>
            <a:endParaRPr lang="en-IN" sz="600" b="1" dirty="0"/>
          </a:p>
        </p:txBody>
      </p:sp>
      <p:sp>
        <p:nvSpPr>
          <p:cNvPr id="38" name="TextBox 37">
            <a:extLst>
              <a:ext uri="{FF2B5EF4-FFF2-40B4-BE49-F238E27FC236}">
                <a16:creationId xmlns:a16="http://schemas.microsoft.com/office/drawing/2014/main" id="{50F626E7-54BD-3082-C25A-F4D171064FCB}"/>
              </a:ext>
            </a:extLst>
          </p:cNvPr>
          <p:cNvSpPr txBox="1"/>
          <p:nvPr/>
        </p:nvSpPr>
        <p:spPr>
          <a:xfrm>
            <a:off x="6705600" y="3075211"/>
            <a:ext cx="5321300" cy="304698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&gt; A Natural Question may arise that how are we deciding the ALU Op ? Is it random or is it our choice ?</a:t>
            </a:r>
            <a:br>
              <a:rPr lang="en-US" sz="1600" dirty="0"/>
            </a:br>
            <a:r>
              <a:rPr lang="en-US" sz="1600" dirty="0"/>
              <a:t>&gt; The answer is, yes, it entirely depends on the Processor Designer. If you, assign different ALU Op, then accordingly you have to design the ALU Control. </a:t>
            </a:r>
          </a:p>
          <a:p>
            <a:r>
              <a:rPr lang="en-US" sz="1600" dirty="0"/>
              <a:t>&gt; The ALU Op basically helps us to distinguish between Memory Access (Load and Store), Branch and R-I type instructions.</a:t>
            </a:r>
            <a:br>
              <a:rPr lang="en-US" sz="1600" dirty="0"/>
            </a:br>
            <a:r>
              <a:rPr lang="en-US" sz="1600" dirty="0"/>
              <a:t>&gt; In many books, it is decided to use the following convention for the ALU Op :</a:t>
            </a:r>
            <a:br>
              <a:rPr lang="en-US" sz="1600" dirty="0"/>
            </a:br>
            <a:r>
              <a:rPr lang="en-US" sz="1600" dirty="0"/>
              <a:t>00 : Load and Store    10 : R-I type </a:t>
            </a:r>
            <a:r>
              <a:rPr lang="en-US" sz="1600" dirty="0" err="1"/>
              <a:t>instr</a:t>
            </a:r>
            <a:endParaRPr lang="en-US" sz="1600" dirty="0"/>
          </a:p>
          <a:p>
            <a:r>
              <a:rPr lang="en-US" sz="1600" dirty="0"/>
              <a:t>01 : Branch                  11 : Invalid</a:t>
            </a:r>
            <a:endParaRPr lang="en-IN" sz="1600" dirty="0"/>
          </a:p>
        </p:txBody>
      </p:sp>
    </p:spTree>
    <p:extLst>
      <p:ext uri="{BB962C8B-B14F-4D97-AF65-F5344CB8AC3E}">
        <p14:creationId xmlns:p14="http://schemas.microsoft.com/office/powerpoint/2010/main" val="2627491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0" name="Rectangle 3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D023CE-0B17-46C7-ADE3-4430D2ECC4A5}"/>
              </a:ext>
            </a:extLst>
          </p:cNvPr>
          <p:cNvSpPr>
            <a:spLocks noGrp="1"/>
          </p:cNvSpPr>
          <p:nvPr>
            <p:ph type="title"/>
          </p:nvPr>
        </p:nvSpPr>
        <p:spPr>
          <a:xfrm>
            <a:off x="703400" y="908651"/>
            <a:ext cx="3620882" cy="3640345"/>
          </a:xfrm>
        </p:spPr>
        <p:txBody>
          <a:bodyPr vert="horz" lIns="91440" tIns="45720" rIns="91440" bIns="45720" rtlCol="0" anchor="t">
            <a:normAutofit/>
          </a:bodyPr>
          <a:lstStyle/>
          <a:p>
            <a:r>
              <a:rPr lang="en-US"/>
              <a:t>The Verilog code for the control unit</a:t>
            </a:r>
          </a:p>
        </p:txBody>
      </p:sp>
      <p:cxnSp>
        <p:nvCxnSpPr>
          <p:cNvPr id="37" name="Straight Connector 3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Content Placeholder 16" descr="A screenshot of a computer program&#10;&#10;AI-generated content may be incorrect.">
            <a:extLst>
              <a:ext uri="{FF2B5EF4-FFF2-40B4-BE49-F238E27FC236}">
                <a16:creationId xmlns:a16="http://schemas.microsoft.com/office/drawing/2014/main" id="{8A37C961-A06D-18BB-2067-883F14E985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49389" y="0"/>
            <a:ext cx="4042611" cy="6857995"/>
          </a:xfrm>
        </p:spPr>
      </p:pic>
    </p:spTree>
    <p:extLst>
      <p:ext uri="{BB962C8B-B14F-4D97-AF65-F5344CB8AC3E}">
        <p14:creationId xmlns:p14="http://schemas.microsoft.com/office/powerpoint/2010/main" val="3842863022"/>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817A6-98B3-F273-38E8-C31F76CF50BB}"/>
              </a:ext>
            </a:extLst>
          </p:cNvPr>
          <p:cNvSpPr>
            <a:spLocks noGrp="1"/>
          </p:cNvSpPr>
          <p:nvPr>
            <p:ph type="title"/>
          </p:nvPr>
        </p:nvSpPr>
        <p:spPr>
          <a:xfrm>
            <a:off x="700634" y="12700"/>
            <a:ext cx="10691265" cy="698500"/>
          </a:xfrm>
        </p:spPr>
        <p:txBody>
          <a:bodyPr>
            <a:normAutofit fontScale="90000"/>
          </a:bodyPr>
          <a:lstStyle/>
          <a:p>
            <a:pPr algn="ctr"/>
            <a:r>
              <a:rPr lang="en-US" dirty="0"/>
              <a:t>Designing the alu control block</a:t>
            </a:r>
            <a:endParaRPr lang="en-IN" dirty="0"/>
          </a:p>
        </p:txBody>
      </p:sp>
      <p:sp>
        <p:nvSpPr>
          <p:cNvPr id="3" name="Content Placeholder 2">
            <a:extLst>
              <a:ext uri="{FF2B5EF4-FFF2-40B4-BE49-F238E27FC236}">
                <a16:creationId xmlns:a16="http://schemas.microsoft.com/office/drawing/2014/main" id="{28EB21D3-13EA-EF0B-3225-FEF4BF5C0761}"/>
              </a:ext>
            </a:extLst>
          </p:cNvPr>
          <p:cNvSpPr>
            <a:spLocks noGrp="1"/>
          </p:cNvSpPr>
          <p:nvPr>
            <p:ph idx="1"/>
          </p:nvPr>
        </p:nvSpPr>
        <p:spPr>
          <a:xfrm>
            <a:off x="700635" y="711200"/>
            <a:ext cx="10691265" cy="5448300"/>
          </a:xfrm>
        </p:spPr>
        <p:txBody>
          <a:bodyPr>
            <a:normAutofit fontScale="92500" lnSpcReduction="20000"/>
          </a:bodyPr>
          <a:lstStyle/>
          <a:p>
            <a:pPr marL="0" indent="0">
              <a:buNone/>
            </a:pPr>
            <a:r>
              <a:rPr lang="en-US" dirty="0"/>
              <a:t>The ALU Control Block will accept the ALU Op (2 bits) from the Control Unit and produces an ALU Control Signal (4 Bits) which will be further accepted by the ALU to decide which operation is to be performed. So, the ALU Control Block has to decide which operation is to be performed.</a:t>
            </a:r>
            <a:r>
              <a:rPr lang="en-IN" dirty="0"/>
              <a:t> To design this block, we will use some observations :</a:t>
            </a:r>
          </a:p>
          <a:p>
            <a:pPr>
              <a:buFont typeface="Wingdings" panose="05000000000000000000" pitchFamily="2" charset="2"/>
              <a:buChar char="Ø"/>
            </a:pPr>
            <a:r>
              <a:rPr lang="en-IN" dirty="0"/>
              <a:t>  For Memory Access instructions (Load and Store) we only add (signed) the rs2 with </a:t>
            </a:r>
            <a:r>
              <a:rPr lang="en-IN" dirty="0" err="1"/>
              <a:t>imm</a:t>
            </a:r>
            <a:r>
              <a:rPr lang="en-IN" dirty="0"/>
              <a:t>. So, if ALU Op = 00, the ALU should perform Addition operation. The ALU Control for Addition is 0010.</a:t>
            </a:r>
          </a:p>
          <a:p>
            <a:pPr>
              <a:buFont typeface="Wingdings" panose="05000000000000000000" pitchFamily="2" charset="2"/>
              <a:buChar char="Ø"/>
            </a:pPr>
            <a:r>
              <a:rPr lang="en-IN" dirty="0"/>
              <a:t>For Branch type instructions :</a:t>
            </a:r>
          </a:p>
          <a:p>
            <a:pPr lvl="1">
              <a:buFont typeface="Wingdings" panose="05000000000000000000" pitchFamily="2" charset="2"/>
              <a:buChar char="Ø"/>
            </a:pPr>
            <a:r>
              <a:rPr lang="en-IN" dirty="0"/>
              <a:t>For </a:t>
            </a:r>
            <a:r>
              <a:rPr lang="en-IN" dirty="0" err="1"/>
              <a:t>beq</a:t>
            </a:r>
            <a:r>
              <a:rPr lang="en-IN" dirty="0"/>
              <a:t>, </a:t>
            </a:r>
            <a:r>
              <a:rPr lang="en-IN" dirty="0" err="1"/>
              <a:t>bne</a:t>
            </a:r>
            <a:r>
              <a:rPr lang="en-IN" dirty="0"/>
              <a:t> (funct3 = 000, 001 respectively) we subtract rs2 from rs2, so the ALU should do Subtraction operation. The ALU Control for Subtraction is 0010.</a:t>
            </a:r>
          </a:p>
          <a:p>
            <a:pPr lvl="1">
              <a:buFont typeface="Wingdings" panose="05000000000000000000" pitchFamily="2" charset="2"/>
              <a:buChar char="Ø"/>
            </a:pPr>
            <a:r>
              <a:rPr lang="en-IN" dirty="0"/>
              <a:t>For </a:t>
            </a:r>
            <a:r>
              <a:rPr lang="en-IN" dirty="0" err="1"/>
              <a:t>blt</a:t>
            </a:r>
            <a:r>
              <a:rPr lang="en-IN" dirty="0"/>
              <a:t>, </a:t>
            </a:r>
            <a:r>
              <a:rPr lang="en-IN" dirty="0" err="1"/>
              <a:t>bge</a:t>
            </a:r>
            <a:r>
              <a:rPr lang="en-IN" dirty="0"/>
              <a:t> (funct3 = 100, 101 respectively) we do signed comparison between rs1 and rs2, so the ALU should do the same. The ALU Control for Signed Comparison is 0011.</a:t>
            </a:r>
          </a:p>
          <a:p>
            <a:pPr lvl="1">
              <a:buFont typeface="Wingdings" panose="05000000000000000000" pitchFamily="2" charset="2"/>
              <a:buChar char="Ø"/>
            </a:pPr>
            <a:r>
              <a:rPr lang="en-IN" dirty="0"/>
              <a:t>For </a:t>
            </a:r>
            <a:r>
              <a:rPr lang="en-IN" dirty="0" err="1"/>
              <a:t>bltu</a:t>
            </a:r>
            <a:r>
              <a:rPr lang="en-IN" dirty="0"/>
              <a:t>, </a:t>
            </a:r>
            <a:r>
              <a:rPr lang="en-IN" dirty="0" err="1"/>
              <a:t>bgeu</a:t>
            </a:r>
            <a:r>
              <a:rPr lang="en-IN" dirty="0"/>
              <a:t> (funct3 = 110, 111 respectively) we do unsigned comparison between rs1 and rs2, so the ALU should do the same. The ALU Control for Unsigned Comparison is 1000.</a:t>
            </a:r>
          </a:p>
          <a:p>
            <a:pPr>
              <a:buFont typeface="Wingdings" panose="05000000000000000000" pitchFamily="2" charset="2"/>
              <a:buChar char="Ø"/>
            </a:pPr>
            <a:r>
              <a:rPr lang="en-IN" dirty="0"/>
              <a:t>For R and I type instructions :</a:t>
            </a:r>
          </a:p>
          <a:p>
            <a:pPr lvl="1">
              <a:buFont typeface="Wingdings" panose="05000000000000000000" pitchFamily="2" charset="2"/>
              <a:buChar char="Ø"/>
            </a:pPr>
            <a:r>
              <a:rPr lang="en-IN" dirty="0"/>
              <a:t>The fucnt7 is 0000000 always except for two subtraction and shift right arithmetic operations. So, when funct7 == 000000, according to funct3 we will decide the ALU Control. Please refer to the tables shown in the previous slides.</a:t>
            </a:r>
          </a:p>
          <a:p>
            <a:pPr lvl="1">
              <a:buFont typeface="Wingdings" panose="05000000000000000000" pitchFamily="2" charset="2"/>
              <a:buChar char="Ø"/>
            </a:pPr>
            <a:r>
              <a:rPr lang="en-IN" dirty="0"/>
              <a:t>When funct7 is not 0000000, we will again decide the operation (whether subtraction of shift right arithmetic) based on the funct3. Accordingly we will set the ALU Control.</a:t>
            </a:r>
          </a:p>
          <a:p>
            <a:pPr lvl="1">
              <a:buFont typeface="Wingdings" panose="05000000000000000000" pitchFamily="2" charset="2"/>
              <a:buChar char="Ø"/>
            </a:pPr>
            <a:endParaRPr lang="en-IN" dirty="0"/>
          </a:p>
          <a:p>
            <a:pPr lvl="1">
              <a:buFont typeface="Wingdings" panose="05000000000000000000" pitchFamily="2" charset="2"/>
              <a:buChar char="Ø"/>
            </a:pPr>
            <a:endParaRPr lang="en-US" dirty="0"/>
          </a:p>
        </p:txBody>
      </p:sp>
    </p:spTree>
    <p:extLst>
      <p:ext uri="{BB962C8B-B14F-4D97-AF65-F5344CB8AC3E}">
        <p14:creationId xmlns:p14="http://schemas.microsoft.com/office/powerpoint/2010/main" val="2740208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96FFD6-4750-2914-832F-B86E6DF41CC1}"/>
              </a:ext>
            </a:extLst>
          </p:cNvPr>
          <p:cNvSpPr>
            <a:spLocks noGrp="1"/>
          </p:cNvSpPr>
          <p:nvPr>
            <p:ph type="title"/>
          </p:nvPr>
        </p:nvSpPr>
        <p:spPr>
          <a:xfrm>
            <a:off x="5604552" y="871758"/>
            <a:ext cx="5825448" cy="3871143"/>
          </a:xfrm>
        </p:spPr>
        <p:txBody>
          <a:bodyPr vert="horz" lIns="91440" tIns="45720" rIns="91440" bIns="45720" rtlCol="0" anchor="t">
            <a:normAutofit/>
          </a:bodyPr>
          <a:lstStyle/>
          <a:p>
            <a:r>
              <a:rPr lang="en-US" sz="5400" dirty="0"/>
              <a:t>The Verilog code for the alu control block</a:t>
            </a:r>
          </a:p>
        </p:txBody>
      </p:sp>
      <p:pic>
        <p:nvPicPr>
          <p:cNvPr id="7" name="Content Placeholder 6" descr="A screenshot of a computer program&#10;&#10;AI-generated content may be incorrect.">
            <a:extLst>
              <a:ext uri="{FF2B5EF4-FFF2-40B4-BE49-F238E27FC236}">
                <a16:creationId xmlns:a16="http://schemas.microsoft.com/office/drawing/2014/main" id="{67844564-6A34-5D66-42C9-BBDAC52098FD}"/>
              </a:ext>
            </a:extLst>
          </p:cNvPr>
          <p:cNvPicPr>
            <a:picLocks noGrp="1" noChangeAspect="1"/>
          </p:cNvPicPr>
          <p:nvPr>
            <p:ph idx="1"/>
          </p:nvPr>
        </p:nvPicPr>
        <p:blipFill>
          <a:blip r:embed="rId2"/>
          <a:srcRect r="13279"/>
          <a:stretch>
            <a:fillRect/>
          </a:stretch>
        </p:blipFill>
        <p:spPr>
          <a:xfrm>
            <a:off x="1" y="10"/>
            <a:ext cx="4876799" cy="6857989"/>
          </a:xfrm>
          <a:prstGeom prst="rect">
            <a:avLst/>
          </a:prstGeom>
        </p:spPr>
      </p:pic>
      <p:cxnSp>
        <p:nvCxnSpPr>
          <p:cNvPr id="25" name="Straight Connector 2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485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FF181-D0FE-7F6D-DF1C-ACE11A07D940}"/>
              </a:ext>
            </a:extLst>
          </p:cNvPr>
          <p:cNvSpPr>
            <a:spLocks noGrp="1"/>
          </p:cNvSpPr>
          <p:nvPr>
            <p:ph type="title"/>
          </p:nvPr>
        </p:nvSpPr>
        <p:spPr>
          <a:xfrm>
            <a:off x="540315" y="161543"/>
            <a:ext cx="11224055" cy="520845"/>
          </a:xfrm>
        </p:spPr>
        <p:txBody>
          <a:bodyPr>
            <a:normAutofit fontScale="90000"/>
          </a:bodyPr>
          <a:lstStyle/>
          <a:p>
            <a:pPr algn="ctr"/>
            <a:r>
              <a:rPr lang="en-US" b="1" dirty="0"/>
              <a:t>Designing the arithmetic logic unit (alu)</a:t>
            </a:r>
            <a:endParaRPr lang="en-IN" b="1" dirty="0"/>
          </a:p>
        </p:txBody>
      </p:sp>
      <p:graphicFrame>
        <p:nvGraphicFramePr>
          <p:cNvPr id="5" name="Content Placeholder 4">
            <a:extLst>
              <a:ext uri="{FF2B5EF4-FFF2-40B4-BE49-F238E27FC236}">
                <a16:creationId xmlns:a16="http://schemas.microsoft.com/office/drawing/2014/main" id="{480DA8CE-69B7-7F93-2A43-51D9DD922355}"/>
              </a:ext>
            </a:extLst>
          </p:cNvPr>
          <p:cNvGraphicFramePr>
            <a:graphicFrameLocks noGrp="1"/>
          </p:cNvGraphicFramePr>
          <p:nvPr>
            <p:ph idx="1"/>
            <p:extLst>
              <p:ext uri="{D42A27DB-BD31-4B8C-83A1-F6EECF244321}">
                <p14:modId xmlns:p14="http://schemas.microsoft.com/office/powerpoint/2010/main" val="655810725"/>
              </p:ext>
            </p:extLst>
          </p:nvPr>
        </p:nvGraphicFramePr>
        <p:xfrm>
          <a:off x="927430" y="850900"/>
          <a:ext cx="3947164" cy="5156200"/>
        </p:xfrm>
        <a:graphic>
          <a:graphicData uri="http://schemas.openxmlformats.org/drawingml/2006/table">
            <a:tbl>
              <a:tblPr firstRow="1" bandRow="1">
                <a:tableStyleId>{5C22544A-7EE6-4342-B048-85BDC9FD1C3A}</a:tableStyleId>
              </a:tblPr>
              <a:tblGrid>
                <a:gridCol w="1973582">
                  <a:extLst>
                    <a:ext uri="{9D8B030D-6E8A-4147-A177-3AD203B41FA5}">
                      <a16:colId xmlns:a16="http://schemas.microsoft.com/office/drawing/2014/main" val="2009292370"/>
                    </a:ext>
                  </a:extLst>
                </a:gridCol>
                <a:gridCol w="1973582">
                  <a:extLst>
                    <a:ext uri="{9D8B030D-6E8A-4147-A177-3AD203B41FA5}">
                      <a16:colId xmlns:a16="http://schemas.microsoft.com/office/drawing/2014/main" val="1598096513"/>
                    </a:ext>
                  </a:extLst>
                </a:gridCol>
              </a:tblGrid>
              <a:tr h="370840">
                <a:tc>
                  <a:txBody>
                    <a:bodyPr/>
                    <a:lstStyle/>
                    <a:p>
                      <a:pPr algn="ctr"/>
                      <a:r>
                        <a:rPr lang="en-US" b="1" dirty="0"/>
                        <a:t>ALU Control</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Operation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7563058"/>
                  </a:ext>
                </a:extLst>
              </a:tr>
              <a:tr h="370840">
                <a:tc>
                  <a:txBody>
                    <a:bodyPr/>
                    <a:lstStyle/>
                    <a:p>
                      <a:pPr algn="ctr"/>
                      <a:r>
                        <a:rPr lang="en-US" b="1" dirty="0"/>
                        <a:t>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Bitwise AND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089142"/>
                  </a:ext>
                </a:extLst>
              </a:tr>
              <a:tr h="370840">
                <a:tc>
                  <a:txBody>
                    <a:bodyPr/>
                    <a:lstStyle/>
                    <a:p>
                      <a:pPr algn="ctr"/>
                      <a:r>
                        <a:rPr lang="en-US" b="1" dirty="0"/>
                        <a:t>0001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Bitwise OR</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255992"/>
                  </a:ext>
                </a:extLst>
              </a:tr>
              <a:tr h="370840">
                <a:tc>
                  <a:txBody>
                    <a:bodyPr/>
                    <a:lstStyle/>
                    <a:p>
                      <a:pPr algn="ctr"/>
                      <a:r>
                        <a:rPr lang="en-US" b="1" dirty="0"/>
                        <a:t>0010</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Addition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239083"/>
                  </a:ext>
                </a:extLst>
              </a:tr>
              <a:tr h="370840">
                <a:tc>
                  <a:txBody>
                    <a:bodyPr/>
                    <a:lstStyle/>
                    <a:p>
                      <a:pPr algn="ctr"/>
                      <a:r>
                        <a:rPr lang="en-US" b="1" dirty="0"/>
                        <a:t>0011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Bitwise XOR</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601350"/>
                  </a:ext>
                </a:extLst>
              </a:tr>
              <a:tr h="370840">
                <a:tc>
                  <a:txBody>
                    <a:bodyPr/>
                    <a:lstStyle/>
                    <a:p>
                      <a:pPr algn="ctr"/>
                      <a:r>
                        <a:rPr lang="en-US" b="1" dirty="0"/>
                        <a:t>0100</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Shift Logical Left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7186754"/>
                  </a:ext>
                </a:extLst>
              </a:tr>
              <a:tr h="370840">
                <a:tc>
                  <a:txBody>
                    <a:bodyPr/>
                    <a:lstStyle/>
                    <a:p>
                      <a:pPr algn="ctr"/>
                      <a:r>
                        <a:rPr lang="en-US" b="1" dirty="0"/>
                        <a:t>0101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Shift Logical Right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9146262"/>
                  </a:ext>
                </a:extLst>
              </a:tr>
              <a:tr h="370840">
                <a:tc>
                  <a:txBody>
                    <a:bodyPr/>
                    <a:lstStyle/>
                    <a:p>
                      <a:pPr algn="ctr"/>
                      <a:r>
                        <a:rPr lang="en-US" b="1" dirty="0"/>
                        <a:t>0110</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Subtraction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7998289"/>
                  </a:ext>
                </a:extLst>
              </a:tr>
              <a:tr h="370840">
                <a:tc>
                  <a:txBody>
                    <a:bodyPr/>
                    <a:lstStyle/>
                    <a:p>
                      <a:pPr algn="ctr"/>
                      <a:r>
                        <a:rPr lang="en-US" b="1" dirty="0"/>
                        <a:t>0111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Signed Comparison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122041"/>
                  </a:ext>
                </a:extLst>
              </a:tr>
              <a:tr h="370840">
                <a:tc>
                  <a:txBody>
                    <a:bodyPr/>
                    <a:lstStyle/>
                    <a:p>
                      <a:pPr algn="ctr"/>
                      <a:r>
                        <a:rPr lang="en-US" b="1" dirty="0"/>
                        <a:t>1000</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Unsigned Comparison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5639473"/>
                  </a:ext>
                </a:extLst>
              </a:tr>
              <a:tr h="370840">
                <a:tc>
                  <a:txBody>
                    <a:bodyPr/>
                    <a:lstStyle/>
                    <a:p>
                      <a:pPr algn="ctr"/>
                      <a:r>
                        <a:rPr lang="en-US" b="1" dirty="0"/>
                        <a:t>1101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Shift Right Arithmetic</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8439070"/>
                  </a:ext>
                </a:extLst>
              </a:tr>
            </a:tbl>
          </a:graphicData>
        </a:graphic>
      </p:graphicFrame>
      <p:sp>
        <p:nvSpPr>
          <p:cNvPr id="6" name="TextBox 5">
            <a:extLst>
              <a:ext uri="{FF2B5EF4-FFF2-40B4-BE49-F238E27FC236}">
                <a16:creationId xmlns:a16="http://schemas.microsoft.com/office/drawing/2014/main" id="{6563B1BF-0CBF-1C00-05F1-AD0DA2C618FD}"/>
              </a:ext>
            </a:extLst>
          </p:cNvPr>
          <p:cNvSpPr txBox="1"/>
          <p:nvPr/>
        </p:nvSpPr>
        <p:spPr>
          <a:xfrm>
            <a:off x="4995081" y="850900"/>
            <a:ext cx="6387152" cy="2031325"/>
          </a:xfrm>
          <a:prstGeom prst="rect">
            <a:avLst/>
          </a:prstGeom>
          <a:noFill/>
        </p:spPr>
        <p:txBody>
          <a:bodyPr wrap="square" rtlCol="0">
            <a:spAutoFit/>
          </a:bodyPr>
          <a:lstStyle/>
          <a:p>
            <a:pPr marL="285750" indent="-285750">
              <a:buFont typeface="Wingdings" panose="05000000000000000000" pitchFamily="2" charset="2"/>
              <a:buChar char="Ø"/>
            </a:pPr>
            <a:r>
              <a:rPr lang="en-US" b="1" dirty="0"/>
              <a:t>The ALU accepts the ALU Control signal generated by the ALU Control Block and decides which operation to perform </a:t>
            </a:r>
          </a:p>
          <a:p>
            <a:pPr marL="285750" indent="-285750">
              <a:buFont typeface="Wingdings" panose="05000000000000000000" pitchFamily="2" charset="2"/>
              <a:buChar char="Ø"/>
            </a:pPr>
            <a:r>
              <a:rPr lang="en-US" b="1" dirty="0"/>
              <a:t>It accepts two operands : rd1 (fixed) and rd2 or </a:t>
            </a:r>
            <a:r>
              <a:rPr lang="en-US" b="1" dirty="0" err="1"/>
              <a:t>imm</a:t>
            </a:r>
            <a:r>
              <a:rPr lang="en-US" b="1" dirty="0"/>
              <a:t> depending on the ALU </a:t>
            </a:r>
            <a:r>
              <a:rPr lang="en-US" b="1" dirty="0" err="1"/>
              <a:t>Src</a:t>
            </a:r>
            <a:endParaRPr lang="en-US" b="1" dirty="0"/>
          </a:p>
          <a:p>
            <a:pPr marL="285750" indent="-285750">
              <a:buFont typeface="Wingdings" panose="05000000000000000000" pitchFamily="2" charset="2"/>
              <a:buChar char="Ø"/>
            </a:pPr>
            <a:r>
              <a:rPr lang="en-US" b="1" dirty="0"/>
              <a:t>The output of the Zero is HIGH if the Result == 32’b0</a:t>
            </a:r>
          </a:p>
          <a:p>
            <a:endParaRPr lang="en-IN" b="1" dirty="0"/>
          </a:p>
        </p:txBody>
      </p:sp>
      <p:sp>
        <p:nvSpPr>
          <p:cNvPr id="7" name="Trapezoid 6">
            <a:extLst>
              <a:ext uri="{FF2B5EF4-FFF2-40B4-BE49-F238E27FC236}">
                <a16:creationId xmlns:a16="http://schemas.microsoft.com/office/drawing/2014/main" id="{FAD2F262-188A-6566-0185-0BD9A6E6FB7E}"/>
              </a:ext>
            </a:extLst>
          </p:cNvPr>
          <p:cNvSpPr/>
          <p:nvPr/>
        </p:nvSpPr>
        <p:spPr>
          <a:xfrm rot="5400000">
            <a:off x="6933060" y="3473356"/>
            <a:ext cx="2620370" cy="1405720"/>
          </a:xfrm>
          <a:prstGeom prst="trapezoid">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4000" b="1" dirty="0"/>
              <a:t>ALU</a:t>
            </a:r>
            <a:endParaRPr lang="en-IN" b="1" dirty="0"/>
          </a:p>
        </p:txBody>
      </p:sp>
      <p:sp>
        <p:nvSpPr>
          <p:cNvPr id="8" name="Arrow: Chevron 7">
            <a:extLst>
              <a:ext uri="{FF2B5EF4-FFF2-40B4-BE49-F238E27FC236}">
                <a16:creationId xmlns:a16="http://schemas.microsoft.com/office/drawing/2014/main" id="{7FBFD927-E354-8996-3D7E-E5E06C33C7DB}"/>
              </a:ext>
            </a:extLst>
          </p:cNvPr>
          <p:cNvSpPr/>
          <p:nvPr/>
        </p:nvSpPr>
        <p:spPr>
          <a:xfrm>
            <a:off x="6152342" y="3596186"/>
            <a:ext cx="1856096" cy="1160059"/>
          </a:xfrm>
          <a:prstGeom prst="chevron">
            <a:avLst/>
          </a:prstGeom>
          <a:solidFill>
            <a:schemeClr val="bg1"/>
          </a:solidFill>
          <a:ln w="12700" cap="flat" cmpd="sng" algn="ctr">
            <a:solidFill>
              <a:schemeClr val="bg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tx1"/>
              </a:solidFill>
            </a:endParaRPr>
          </a:p>
        </p:txBody>
      </p:sp>
      <p:cxnSp>
        <p:nvCxnSpPr>
          <p:cNvPr id="10" name="Straight Arrow Connector 9">
            <a:extLst>
              <a:ext uri="{FF2B5EF4-FFF2-40B4-BE49-F238E27FC236}">
                <a16:creationId xmlns:a16="http://schemas.microsoft.com/office/drawing/2014/main" id="{0DF11356-1803-92AD-3B41-25092CA41701}"/>
              </a:ext>
            </a:extLst>
          </p:cNvPr>
          <p:cNvCxnSpPr>
            <a:cxnSpLocks/>
            <a:endCxn id="7" idx="3"/>
          </p:cNvCxnSpPr>
          <p:nvPr/>
        </p:nvCxnSpPr>
        <p:spPr>
          <a:xfrm flipV="1">
            <a:off x="8243245" y="5310686"/>
            <a:ext cx="0" cy="6964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C800F85B-82B4-12F3-01CE-5E067259FA6C}"/>
              </a:ext>
            </a:extLst>
          </p:cNvPr>
          <p:cNvCxnSpPr>
            <a:cxnSpLocks/>
          </p:cNvCxnSpPr>
          <p:nvPr/>
        </p:nvCxnSpPr>
        <p:spPr>
          <a:xfrm>
            <a:off x="6974006" y="3234519"/>
            <a:ext cx="5663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C6D1595C-FA7C-A849-E071-30CEA0E8BAD6}"/>
              </a:ext>
            </a:extLst>
          </p:cNvPr>
          <p:cNvCxnSpPr>
            <a:cxnSpLocks/>
          </p:cNvCxnSpPr>
          <p:nvPr/>
        </p:nvCxnSpPr>
        <p:spPr>
          <a:xfrm>
            <a:off x="6974005" y="5024650"/>
            <a:ext cx="5663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1D643B37-C4D3-3F06-048E-776644BEF0DF}"/>
              </a:ext>
            </a:extLst>
          </p:cNvPr>
          <p:cNvCxnSpPr>
            <a:cxnSpLocks/>
          </p:cNvCxnSpPr>
          <p:nvPr/>
        </p:nvCxnSpPr>
        <p:spPr>
          <a:xfrm>
            <a:off x="8946105" y="4180764"/>
            <a:ext cx="5663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DAC52961-ABD6-E2C1-E844-72EDDE9F7EEA}"/>
              </a:ext>
            </a:extLst>
          </p:cNvPr>
          <p:cNvSpPr txBox="1"/>
          <p:nvPr/>
        </p:nvSpPr>
        <p:spPr>
          <a:xfrm>
            <a:off x="8188657" y="5637768"/>
            <a:ext cx="1705970" cy="369332"/>
          </a:xfrm>
          <a:prstGeom prst="rect">
            <a:avLst/>
          </a:prstGeom>
          <a:noFill/>
        </p:spPr>
        <p:txBody>
          <a:bodyPr wrap="square" rtlCol="0">
            <a:spAutoFit/>
          </a:bodyPr>
          <a:lstStyle/>
          <a:p>
            <a:r>
              <a:rPr lang="en-US" b="1" dirty="0"/>
              <a:t>ALU Control</a:t>
            </a:r>
            <a:endParaRPr lang="en-IN" b="1" dirty="0"/>
          </a:p>
        </p:txBody>
      </p:sp>
      <p:sp>
        <p:nvSpPr>
          <p:cNvPr id="21" name="TextBox 20">
            <a:extLst>
              <a:ext uri="{FF2B5EF4-FFF2-40B4-BE49-F238E27FC236}">
                <a16:creationId xmlns:a16="http://schemas.microsoft.com/office/drawing/2014/main" id="{29C21594-D239-29BF-324D-9D7408EB3A9F}"/>
              </a:ext>
            </a:extLst>
          </p:cNvPr>
          <p:cNvSpPr txBox="1"/>
          <p:nvPr/>
        </p:nvSpPr>
        <p:spPr>
          <a:xfrm>
            <a:off x="8433201" y="4176215"/>
            <a:ext cx="1705970" cy="369332"/>
          </a:xfrm>
          <a:prstGeom prst="rect">
            <a:avLst/>
          </a:prstGeom>
          <a:noFill/>
        </p:spPr>
        <p:txBody>
          <a:bodyPr wrap="square" rtlCol="0">
            <a:spAutoFit/>
          </a:bodyPr>
          <a:lstStyle/>
          <a:p>
            <a:pPr algn="ctr"/>
            <a:r>
              <a:rPr lang="en-US" b="1" dirty="0"/>
              <a:t>Result</a:t>
            </a:r>
            <a:endParaRPr lang="en-IN" b="1" dirty="0"/>
          </a:p>
        </p:txBody>
      </p:sp>
      <p:sp>
        <p:nvSpPr>
          <p:cNvPr id="22" name="TextBox 21">
            <a:extLst>
              <a:ext uri="{FF2B5EF4-FFF2-40B4-BE49-F238E27FC236}">
                <a16:creationId xmlns:a16="http://schemas.microsoft.com/office/drawing/2014/main" id="{06B80580-A745-95E4-A959-A2AE8D280D01}"/>
              </a:ext>
            </a:extLst>
          </p:cNvPr>
          <p:cNvSpPr txBox="1"/>
          <p:nvPr/>
        </p:nvSpPr>
        <p:spPr>
          <a:xfrm>
            <a:off x="6302468" y="2927023"/>
            <a:ext cx="1705970" cy="369332"/>
          </a:xfrm>
          <a:prstGeom prst="rect">
            <a:avLst/>
          </a:prstGeom>
          <a:noFill/>
        </p:spPr>
        <p:txBody>
          <a:bodyPr wrap="square" rtlCol="0">
            <a:spAutoFit/>
          </a:bodyPr>
          <a:lstStyle/>
          <a:p>
            <a:pPr algn="ctr"/>
            <a:r>
              <a:rPr lang="en-US" b="1" dirty="0"/>
              <a:t>A</a:t>
            </a:r>
            <a:endParaRPr lang="en-IN" b="1" dirty="0"/>
          </a:p>
        </p:txBody>
      </p:sp>
      <p:sp>
        <p:nvSpPr>
          <p:cNvPr id="23" name="TextBox 22">
            <a:extLst>
              <a:ext uri="{FF2B5EF4-FFF2-40B4-BE49-F238E27FC236}">
                <a16:creationId xmlns:a16="http://schemas.microsoft.com/office/drawing/2014/main" id="{DB72ED9C-2AF0-8F53-141A-8ECE530554AF}"/>
              </a:ext>
            </a:extLst>
          </p:cNvPr>
          <p:cNvSpPr txBox="1"/>
          <p:nvPr/>
        </p:nvSpPr>
        <p:spPr>
          <a:xfrm>
            <a:off x="6404209" y="4727687"/>
            <a:ext cx="1705970" cy="369332"/>
          </a:xfrm>
          <a:prstGeom prst="rect">
            <a:avLst/>
          </a:prstGeom>
          <a:noFill/>
        </p:spPr>
        <p:txBody>
          <a:bodyPr wrap="square" rtlCol="0">
            <a:spAutoFit/>
          </a:bodyPr>
          <a:lstStyle/>
          <a:p>
            <a:pPr algn="ctr"/>
            <a:r>
              <a:rPr lang="en-US" b="1" dirty="0"/>
              <a:t>B</a:t>
            </a:r>
            <a:endParaRPr lang="en-IN" b="1" dirty="0"/>
          </a:p>
        </p:txBody>
      </p:sp>
      <p:cxnSp>
        <p:nvCxnSpPr>
          <p:cNvPr id="24" name="Straight Connector 23">
            <a:extLst>
              <a:ext uri="{FF2B5EF4-FFF2-40B4-BE49-F238E27FC236}">
                <a16:creationId xmlns:a16="http://schemas.microsoft.com/office/drawing/2014/main" id="{EF841473-4DA3-BD2F-5994-1DCE9250FD29}"/>
              </a:ext>
            </a:extLst>
          </p:cNvPr>
          <p:cNvCxnSpPr>
            <a:cxnSpLocks/>
          </p:cNvCxnSpPr>
          <p:nvPr/>
        </p:nvCxnSpPr>
        <p:spPr>
          <a:xfrm flipV="1">
            <a:off x="7155453" y="3198357"/>
            <a:ext cx="152801" cy="72324"/>
          </a:xfrm>
          <a:prstGeom prst="line">
            <a:avLst/>
          </a:prstGeom>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71AC6C9C-D72B-0070-F097-6F06C849C240}"/>
              </a:ext>
            </a:extLst>
          </p:cNvPr>
          <p:cNvCxnSpPr>
            <a:cxnSpLocks/>
          </p:cNvCxnSpPr>
          <p:nvPr/>
        </p:nvCxnSpPr>
        <p:spPr>
          <a:xfrm flipV="1">
            <a:off x="7231853" y="4988488"/>
            <a:ext cx="152801" cy="72324"/>
          </a:xfrm>
          <a:prstGeom prst="line">
            <a:avLst/>
          </a:prstGeom>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F574D357-A1B8-DF16-0F1D-61BEC7CA9103}"/>
              </a:ext>
            </a:extLst>
          </p:cNvPr>
          <p:cNvCxnSpPr>
            <a:cxnSpLocks/>
          </p:cNvCxnSpPr>
          <p:nvPr/>
        </p:nvCxnSpPr>
        <p:spPr>
          <a:xfrm flipV="1">
            <a:off x="9178236" y="4140053"/>
            <a:ext cx="152801" cy="72324"/>
          </a:xfrm>
          <a:prstGeom prst="line">
            <a:avLst/>
          </a:prstGeom>
          <a:ln/>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E5D5B2E3-CC6C-7CAB-8BD3-5822143617C5}"/>
              </a:ext>
            </a:extLst>
          </p:cNvPr>
          <p:cNvCxnSpPr>
            <a:cxnSpLocks/>
          </p:cNvCxnSpPr>
          <p:nvPr/>
        </p:nvCxnSpPr>
        <p:spPr>
          <a:xfrm flipV="1">
            <a:off x="8166844" y="5525922"/>
            <a:ext cx="152801" cy="72324"/>
          </a:xfrm>
          <a:prstGeom prst="line">
            <a:avLst/>
          </a:prstGeom>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F41078A1-3CCA-80C8-4601-A2223A79580D}"/>
              </a:ext>
            </a:extLst>
          </p:cNvPr>
          <p:cNvSpPr txBox="1"/>
          <p:nvPr/>
        </p:nvSpPr>
        <p:spPr>
          <a:xfrm>
            <a:off x="7001856" y="3226854"/>
            <a:ext cx="459994" cy="369332"/>
          </a:xfrm>
          <a:prstGeom prst="rect">
            <a:avLst/>
          </a:prstGeom>
          <a:noFill/>
        </p:spPr>
        <p:txBody>
          <a:bodyPr wrap="square" rtlCol="0">
            <a:spAutoFit/>
          </a:bodyPr>
          <a:lstStyle/>
          <a:p>
            <a:r>
              <a:rPr lang="en-US" dirty="0"/>
              <a:t>32</a:t>
            </a:r>
            <a:endParaRPr lang="en-IN" dirty="0"/>
          </a:p>
        </p:txBody>
      </p:sp>
      <p:sp>
        <p:nvSpPr>
          <p:cNvPr id="31" name="TextBox 30">
            <a:extLst>
              <a:ext uri="{FF2B5EF4-FFF2-40B4-BE49-F238E27FC236}">
                <a16:creationId xmlns:a16="http://schemas.microsoft.com/office/drawing/2014/main" id="{027ACF79-AFEB-0729-2522-E7DA6A2E93DE}"/>
              </a:ext>
            </a:extLst>
          </p:cNvPr>
          <p:cNvSpPr txBox="1"/>
          <p:nvPr/>
        </p:nvSpPr>
        <p:spPr>
          <a:xfrm>
            <a:off x="7053097" y="5024650"/>
            <a:ext cx="459994" cy="369332"/>
          </a:xfrm>
          <a:prstGeom prst="rect">
            <a:avLst/>
          </a:prstGeom>
          <a:noFill/>
        </p:spPr>
        <p:txBody>
          <a:bodyPr wrap="square" rtlCol="0">
            <a:spAutoFit/>
          </a:bodyPr>
          <a:lstStyle/>
          <a:p>
            <a:r>
              <a:rPr lang="en-US" dirty="0"/>
              <a:t>32</a:t>
            </a:r>
            <a:endParaRPr lang="en-IN" dirty="0"/>
          </a:p>
        </p:txBody>
      </p:sp>
      <p:sp>
        <p:nvSpPr>
          <p:cNvPr id="32" name="TextBox 31">
            <a:extLst>
              <a:ext uri="{FF2B5EF4-FFF2-40B4-BE49-F238E27FC236}">
                <a16:creationId xmlns:a16="http://schemas.microsoft.com/office/drawing/2014/main" id="{F240278E-615E-1D3B-D8ED-A2EA53DAF210}"/>
              </a:ext>
            </a:extLst>
          </p:cNvPr>
          <p:cNvSpPr txBox="1"/>
          <p:nvPr/>
        </p:nvSpPr>
        <p:spPr>
          <a:xfrm>
            <a:off x="9044264" y="3813731"/>
            <a:ext cx="459994" cy="369332"/>
          </a:xfrm>
          <a:prstGeom prst="rect">
            <a:avLst/>
          </a:prstGeom>
          <a:noFill/>
        </p:spPr>
        <p:txBody>
          <a:bodyPr wrap="square" rtlCol="0">
            <a:spAutoFit/>
          </a:bodyPr>
          <a:lstStyle/>
          <a:p>
            <a:r>
              <a:rPr lang="en-US" dirty="0"/>
              <a:t>32</a:t>
            </a:r>
            <a:endParaRPr lang="en-IN" dirty="0"/>
          </a:p>
        </p:txBody>
      </p:sp>
      <p:sp>
        <p:nvSpPr>
          <p:cNvPr id="33" name="TextBox 32">
            <a:extLst>
              <a:ext uri="{FF2B5EF4-FFF2-40B4-BE49-F238E27FC236}">
                <a16:creationId xmlns:a16="http://schemas.microsoft.com/office/drawing/2014/main" id="{806A0756-89B2-257C-7104-22B2C31AEA0F}"/>
              </a:ext>
            </a:extLst>
          </p:cNvPr>
          <p:cNvSpPr txBox="1"/>
          <p:nvPr/>
        </p:nvSpPr>
        <p:spPr>
          <a:xfrm>
            <a:off x="7936847" y="5562084"/>
            <a:ext cx="459994" cy="369332"/>
          </a:xfrm>
          <a:prstGeom prst="rect">
            <a:avLst/>
          </a:prstGeom>
          <a:noFill/>
        </p:spPr>
        <p:txBody>
          <a:bodyPr wrap="square" rtlCol="0">
            <a:spAutoFit/>
          </a:bodyPr>
          <a:lstStyle/>
          <a:p>
            <a:r>
              <a:rPr lang="en-US" dirty="0"/>
              <a:t>4</a:t>
            </a:r>
            <a:endParaRPr lang="en-IN" dirty="0"/>
          </a:p>
        </p:txBody>
      </p:sp>
      <p:cxnSp>
        <p:nvCxnSpPr>
          <p:cNvPr id="35" name="Straight Arrow Connector 34">
            <a:extLst>
              <a:ext uri="{FF2B5EF4-FFF2-40B4-BE49-F238E27FC236}">
                <a16:creationId xmlns:a16="http://schemas.microsoft.com/office/drawing/2014/main" id="{9956C1BB-2AA7-5530-9885-79DF0CCA0789}"/>
              </a:ext>
            </a:extLst>
          </p:cNvPr>
          <p:cNvCxnSpPr/>
          <p:nvPr/>
        </p:nvCxnSpPr>
        <p:spPr>
          <a:xfrm>
            <a:off x="8946105" y="4791075"/>
            <a:ext cx="5663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B334DFF2-B560-E168-46A4-3A0CF12CABA1}"/>
              </a:ext>
            </a:extLst>
          </p:cNvPr>
          <p:cNvSpPr txBox="1"/>
          <p:nvPr/>
        </p:nvSpPr>
        <p:spPr>
          <a:xfrm>
            <a:off x="8433201" y="4722325"/>
            <a:ext cx="1705970" cy="369332"/>
          </a:xfrm>
          <a:prstGeom prst="rect">
            <a:avLst/>
          </a:prstGeom>
          <a:noFill/>
        </p:spPr>
        <p:txBody>
          <a:bodyPr wrap="square" rtlCol="0">
            <a:spAutoFit/>
          </a:bodyPr>
          <a:lstStyle/>
          <a:p>
            <a:pPr algn="ctr"/>
            <a:r>
              <a:rPr lang="en-US" b="1" dirty="0"/>
              <a:t>Zero</a:t>
            </a:r>
            <a:endParaRPr lang="en-IN" b="1" dirty="0"/>
          </a:p>
        </p:txBody>
      </p:sp>
    </p:spTree>
    <p:extLst>
      <p:ext uri="{BB962C8B-B14F-4D97-AF65-F5344CB8AC3E}">
        <p14:creationId xmlns:p14="http://schemas.microsoft.com/office/powerpoint/2010/main" val="1793083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EF36B9-199A-4430-EA05-BAF6D8FD8529}"/>
              </a:ext>
            </a:extLst>
          </p:cNvPr>
          <p:cNvSpPr>
            <a:spLocks noGrp="1"/>
          </p:cNvSpPr>
          <p:nvPr>
            <p:ph type="title"/>
          </p:nvPr>
        </p:nvSpPr>
        <p:spPr>
          <a:xfrm>
            <a:off x="8138159" y="1177348"/>
            <a:ext cx="3330906" cy="3441068"/>
          </a:xfrm>
        </p:spPr>
        <p:txBody>
          <a:bodyPr vert="horz" lIns="91440" tIns="45720" rIns="91440" bIns="45720" rtlCol="0" anchor="t">
            <a:normAutofit/>
          </a:bodyPr>
          <a:lstStyle/>
          <a:p>
            <a:r>
              <a:rPr lang="en-US" sz="4200"/>
              <a:t>THE VERILOG CODE FOR THE ALU</a:t>
            </a:r>
          </a:p>
        </p:txBody>
      </p:sp>
      <p:cxnSp>
        <p:nvCxnSpPr>
          <p:cNvPr id="22" name="Straight Connector 2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computer screen shot of a program&#10;&#10;AI-generated content may be incorrect.">
            <a:extLst>
              <a:ext uri="{FF2B5EF4-FFF2-40B4-BE49-F238E27FC236}">
                <a16:creationId xmlns:a16="http://schemas.microsoft.com/office/drawing/2014/main" id="{DC6E6D9F-044C-559C-2FDC-6BA95EEA94CC}"/>
              </a:ext>
            </a:extLst>
          </p:cNvPr>
          <p:cNvPicPr>
            <a:picLocks noGrp="1" noChangeAspect="1"/>
          </p:cNvPicPr>
          <p:nvPr>
            <p:ph idx="1"/>
          </p:nvPr>
        </p:nvPicPr>
        <p:blipFill>
          <a:blip r:embed="rId2"/>
          <a:stretch>
            <a:fillRect/>
          </a:stretch>
        </p:blipFill>
        <p:spPr>
          <a:xfrm>
            <a:off x="722935" y="962866"/>
            <a:ext cx="7179970" cy="4936229"/>
          </a:xfrm>
          <a:prstGeom prst="rect">
            <a:avLst/>
          </a:prstGeom>
        </p:spPr>
      </p:pic>
      <p:cxnSp>
        <p:nvCxnSpPr>
          <p:cNvPr id="18" name="Straight Connector 17">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366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613F5-F97E-758C-40DA-DE5B269D15F3}"/>
              </a:ext>
            </a:extLst>
          </p:cNvPr>
          <p:cNvSpPr>
            <a:spLocks noGrp="1"/>
          </p:cNvSpPr>
          <p:nvPr>
            <p:ph type="title"/>
          </p:nvPr>
        </p:nvSpPr>
        <p:spPr>
          <a:xfrm>
            <a:off x="700634" y="0"/>
            <a:ext cx="10691265" cy="711200"/>
          </a:xfrm>
        </p:spPr>
        <p:txBody>
          <a:bodyPr/>
          <a:lstStyle/>
          <a:p>
            <a:pPr algn="ctr"/>
            <a:r>
              <a:rPr lang="en-US" dirty="0"/>
              <a:t>DESIGINING THE SIGN Extender</a:t>
            </a:r>
            <a:endParaRPr lang="en-IN" dirty="0"/>
          </a:p>
        </p:txBody>
      </p:sp>
      <p:sp>
        <p:nvSpPr>
          <p:cNvPr id="3" name="Content Placeholder 2">
            <a:extLst>
              <a:ext uri="{FF2B5EF4-FFF2-40B4-BE49-F238E27FC236}">
                <a16:creationId xmlns:a16="http://schemas.microsoft.com/office/drawing/2014/main" id="{4DE5C0CA-B506-2B43-BCF4-2E67E89CF197}"/>
              </a:ext>
            </a:extLst>
          </p:cNvPr>
          <p:cNvSpPr>
            <a:spLocks noGrp="1"/>
          </p:cNvSpPr>
          <p:nvPr>
            <p:ph idx="1"/>
          </p:nvPr>
        </p:nvSpPr>
        <p:spPr>
          <a:xfrm>
            <a:off x="700635" y="711199"/>
            <a:ext cx="10691265" cy="5413829"/>
          </a:xfrm>
        </p:spPr>
        <p:txBody>
          <a:bodyPr/>
          <a:lstStyle/>
          <a:p>
            <a:pPr marL="0" indent="0">
              <a:lnSpc>
                <a:spcPct val="100000"/>
              </a:lnSpc>
              <a:buNone/>
            </a:pPr>
            <a:r>
              <a:rPr lang="en-US" dirty="0"/>
              <a:t>The Sign Extender Block extends the sign of the immediate to make it 32 bits signed number, since the ALU does many Signed operation with Immediate. This block accepts opcode (7 bits) and the instruction (32 bits). Depending upon the opcode, the sign of the immediate is extended. To design this block we need to carefully observe the Base Formats shown in the previous slide :</a:t>
            </a:r>
            <a:br>
              <a:rPr lang="en-US" dirty="0"/>
            </a:br>
            <a:r>
              <a:rPr lang="en-US" dirty="0"/>
              <a:t>&gt; For I-type instructions, the lower 12 bits of the immediate is equal to the upper 12 bits of the instruction. So, we need to sign extend the remaining 20 bits. Hence, the upper 20 bits of the immediate will be same as the MSB of the instruction i.e. instruction[31].</a:t>
            </a:r>
          </a:p>
          <a:p>
            <a:pPr>
              <a:lnSpc>
                <a:spcPct val="100000"/>
              </a:lnSpc>
              <a:buFont typeface="Wingdings" panose="05000000000000000000" pitchFamily="2" charset="2"/>
              <a:buChar char="Ø"/>
            </a:pPr>
            <a:r>
              <a:rPr lang="en-US" dirty="0"/>
              <a:t>For S-type instructions, the lower 5 bits of the </a:t>
            </a:r>
            <a:r>
              <a:rPr lang="en-US" dirty="0" err="1"/>
              <a:t>imm</a:t>
            </a:r>
            <a:r>
              <a:rPr lang="en-US" dirty="0"/>
              <a:t> is equal to the </a:t>
            </a:r>
            <a:r>
              <a:rPr lang="en-US" dirty="0" err="1"/>
              <a:t>inst</a:t>
            </a:r>
            <a:r>
              <a:rPr lang="en-US" dirty="0"/>
              <a:t>[11:7] and the </a:t>
            </a:r>
            <a:r>
              <a:rPr lang="en-US" dirty="0" err="1"/>
              <a:t>imm</a:t>
            </a:r>
            <a:r>
              <a:rPr lang="en-US" dirty="0"/>
              <a:t>[11:5] </a:t>
            </a:r>
            <a:r>
              <a:rPr lang="en-US" dirty="0" err="1"/>
              <a:t>instr</a:t>
            </a:r>
            <a:r>
              <a:rPr lang="en-US" dirty="0"/>
              <a:t>[31:25]</a:t>
            </a:r>
          </a:p>
          <a:p>
            <a:pPr>
              <a:lnSpc>
                <a:spcPct val="100000"/>
              </a:lnSpc>
              <a:buFont typeface="Wingdings" panose="05000000000000000000" pitchFamily="2" charset="2"/>
              <a:buChar char="Ø"/>
            </a:pPr>
            <a:r>
              <a:rPr lang="en-US" dirty="0"/>
              <a:t>The rest of the sign extension logic is similar : See the base format and assign </a:t>
            </a:r>
            <a:r>
              <a:rPr lang="en-US" dirty="0" err="1"/>
              <a:t>imm</a:t>
            </a:r>
            <a:r>
              <a:rPr lang="en-US" dirty="0"/>
              <a:t> according to the diagram.</a:t>
            </a:r>
          </a:p>
          <a:p>
            <a:pPr>
              <a:lnSpc>
                <a:spcPct val="100000"/>
              </a:lnSpc>
              <a:buFont typeface="Wingdings" panose="05000000000000000000" pitchFamily="2" charset="2"/>
              <a:buChar char="Ø"/>
            </a:pPr>
            <a:r>
              <a:rPr lang="en-US" dirty="0"/>
              <a:t>This block generates sign extended Immediate which is the input to the ALU MUX (the mux before the ALU whose selector signal is ALU </a:t>
            </a:r>
            <a:r>
              <a:rPr lang="en-US" dirty="0" err="1"/>
              <a:t>Src</a:t>
            </a:r>
            <a:r>
              <a:rPr lang="en-US" dirty="0"/>
              <a:t> : Selects between RD2 and Imm depending upon the instruction)</a:t>
            </a:r>
          </a:p>
          <a:p>
            <a:pPr>
              <a:lnSpc>
                <a:spcPct val="100000"/>
              </a:lnSpc>
              <a:buFont typeface="Wingdings" panose="05000000000000000000" pitchFamily="2" charset="2"/>
              <a:buChar char="Ø"/>
            </a:pPr>
            <a:r>
              <a:rPr lang="en-US" dirty="0"/>
              <a:t>The default value of the immediate produced by this block is 32’b0</a:t>
            </a:r>
          </a:p>
          <a:p>
            <a:pPr>
              <a:lnSpc>
                <a:spcPct val="100000"/>
              </a:lnSpc>
              <a:buFont typeface="Wingdings" panose="05000000000000000000" pitchFamily="2" charset="2"/>
              <a:buChar char="Ø"/>
            </a:pPr>
            <a:endParaRPr lang="en-IN" dirty="0"/>
          </a:p>
        </p:txBody>
      </p:sp>
    </p:spTree>
    <p:extLst>
      <p:ext uri="{BB962C8B-B14F-4D97-AF65-F5344CB8AC3E}">
        <p14:creationId xmlns:p14="http://schemas.microsoft.com/office/powerpoint/2010/main" val="2477544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836A1-074C-7A52-C7DB-46BE780361A5}"/>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dirty="0"/>
              <a:t>The Verilog code for the Sign extender</a:t>
            </a:r>
            <a:endParaRPr lang="en-US"/>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12D57229-B1EF-D347-C057-E89E671EFFAB}"/>
              </a:ext>
            </a:extLst>
          </p:cNvPr>
          <p:cNvPicPr>
            <a:picLocks noGrp="1" noChangeAspect="1"/>
          </p:cNvPicPr>
          <p:nvPr>
            <p:ph idx="1"/>
          </p:nvPr>
        </p:nvPicPr>
        <p:blipFill>
          <a:blip r:embed="rId2"/>
          <a:stretch>
            <a:fillRect/>
          </a:stretch>
        </p:blipFill>
        <p:spPr>
          <a:xfrm>
            <a:off x="4038600" y="846154"/>
            <a:ext cx="7353299" cy="5165693"/>
          </a:xfrm>
          <a:prstGeom prst="rect">
            <a:avLst/>
          </a:prstGeom>
        </p:spPr>
      </p:pic>
    </p:spTree>
    <p:extLst>
      <p:ext uri="{BB962C8B-B14F-4D97-AF65-F5344CB8AC3E}">
        <p14:creationId xmlns:p14="http://schemas.microsoft.com/office/powerpoint/2010/main" val="1888504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993FB-19E0-5055-0E6F-8F812AE8332E}"/>
              </a:ext>
            </a:extLst>
          </p:cNvPr>
          <p:cNvSpPr>
            <a:spLocks noGrp="1"/>
          </p:cNvSpPr>
          <p:nvPr>
            <p:ph type="title"/>
          </p:nvPr>
        </p:nvSpPr>
        <p:spPr>
          <a:xfrm>
            <a:off x="700635" y="0"/>
            <a:ext cx="10691265" cy="740229"/>
          </a:xfrm>
        </p:spPr>
        <p:txBody>
          <a:bodyPr>
            <a:normAutofit/>
          </a:bodyPr>
          <a:lstStyle/>
          <a:p>
            <a:pPr algn="ctr"/>
            <a:r>
              <a:rPr lang="en-US"/>
              <a:t>Designing the program counter</a:t>
            </a:r>
            <a:endParaRPr lang="en-IN" dirty="0"/>
          </a:p>
        </p:txBody>
      </p:sp>
      <p:sp>
        <p:nvSpPr>
          <p:cNvPr id="3" name="Content Placeholder 2">
            <a:extLst>
              <a:ext uri="{FF2B5EF4-FFF2-40B4-BE49-F238E27FC236}">
                <a16:creationId xmlns:a16="http://schemas.microsoft.com/office/drawing/2014/main" id="{E386BA0B-34BC-1FD5-D634-F1A80D8560A3}"/>
              </a:ext>
            </a:extLst>
          </p:cNvPr>
          <p:cNvSpPr>
            <a:spLocks noGrp="1"/>
          </p:cNvSpPr>
          <p:nvPr>
            <p:ph idx="1"/>
          </p:nvPr>
        </p:nvSpPr>
        <p:spPr>
          <a:xfrm>
            <a:off x="700635" y="740229"/>
            <a:ext cx="10691265" cy="5399314"/>
          </a:xfrm>
        </p:spPr>
        <p:txBody>
          <a:bodyPr/>
          <a:lstStyle/>
          <a:p>
            <a:pPr marL="0" indent="0">
              <a:buNone/>
            </a:pPr>
            <a:r>
              <a:rPr lang="en-US" dirty="0"/>
              <a:t>The Program Counter is nothing but a simple Positive Edge Triggered D Flip Flop with </a:t>
            </a:r>
            <a:r>
              <a:rPr lang="en-IN" dirty="0"/>
              <a:t>Asynchronous</a:t>
            </a:r>
            <a:r>
              <a:rPr lang="en-US" dirty="0"/>
              <a:t> Active High Reset. It accepts the Next address of the instruction and outputs the same in the Positive Edge.</a:t>
            </a:r>
          </a:p>
          <a:p>
            <a:pPr marL="0" indent="0">
              <a:buNone/>
            </a:pPr>
            <a:r>
              <a:rPr lang="en-IN" b="1" dirty="0"/>
              <a:t>VERILOG CODE FOR THE PROGRAM COUNTER</a:t>
            </a:r>
          </a:p>
          <a:p>
            <a:pPr marL="0" indent="0">
              <a:buNone/>
            </a:pPr>
            <a:endParaRPr lang="en-IN" b="1" dirty="0"/>
          </a:p>
        </p:txBody>
      </p:sp>
      <p:pic>
        <p:nvPicPr>
          <p:cNvPr id="5" name="Picture 4">
            <a:extLst>
              <a:ext uri="{FF2B5EF4-FFF2-40B4-BE49-F238E27FC236}">
                <a16:creationId xmlns:a16="http://schemas.microsoft.com/office/drawing/2014/main" id="{07B591FE-020A-D98F-E827-28F99BC962B8}"/>
              </a:ext>
            </a:extLst>
          </p:cNvPr>
          <p:cNvPicPr>
            <a:picLocks noChangeAspect="1"/>
          </p:cNvPicPr>
          <p:nvPr/>
        </p:nvPicPr>
        <p:blipFill>
          <a:blip r:embed="rId2"/>
          <a:stretch>
            <a:fillRect/>
          </a:stretch>
        </p:blipFill>
        <p:spPr>
          <a:xfrm>
            <a:off x="800100" y="2360037"/>
            <a:ext cx="6290278" cy="3576306"/>
          </a:xfrm>
          <a:prstGeom prst="rect">
            <a:avLst/>
          </a:prstGeom>
        </p:spPr>
      </p:pic>
    </p:spTree>
    <p:extLst>
      <p:ext uri="{BB962C8B-B14F-4D97-AF65-F5344CB8AC3E}">
        <p14:creationId xmlns:p14="http://schemas.microsoft.com/office/powerpoint/2010/main" val="40224822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2E035-A4CE-25B1-5629-42BAACF94C33}"/>
              </a:ext>
            </a:extLst>
          </p:cNvPr>
          <p:cNvSpPr>
            <a:spLocks noGrp="1"/>
          </p:cNvSpPr>
          <p:nvPr>
            <p:ph type="title"/>
          </p:nvPr>
        </p:nvSpPr>
        <p:spPr>
          <a:xfrm>
            <a:off x="750367" y="0"/>
            <a:ext cx="10691265" cy="754742"/>
          </a:xfrm>
        </p:spPr>
        <p:txBody>
          <a:bodyPr/>
          <a:lstStyle/>
          <a:p>
            <a:pPr algn="ctr"/>
            <a:r>
              <a:rPr lang="en-US" dirty="0"/>
              <a:t>DESIGNING THE INSTRUCTION MEMORY</a:t>
            </a:r>
            <a:endParaRPr lang="en-IN" dirty="0"/>
          </a:p>
        </p:txBody>
      </p:sp>
      <p:sp>
        <p:nvSpPr>
          <p:cNvPr id="3" name="Content Placeholder 2">
            <a:extLst>
              <a:ext uri="{FF2B5EF4-FFF2-40B4-BE49-F238E27FC236}">
                <a16:creationId xmlns:a16="http://schemas.microsoft.com/office/drawing/2014/main" id="{42837EE5-3CB2-3B0D-8689-40A60B491636}"/>
              </a:ext>
            </a:extLst>
          </p:cNvPr>
          <p:cNvSpPr>
            <a:spLocks noGrp="1"/>
          </p:cNvSpPr>
          <p:nvPr>
            <p:ph idx="1"/>
          </p:nvPr>
        </p:nvSpPr>
        <p:spPr>
          <a:xfrm>
            <a:off x="700635" y="754741"/>
            <a:ext cx="10691265" cy="5370287"/>
          </a:xfrm>
        </p:spPr>
        <p:txBody>
          <a:bodyPr>
            <a:normAutofit/>
          </a:bodyPr>
          <a:lstStyle/>
          <a:p>
            <a:pPr marL="0" indent="0">
              <a:buNone/>
            </a:pPr>
            <a:r>
              <a:rPr lang="en-US" dirty="0"/>
              <a:t>The </a:t>
            </a:r>
            <a:r>
              <a:rPr lang="en-US" b="1" dirty="0"/>
              <a:t>Instruction Memory</a:t>
            </a:r>
            <a:r>
              <a:rPr lang="en-US" dirty="0"/>
              <a:t> in a RISC-V single-cycle processor behaves as a </a:t>
            </a:r>
            <a:r>
              <a:rPr lang="en-US" b="1" dirty="0"/>
              <a:t>Read-Only Memory (ROM)</a:t>
            </a:r>
            <a:r>
              <a:rPr lang="en-US" dirty="0"/>
              <a:t> that holds machine instructions encoded in 32-bit format. It plays a critical role in the </a:t>
            </a:r>
            <a:r>
              <a:rPr lang="en-US" b="1" dirty="0"/>
              <a:t>Fetch</a:t>
            </a:r>
            <a:r>
              <a:rPr lang="en-US" dirty="0"/>
              <a:t> stage of the instruction cycle.</a:t>
            </a:r>
          </a:p>
          <a:p>
            <a:pPr>
              <a:buFont typeface="Wingdings" panose="05000000000000000000" pitchFamily="2" charset="2"/>
              <a:buChar char="Ø"/>
            </a:pPr>
            <a:r>
              <a:rPr lang="en-US" b="1" u="sng" dirty="0"/>
              <a:t>Word Alignment </a:t>
            </a:r>
            <a:r>
              <a:rPr lang="en-US" dirty="0"/>
              <a:t>: </a:t>
            </a:r>
            <a:r>
              <a:rPr lang="en-US" b="1" dirty="0"/>
              <a:t>Word alignment</a:t>
            </a:r>
            <a:r>
              <a:rPr lang="en-US" dirty="0"/>
              <a:t> means that instructions are stored at memory addresses that are </a:t>
            </a:r>
            <a:r>
              <a:rPr lang="en-US" b="1" dirty="0"/>
              <a:t>multiples of 4 bytes</a:t>
            </a:r>
            <a:r>
              <a:rPr lang="en-US" dirty="0"/>
              <a:t> (i.e., 0x00000000, 0x00000004, 0x00000008, …).</a:t>
            </a:r>
          </a:p>
          <a:p>
            <a:pPr>
              <a:buFont typeface="Wingdings" panose="05000000000000000000" pitchFamily="2" charset="2"/>
              <a:buChar char="Ø"/>
            </a:pPr>
            <a:r>
              <a:rPr lang="en-US" b="1" dirty="0"/>
              <a:t>Therefore, the lower 2 bits of the PC are always 00 in binary.</a:t>
            </a:r>
          </a:p>
          <a:p>
            <a:pPr>
              <a:buFont typeface="Wingdings" panose="05000000000000000000" pitchFamily="2" charset="2"/>
              <a:buChar char="Ø"/>
            </a:pPr>
            <a:r>
              <a:rPr lang="en-US" b="1" dirty="0"/>
              <a:t>Thus, we usually ignore the lower two bits. </a:t>
            </a:r>
            <a:r>
              <a:rPr lang="en-US" dirty="0"/>
              <a:t>In this design, we assume a fixed-size </a:t>
            </a:r>
            <a:r>
              <a:rPr lang="en-US" b="1" dirty="0"/>
              <a:t>Instruction Memory</a:t>
            </a:r>
            <a:r>
              <a:rPr lang="en-US" dirty="0"/>
              <a:t> capable of storing </a:t>
            </a:r>
            <a:r>
              <a:rPr lang="en-US" b="1" dirty="0"/>
              <a:t>256 instructions</a:t>
            </a:r>
            <a:r>
              <a:rPr lang="en-US" dirty="0"/>
              <a:t>.</a:t>
            </a:r>
          </a:p>
          <a:p>
            <a:pPr>
              <a:buFont typeface="Wingdings" panose="05000000000000000000" pitchFamily="2" charset="2"/>
              <a:buChar char="Ø"/>
            </a:pPr>
            <a:r>
              <a:rPr lang="en-US" dirty="0"/>
              <a:t>Total memory range: 0 to 255 words = 256 × 4 = 1024 bytes = 1 KB</a:t>
            </a:r>
          </a:p>
          <a:p>
            <a:pPr>
              <a:buFont typeface="Wingdings" panose="05000000000000000000" pitchFamily="2" charset="2"/>
              <a:buChar char="Ø"/>
            </a:pPr>
            <a:r>
              <a:rPr lang="en-US" dirty="0"/>
              <a:t>The PC can address locations from 0x00000000 to 0x000003FC (in 4-byte steps).</a:t>
            </a:r>
          </a:p>
          <a:p>
            <a:pPr>
              <a:buFont typeface="Wingdings" panose="05000000000000000000" pitchFamily="2" charset="2"/>
              <a:buChar char="Ø"/>
            </a:pPr>
            <a:r>
              <a:rPr lang="en-US" dirty="0"/>
              <a:t>Internally, instruction memory is indexed using:</a:t>
            </a:r>
          </a:p>
          <a:p>
            <a:pPr lvl="1">
              <a:buFont typeface="Wingdings" panose="05000000000000000000" pitchFamily="2" charset="2"/>
              <a:buChar char="Ø"/>
            </a:pPr>
            <a:r>
              <a:rPr lang="en-US" dirty="0" err="1"/>
              <a:t>instr_mem</a:t>
            </a:r>
            <a:r>
              <a:rPr lang="en-US" dirty="0"/>
              <a:t>[PC[9:2]] // 8-bit word index</a:t>
            </a:r>
            <a:endParaRPr lang="en-IN" dirty="0"/>
          </a:p>
        </p:txBody>
      </p:sp>
    </p:spTree>
    <p:extLst>
      <p:ext uri="{BB962C8B-B14F-4D97-AF65-F5344CB8AC3E}">
        <p14:creationId xmlns:p14="http://schemas.microsoft.com/office/powerpoint/2010/main" val="3401626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430CE8-1B39-A010-8639-D1C2D397994A}"/>
              </a:ext>
            </a:extLst>
          </p:cNvPr>
          <p:cNvSpPr>
            <a:spLocks noGrp="1"/>
          </p:cNvSpPr>
          <p:nvPr>
            <p:ph type="title"/>
          </p:nvPr>
        </p:nvSpPr>
        <p:spPr>
          <a:xfrm>
            <a:off x="704088" y="914400"/>
            <a:ext cx="10780776" cy="1180210"/>
          </a:xfrm>
        </p:spPr>
        <p:txBody>
          <a:bodyPr>
            <a:normAutofit/>
          </a:bodyPr>
          <a:lstStyle/>
          <a:p>
            <a:r>
              <a:rPr lang="en-US" sz="3700"/>
              <a:t>The Verilog code for the instruction memory</a:t>
            </a:r>
            <a:endParaRPr lang="en-IN" sz="3700"/>
          </a:p>
        </p:txBody>
      </p:sp>
      <p:cxnSp>
        <p:nvCxnSpPr>
          <p:cNvPr id="17" name="Straight Connector 16">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823E5166-1BA1-D7D1-54E2-21F07776DAE7}"/>
              </a:ext>
            </a:extLst>
          </p:cNvPr>
          <p:cNvPicPr>
            <a:picLocks noChangeAspect="1"/>
          </p:cNvPicPr>
          <p:nvPr/>
        </p:nvPicPr>
        <p:blipFill>
          <a:blip r:embed="rId2"/>
          <a:stretch>
            <a:fillRect/>
          </a:stretch>
        </p:blipFill>
        <p:spPr>
          <a:xfrm>
            <a:off x="800098" y="1636777"/>
            <a:ext cx="5549902" cy="4526276"/>
          </a:xfrm>
          <a:prstGeom prst="rect">
            <a:avLst/>
          </a:prstGeom>
        </p:spPr>
      </p:pic>
      <p:sp>
        <p:nvSpPr>
          <p:cNvPr id="18" name="Content Placeholder 8">
            <a:extLst>
              <a:ext uri="{FF2B5EF4-FFF2-40B4-BE49-F238E27FC236}">
                <a16:creationId xmlns:a16="http://schemas.microsoft.com/office/drawing/2014/main" id="{5408CAC4-EC51-EA20-28BA-A9DE6F21D286}"/>
              </a:ext>
            </a:extLst>
          </p:cNvPr>
          <p:cNvSpPr>
            <a:spLocks noGrp="1"/>
          </p:cNvSpPr>
          <p:nvPr>
            <p:ph idx="1"/>
          </p:nvPr>
        </p:nvSpPr>
        <p:spPr>
          <a:xfrm>
            <a:off x="6664960" y="1636777"/>
            <a:ext cx="4819903" cy="4485639"/>
          </a:xfrm>
        </p:spPr>
        <p:txBody>
          <a:bodyPr>
            <a:normAutofit/>
          </a:bodyPr>
          <a:lstStyle/>
          <a:p>
            <a:pPr>
              <a:buFont typeface="Wingdings" panose="05000000000000000000" pitchFamily="2" charset="2"/>
              <a:buChar char="Ø"/>
            </a:pPr>
            <a:r>
              <a:rPr lang="en-US" dirty="0"/>
              <a:t>$</a:t>
            </a:r>
            <a:r>
              <a:rPr lang="en-US" dirty="0" err="1"/>
              <a:t>readmemh</a:t>
            </a:r>
            <a:r>
              <a:rPr lang="en-US" dirty="0"/>
              <a:t> statement reads the .hex file in which Instructions are stored in hex format (</a:t>
            </a:r>
            <a:r>
              <a:rPr lang="en-US" dirty="0" err="1"/>
              <a:t>eg</a:t>
            </a:r>
            <a:r>
              <a:rPr lang="en-US" dirty="0"/>
              <a:t> FE5098E3)</a:t>
            </a:r>
          </a:p>
          <a:p>
            <a:pPr>
              <a:buFont typeface="Wingdings" panose="05000000000000000000" pitchFamily="2" charset="2"/>
              <a:buChar char="Ø"/>
            </a:pPr>
            <a:r>
              <a:rPr lang="en-US" dirty="0"/>
              <a:t>Notice that the instructions are fetched Asynchronously. This enables zero-latency access.</a:t>
            </a:r>
          </a:p>
        </p:txBody>
      </p:sp>
    </p:spTree>
    <p:extLst>
      <p:ext uri="{BB962C8B-B14F-4D97-AF65-F5344CB8AC3E}">
        <p14:creationId xmlns:p14="http://schemas.microsoft.com/office/powerpoint/2010/main" val="1227134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302F4-2762-7486-90BF-3CEA7863035B}"/>
              </a:ext>
            </a:extLst>
          </p:cNvPr>
          <p:cNvSpPr>
            <a:spLocks noGrp="1"/>
          </p:cNvSpPr>
          <p:nvPr>
            <p:ph type="title"/>
          </p:nvPr>
        </p:nvSpPr>
        <p:spPr>
          <a:xfrm>
            <a:off x="750367" y="130629"/>
            <a:ext cx="10691265" cy="595086"/>
          </a:xfrm>
        </p:spPr>
        <p:txBody>
          <a:bodyPr>
            <a:normAutofit fontScale="90000"/>
          </a:bodyPr>
          <a:lstStyle/>
          <a:p>
            <a:pPr algn="ctr"/>
            <a:r>
              <a:rPr lang="en-US" dirty="0"/>
              <a:t>Designing the register file</a:t>
            </a:r>
            <a:endParaRPr lang="en-IN" dirty="0"/>
          </a:p>
        </p:txBody>
      </p:sp>
      <p:sp>
        <p:nvSpPr>
          <p:cNvPr id="3" name="Content Placeholder 2">
            <a:extLst>
              <a:ext uri="{FF2B5EF4-FFF2-40B4-BE49-F238E27FC236}">
                <a16:creationId xmlns:a16="http://schemas.microsoft.com/office/drawing/2014/main" id="{7CD40807-3AE3-0585-C1D6-9FF84422FA5B}"/>
              </a:ext>
            </a:extLst>
          </p:cNvPr>
          <p:cNvSpPr>
            <a:spLocks noGrp="1"/>
          </p:cNvSpPr>
          <p:nvPr>
            <p:ph idx="1"/>
          </p:nvPr>
        </p:nvSpPr>
        <p:spPr>
          <a:xfrm>
            <a:off x="700635" y="798286"/>
            <a:ext cx="10691265" cy="5326743"/>
          </a:xfrm>
        </p:spPr>
        <p:txBody>
          <a:bodyPr/>
          <a:lstStyle/>
          <a:p>
            <a:pPr marL="0" indent="0">
              <a:buNone/>
            </a:pPr>
            <a:r>
              <a:rPr lang="en-US" dirty="0"/>
              <a:t>The Register File is kind of a collection of registers. It has 32 (0-31) registers inside it, these are also called General Purpose Registers (</a:t>
            </a:r>
            <a:r>
              <a:rPr lang="en-US" b="1" dirty="0"/>
              <a:t>GPR</a:t>
            </a:r>
            <a:r>
              <a:rPr lang="en-US" dirty="0"/>
              <a:t>). This Block has two Read Ports (</a:t>
            </a:r>
            <a:r>
              <a:rPr lang="en-US" b="1" dirty="0"/>
              <a:t>rs1</a:t>
            </a:r>
            <a:r>
              <a:rPr lang="en-US" dirty="0"/>
              <a:t>, </a:t>
            </a:r>
            <a:r>
              <a:rPr lang="en-US" b="1" dirty="0"/>
              <a:t>rs2</a:t>
            </a:r>
            <a:r>
              <a:rPr lang="en-US" dirty="0"/>
              <a:t>), one Write Port (</a:t>
            </a:r>
            <a:r>
              <a:rPr lang="en-US" dirty="0" err="1"/>
              <a:t>rd</a:t>
            </a:r>
            <a:r>
              <a:rPr lang="en-US" dirty="0"/>
              <a:t>). It accepts the Write Data (32 Bits) produced by the Data Memory, the </a:t>
            </a:r>
            <a:r>
              <a:rPr lang="en-US" b="1" dirty="0" err="1"/>
              <a:t>RegWrite</a:t>
            </a:r>
            <a:r>
              <a:rPr lang="en-US" dirty="0"/>
              <a:t> control Signal coming from the Control Unit and a clock.</a:t>
            </a:r>
          </a:p>
          <a:p>
            <a:pPr marL="0" indent="0">
              <a:buNone/>
            </a:pPr>
            <a:endParaRPr lang="en-IN" dirty="0"/>
          </a:p>
        </p:txBody>
      </p:sp>
      <p:graphicFrame>
        <p:nvGraphicFramePr>
          <p:cNvPr id="4" name="Table 3">
            <a:extLst>
              <a:ext uri="{FF2B5EF4-FFF2-40B4-BE49-F238E27FC236}">
                <a16:creationId xmlns:a16="http://schemas.microsoft.com/office/drawing/2014/main" id="{41DB02BC-C78A-4BDC-64A4-5FF47F0F4288}"/>
              </a:ext>
            </a:extLst>
          </p:cNvPr>
          <p:cNvGraphicFramePr>
            <a:graphicFrameLocks noGrp="1"/>
          </p:cNvGraphicFramePr>
          <p:nvPr>
            <p:extLst>
              <p:ext uri="{D42A27DB-BD31-4B8C-83A1-F6EECF244321}">
                <p14:modId xmlns:p14="http://schemas.microsoft.com/office/powerpoint/2010/main" val="1968187361"/>
              </p:ext>
            </p:extLst>
          </p:nvPr>
        </p:nvGraphicFramePr>
        <p:xfrm>
          <a:off x="700634" y="2334622"/>
          <a:ext cx="10691265" cy="2595880"/>
        </p:xfrm>
        <a:graphic>
          <a:graphicData uri="http://schemas.openxmlformats.org/drawingml/2006/table">
            <a:tbl>
              <a:tblPr firstRow="1" bandRow="1">
                <a:tableStyleId>{5C22544A-7EE6-4342-B048-85BDC9FD1C3A}</a:tableStyleId>
              </a:tblPr>
              <a:tblGrid>
                <a:gridCol w="2007347">
                  <a:extLst>
                    <a:ext uri="{9D8B030D-6E8A-4147-A177-3AD203B41FA5}">
                      <a16:colId xmlns:a16="http://schemas.microsoft.com/office/drawing/2014/main" val="1149353685"/>
                    </a:ext>
                  </a:extLst>
                </a:gridCol>
                <a:gridCol w="1640115">
                  <a:extLst>
                    <a:ext uri="{9D8B030D-6E8A-4147-A177-3AD203B41FA5}">
                      <a16:colId xmlns:a16="http://schemas.microsoft.com/office/drawing/2014/main" val="1448087723"/>
                    </a:ext>
                  </a:extLst>
                </a:gridCol>
                <a:gridCol w="7043803">
                  <a:extLst>
                    <a:ext uri="{9D8B030D-6E8A-4147-A177-3AD203B41FA5}">
                      <a16:colId xmlns:a16="http://schemas.microsoft.com/office/drawing/2014/main" val="754515623"/>
                    </a:ext>
                  </a:extLst>
                </a:gridCol>
              </a:tblGrid>
              <a:tr h="370840">
                <a:tc>
                  <a:txBody>
                    <a:bodyPr/>
                    <a:lstStyle/>
                    <a:p>
                      <a:pPr algn="ctr"/>
                      <a:r>
                        <a:rPr lang="en-US" b="1" dirty="0"/>
                        <a:t>Input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Width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573050"/>
                  </a:ext>
                </a:extLst>
              </a:tr>
              <a:tr h="370840">
                <a:tc>
                  <a:txBody>
                    <a:bodyPr/>
                    <a:lstStyle/>
                    <a:p>
                      <a:pPr algn="ctr"/>
                      <a:r>
                        <a:rPr lang="en-US" b="1" dirty="0" err="1"/>
                        <a:t>clk</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Clock signal. Writing to a register occurs on the rising edge.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598040"/>
                  </a:ext>
                </a:extLst>
              </a:tr>
              <a:tr h="370840">
                <a:tc>
                  <a:txBody>
                    <a:bodyPr/>
                    <a:lstStyle/>
                    <a:p>
                      <a:pPr algn="ctr"/>
                      <a:r>
                        <a:rPr lang="en-US" b="1" dirty="0"/>
                        <a:t>rs1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5</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Address of source register 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78206"/>
                  </a:ext>
                </a:extLst>
              </a:tr>
              <a:tr h="370840">
                <a:tc>
                  <a:txBody>
                    <a:bodyPr/>
                    <a:lstStyle/>
                    <a:p>
                      <a:pPr algn="ctr"/>
                      <a:r>
                        <a:rPr lang="en-US" b="1" dirty="0"/>
                        <a:t>rs2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5</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Address of source register 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3761848"/>
                  </a:ext>
                </a:extLst>
              </a:tr>
              <a:tr h="370840">
                <a:tc>
                  <a:txBody>
                    <a:bodyPr/>
                    <a:lstStyle/>
                    <a:p>
                      <a:pPr algn="ctr"/>
                      <a:r>
                        <a:rPr lang="en-US" b="1" dirty="0" err="1"/>
                        <a:t>rd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5</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Address of destination register (write-back target).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2813836"/>
                  </a:ext>
                </a:extLst>
              </a:tr>
              <a:tr h="370840">
                <a:tc>
                  <a:txBody>
                    <a:bodyPr/>
                    <a:lstStyle/>
                    <a:p>
                      <a:pPr algn="ctr"/>
                      <a:r>
                        <a:rPr lang="en-US" b="1" dirty="0" err="1"/>
                        <a:t>writeData</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Data to be written into register </a:t>
                      </a:r>
                      <a:r>
                        <a:rPr lang="en-US" b="1" dirty="0" err="1"/>
                        <a:t>rd</a:t>
                      </a:r>
                      <a:r>
                        <a:rPr lang="en-US" b="1" dirty="0"/>
                        <a:t> when </a:t>
                      </a:r>
                      <a:r>
                        <a:rPr lang="en-US" b="1" dirty="0" err="1"/>
                        <a:t>RegWrite</a:t>
                      </a:r>
                      <a:r>
                        <a:rPr lang="en-US" b="1" dirty="0"/>
                        <a:t> is high.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1115416"/>
                  </a:ext>
                </a:extLst>
              </a:tr>
              <a:tr h="370840">
                <a:tc>
                  <a:txBody>
                    <a:bodyPr/>
                    <a:lstStyle/>
                    <a:p>
                      <a:pPr algn="ctr"/>
                      <a:r>
                        <a:rPr lang="en-US" b="1" dirty="0" err="1"/>
                        <a:t>regWrite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Write enable signal. When high, data is written into register rd.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05449"/>
                  </a:ext>
                </a:extLst>
              </a:tr>
            </a:tbl>
          </a:graphicData>
        </a:graphic>
      </p:graphicFrame>
      <p:graphicFrame>
        <p:nvGraphicFramePr>
          <p:cNvPr id="5" name="Table 4">
            <a:extLst>
              <a:ext uri="{FF2B5EF4-FFF2-40B4-BE49-F238E27FC236}">
                <a16:creationId xmlns:a16="http://schemas.microsoft.com/office/drawing/2014/main" id="{524CECC3-0829-EDD2-2E4C-B83D53044F24}"/>
              </a:ext>
            </a:extLst>
          </p:cNvPr>
          <p:cNvGraphicFramePr>
            <a:graphicFrameLocks noGrp="1"/>
          </p:cNvGraphicFramePr>
          <p:nvPr>
            <p:extLst>
              <p:ext uri="{D42A27DB-BD31-4B8C-83A1-F6EECF244321}">
                <p14:modId xmlns:p14="http://schemas.microsoft.com/office/powerpoint/2010/main" val="2308855296"/>
              </p:ext>
            </p:extLst>
          </p:nvPr>
        </p:nvGraphicFramePr>
        <p:xfrm>
          <a:off x="700634" y="5017589"/>
          <a:ext cx="10691265" cy="1107440"/>
        </p:xfrm>
        <a:graphic>
          <a:graphicData uri="http://schemas.openxmlformats.org/drawingml/2006/table">
            <a:tbl>
              <a:tblPr firstRow="1" bandRow="1">
                <a:tableStyleId>{5C22544A-7EE6-4342-B048-85BDC9FD1C3A}</a:tableStyleId>
              </a:tblPr>
              <a:tblGrid>
                <a:gridCol w="1984509">
                  <a:extLst>
                    <a:ext uri="{9D8B030D-6E8A-4147-A177-3AD203B41FA5}">
                      <a16:colId xmlns:a16="http://schemas.microsoft.com/office/drawing/2014/main" val="3635988232"/>
                    </a:ext>
                  </a:extLst>
                </a:gridCol>
                <a:gridCol w="1669143">
                  <a:extLst>
                    <a:ext uri="{9D8B030D-6E8A-4147-A177-3AD203B41FA5}">
                      <a16:colId xmlns:a16="http://schemas.microsoft.com/office/drawing/2014/main" val="1214237098"/>
                    </a:ext>
                  </a:extLst>
                </a:gridCol>
                <a:gridCol w="7037613">
                  <a:extLst>
                    <a:ext uri="{9D8B030D-6E8A-4147-A177-3AD203B41FA5}">
                      <a16:colId xmlns:a16="http://schemas.microsoft.com/office/drawing/2014/main" val="117189163"/>
                    </a:ext>
                  </a:extLst>
                </a:gridCol>
              </a:tblGrid>
              <a:tr h="0">
                <a:tc>
                  <a:txBody>
                    <a:bodyPr/>
                    <a:lstStyle/>
                    <a:p>
                      <a:pPr algn="ctr"/>
                      <a:r>
                        <a:rPr lang="en-US" b="1" dirty="0"/>
                        <a:t>Output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Width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6161920"/>
                  </a:ext>
                </a:extLst>
              </a:tr>
              <a:tr h="370840">
                <a:tc>
                  <a:txBody>
                    <a:bodyPr/>
                    <a:lstStyle/>
                    <a:p>
                      <a:pPr algn="ctr"/>
                      <a:r>
                        <a:rPr lang="en-US" b="1" dirty="0"/>
                        <a:t>readData1 (RD1)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Data read from register rs1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246297"/>
                  </a:ext>
                </a:extLst>
              </a:tr>
              <a:tr h="370840">
                <a:tc>
                  <a:txBody>
                    <a:bodyPr/>
                    <a:lstStyle/>
                    <a:p>
                      <a:pPr algn="ctr"/>
                      <a:r>
                        <a:rPr lang="en-US" b="1" dirty="0"/>
                        <a:t>readData2 (RD2)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Data read from register rs2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00298"/>
                  </a:ext>
                </a:extLst>
              </a:tr>
            </a:tbl>
          </a:graphicData>
        </a:graphic>
      </p:graphicFrame>
    </p:spTree>
    <p:extLst>
      <p:ext uri="{BB962C8B-B14F-4D97-AF65-F5344CB8AC3E}">
        <p14:creationId xmlns:p14="http://schemas.microsoft.com/office/powerpoint/2010/main" val="836229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64E156-28DF-EF8D-AA08-F17B3802E5A1}"/>
              </a:ext>
            </a:extLst>
          </p:cNvPr>
          <p:cNvSpPr>
            <a:spLocks noGrp="1"/>
          </p:cNvSpPr>
          <p:nvPr>
            <p:ph type="title"/>
          </p:nvPr>
        </p:nvSpPr>
        <p:spPr>
          <a:xfrm>
            <a:off x="704088" y="914400"/>
            <a:ext cx="10780776" cy="1180210"/>
          </a:xfrm>
        </p:spPr>
        <p:txBody>
          <a:bodyPr>
            <a:normAutofit/>
          </a:bodyPr>
          <a:lstStyle/>
          <a:p>
            <a:r>
              <a:rPr lang="en-US" dirty="0"/>
              <a:t>Verilog code for the register file</a:t>
            </a:r>
            <a:endParaRPr lang="en-IN"/>
          </a:p>
        </p:txBody>
      </p:sp>
      <p:cxnSp>
        <p:nvCxnSpPr>
          <p:cNvPr id="14" name="Straight Connector 13">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5209C09D-1901-0D1A-6667-7FE6D3CC6A81}"/>
              </a:ext>
            </a:extLst>
          </p:cNvPr>
          <p:cNvPicPr>
            <a:picLocks noChangeAspect="1"/>
          </p:cNvPicPr>
          <p:nvPr/>
        </p:nvPicPr>
        <p:blipFill>
          <a:blip r:embed="rId2"/>
          <a:stretch>
            <a:fillRect/>
          </a:stretch>
        </p:blipFill>
        <p:spPr>
          <a:xfrm>
            <a:off x="800098" y="1669143"/>
            <a:ext cx="5549902" cy="4493911"/>
          </a:xfrm>
          <a:prstGeom prst="rect">
            <a:avLst/>
          </a:prstGeom>
        </p:spPr>
      </p:pic>
      <p:sp>
        <p:nvSpPr>
          <p:cNvPr id="9" name="Content Placeholder 8">
            <a:extLst>
              <a:ext uri="{FF2B5EF4-FFF2-40B4-BE49-F238E27FC236}">
                <a16:creationId xmlns:a16="http://schemas.microsoft.com/office/drawing/2014/main" id="{E0939DD2-B8DD-17A0-EE68-CF5A2E561B1C}"/>
              </a:ext>
            </a:extLst>
          </p:cNvPr>
          <p:cNvSpPr>
            <a:spLocks noGrp="1"/>
          </p:cNvSpPr>
          <p:nvPr>
            <p:ph idx="1"/>
          </p:nvPr>
        </p:nvSpPr>
        <p:spPr>
          <a:xfrm>
            <a:off x="6664960" y="1669143"/>
            <a:ext cx="4819903" cy="4453273"/>
          </a:xfrm>
        </p:spPr>
        <p:txBody>
          <a:bodyPr>
            <a:normAutofit/>
          </a:bodyPr>
          <a:lstStyle/>
          <a:p>
            <a:pPr>
              <a:buFont typeface="Wingdings" panose="05000000000000000000" pitchFamily="2" charset="2"/>
              <a:buChar char="Ø"/>
            </a:pPr>
            <a:r>
              <a:rPr lang="en-US" dirty="0"/>
              <a:t>The data is read asynchronously from rs1 and rs2 but only when </a:t>
            </a:r>
            <a:r>
              <a:rPr lang="en-US" dirty="0" err="1"/>
              <a:t>rs</a:t>
            </a:r>
            <a:r>
              <a:rPr lang="en-US" dirty="0"/>
              <a:t> != 0. But why? The reason is that the x0 (GPR0) is Hardwired to 32’b0 and any read from x0 always results in 32’b0</a:t>
            </a:r>
          </a:p>
          <a:p>
            <a:pPr>
              <a:buFont typeface="Wingdings" panose="05000000000000000000" pitchFamily="2" charset="2"/>
              <a:buChar char="Ø"/>
            </a:pPr>
            <a:r>
              <a:rPr lang="en-US" dirty="0"/>
              <a:t>The </a:t>
            </a:r>
            <a:r>
              <a:rPr lang="en-US" dirty="0" err="1"/>
              <a:t>writeData</a:t>
            </a:r>
            <a:r>
              <a:rPr lang="en-US" dirty="0"/>
              <a:t> is stored at the destination register only if </a:t>
            </a:r>
            <a:r>
              <a:rPr lang="en-US" dirty="0" err="1"/>
              <a:t>rd</a:t>
            </a:r>
            <a:r>
              <a:rPr lang="en-US" dirty="0"/>
              <a:t> != 5’d0 to protect register x0 to be written.</a:t>
            </a:r>
          </a:p>
          <a:p>
            <a:pPr>
              <a:buFont typeface="Wingdings" panose="05000000000000000000" pitchFamily="2" charset="2"/>
              <a:buChar char="Ø"/>
            </a:pPr>
            <a:r>
              <a:rPr lang="en-US" dirty="0"/>
              <a:t>At the start of the simulation, all the GPR are initialized to 32’b0 using initial block (non synthesizable).</a:t>
            </a:r>
          </a:p>
        </p:txBody>
      </p:sp>
    </p:spTree>
    <p:extLst>
      <p:ext uri="{BB962C8B-B14F-4D97-AF65-F5344CB8AC3E}">
        <p14:creationId xmlns:p14="http://schemas.microsoft.com/office/powerpoint/2010/main" val="4006701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C08B-6611-8DAF-5D96-106343D22BD4}"/>
              </a:ext>
            </a:extLst>
          </p:cNvPr>
          <p:cNvSpPr>
            <a:spLocks noGrp="1"/>
          </p:cNvSpPr>
          <p:nvPr>
            <p:ph type="title"/>
          </p:nvPr>
        </p:nvSpPr>
        <p:spPr>
          <a:xfrm>
            <a:off x="860292" y="116115"/>
            <a:ext cx="10691265" cy="624114"/>
          </a:xfrm>
        </p:spPr>
        <p:txBody>
          <a:bodyPr>
            <a:normAutofit fontScale="90000"/>
          </a:bodyPr>
          <a:lstStyle/>
          <a:p>
            <a:pPr algn="ctr"/>
            <a:r>
              <a:rPr lang="en-US" dirty="0"/>
              <a:t>Designing the data memory</a:t>
            </a:r>
            <a:endParaRPr lang="en-IN" dirty="0"/>
          </a:p>
        </p:txBody>
      </p:sp>
      <p:sp>
        <p:nvSpPr>
          <p:cNvPr id="3" name="Content Placeholder 2">
            <a:extLst>
              <a:ext uri="{FF2B5EF4-FFF2-40B4-BE49-F238E27FC236}">
                <a16:creationId xmlns:a16="http://schemas.microsoft.com/office/drawing/2014/main" id="{20E83A18-63B5-7247-DDE0-4E1ECA75C99E}"/>
              </a:ext>
            </a:extLst>
          </p:cNvPr>
          <p:cNvSpPr>
            <a:spLocks noGrp="1"/>
          </p:cNvSpPr>
          <p:nvPr>
            <p:ph idx="1"/>
          </p:nvPr>
        </p:nvSpPr>
        <p:spPr>
          <a:xfrm>
            <a:off x="700635" y="740229"/>
            <a:ext cx="10691265" cy="5370285"/>
          </a:xfrm>
        </p:spPr>
        <p:txBody>
          <a:bodyPr/>
          <a:lstStyle/>
          <a:p>
            <a:pPr marL="0" indent="0">
              <a:buNone/>
            </a:pPr>
            <a:r>
              <a:rPr lang="en-US" dirty="0"/>
              <a:t>The Data Memory is a </a:t>
            </a:r>
            <a:r>
              <a:rPr lang="en-US" b="1" dirty="0"/>
              <a:t>RAM</a:t>
            </a:r>
            <a:r>
              <a:rPr lang="en-US" dirty="0"/>
              <a:t> with Asynchronous Read. In this design will choose a 1KB RAM.</a:t>
            </a:r>
          </a:p>
          <a:p>
            <a:pPr marL="0" indent="0">
              <a:buNone/>
            </a:pPr>
            <a:r>
              <a:rPr lang="en-US" dirty="0"/>
              <a:t>It accepts </a:t>
            </a:r>
            <a:r>
              <a:rPr lang="en-US" dirty="0" err="1"/>
              <a:t>MemWrite</a:t>
            </a:r>
            <a:r>
              <a:rPr lang="en-US" dirty="0"/>
              <a:t>, </a:t>
            </a:r>
            <a:r>
              <a:rPr lang="en-US" dirty="0" err="1"/>
              <a:t>MemRead</a:t>
            </a:r>
            <a:r>
              <a:rPr lang="en-US" dirty="0"/>
              <a:t> from the Control Unit, </a:t>
            </a:r>
            <a:r>
              <a:rPr lang="en-US" dirty="0" err="1"/>
              <a:t>writeData</a:t>
            </a:r>
            <a:r>
              <a:rPr lang="en-US" dirty="0"/>
              <a:t> from the Register File (readData2 or RD2). The address comes from the ALU (Result).</a:t>
            </a:r>
          </a:p>
          <a:p>
            <a:pPr marL="0" indent="0">
              <a:buNone/>
            </a:pPr>
            <a:endParaRPr lang="en-US" dirty="0"/>
          </a:p>
          <a:p>
            <a:pPr marL="0" indent="0">
              <a:buNone/>
            </a:pPr>
            <a:endParaRPr lang="en-IN" dirty="0"/>
          </a:p>
        </p:txBody>
      </p:sp>
      <p:graphicFrame>
        <p:nvGraphicFramePr>
          <p:cNvPr id="4" name="Table 3">
            <a:extLst>
              <a:ext uri="{FF2B5EF4-FFF2-40B4-BE49-F238E27FC236}">
                <a16:creationId xmlns:a16="http://schemas.microsoft.com/office/drawing/2014/main" id="{1EEDE840-792A-B3E3-6765-B48F7B4F08B4}"/>
              </a:ext>
            </a:extLst>
          </p:cNvPr>
          <p:cNvGraphicFramePr>
            <a:graphicFrameLocks noGrp="1"/>
          </p:cNvGraphicFramePr>
          <p:nvPr>
            <p:extLst>
              <p:ext uri="{D42A27DB-BD31-4B8C-83A1-F6EECF244321}">
                <p14:modId xmlns:p14="http://schemas.microsoft.com/office/powerpoint/2010/main" val="4275703598"/>
              </p:ext>
            </p:extLst>
          </p:nvPr>
        </p:nvGraphicFramePr>
        <p:xfrm>
          <a:off x="700634" y="1944915"/>
          <a:ext cx="10691265" cy="2225040"/>
        </p:xfrm>
        <a:graphic>
          <a:graphicData uri="http://schemas.openxmlformats.org/drawingml/2006/table">
            <a:tbl>
              <a:tblPr firstRow="1" bandRow="1">
                <a:tableStyleId>{5C22544A-7EE6-4342-B048-85BDC9FD1C3A}</a:tableStyleId>
              </a:tblPr>
              <a:tblGrid>
                <a:gridCol w="2007347">
                  <a:extLst>
                    <a:ext uri="{9D8B030D-6E8A-4147-A177-3AD203B41FA5}">
                      <a16:colId xmlns:a16="http://schemas.microsoft.com/office/drawing/2014/main" val="1149353685"/>
                    </a:ext>
                  </a:extLst>
                </a:gridCol>
                <a:gridCol w="1640115">
                  <a:extLst>
                    <a:ext uri="{9D8B030D-6E8A-4147-A177-3AD203B41FA5}">
                      <a16:colId xmlns:a16="http://schemas.microsoft.com/office/drawing/2014/main" val="1448087723"/>
                    </a:ext>
                  </a:extLst>
                </a:gridCol>
                <a:gridCol w="7043803">
                  <a:extLst>
                    <a:ext uri="{9D8B030D-6E8A-4147-A177-3AD203B41FA5}">
                      <a16:colId xmlns:a16="http://schemas.microsoft.com/office/drawing/2014/main" val="754515623"/>
                    </a:ext>
                  </a:extLst>
                </a:gridCol>
              </a:tblGrid>
              <a:tr h="370840">
                <a:tc>
                  <a:txBody>
                    <a:bodyPr/>
                    <a:lstStyle/>
                    <a:p>
                      <a:pPr algn="ctr"/>
                      <a:r>
                        <a:rPr lang="en-US" b="1" dirty="0"/>
                        <a:t>Input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Width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573050"/>
                  </a:ext>
                </a:extLst>
              </a:tr>
              <a:tr h="370840">
                <a:tc>
                  <a:txBody>
                    <a:bodyPr/>
                    <a:lstStyle/>
                    <a:p>
                      <a:pPr algn="ctr"/>
                      <a:r>
                        <a:rPr lang="en-US" b="1" dirty="0" err="1"/>
                        <a:t>clk</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Clock input, used for synchronous writes</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598040"/>
                  </a:ext>
                </a:extLst>
              </a:tr>
              <a:tr h="370840">
                <a:tc>
                  <a:txBody>
                    <a:bodyPr/>
                    <a:lstStyle/>
                    <a:p>
                      <a:pPr algn="ctr"/>
                      <a:r>
                        <a:rPr lang="en-US" b="1" dirty="0" err="1"/>
                        <a:t>addr</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b="1" dirty="0"/>
                        <a:t>Memory address (byte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78206"/>
                  </a:ext>
                </a:extLst>
              </a:tr>
              <a:tr h="370840">
                <a:tc>
                  <a:txBody>
                    <a:bodyPr/>
                    <a:lstStyle/>
                    <a:p>
                      <a:pPr algn="ctr"/>
                      <a:r>
                        <a:rPr lang="en-US" b="1" dirty="0" err="1"/>
                        <a:t>writeData</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Data to be written to memory (for store) when </a:t>
                      </a:r>
                      <a:r>
                        <a:rPr lang="en-US" b="1" dirty="0" err="1"/>
                        <a:t>MemWrite</a:t>
                      </a:r>
                      <a:r>
                        <a:rPr lang="en-US" b="1" dirty="0"/>
                        <a:t> is HIGH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3761848"/>
                  </a:ext>
                </a:extLst>
              </a:tr>
              <a:tr h="370840">
                <a:tc>
                  <a:txBody>
                    <a:bodyPr/>
                    <a:lstStyle/>
                    <a:p>
                      <a:pPr algn="ctr"/>
                      <a:r>
                        <a:rPr lang="en-US" b="1" dirty="0" err="1"/>
                        <a:t>MemWrite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When high, enables memory write</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05449"/>
                  </a:ext>
                </a:extLst>
              </a:tr>
              <a:tr h="370840">
                <a:tc>
                  <a:txBody>
                    <a:bodyPr/>
                    <a:lstStyle/>
                    <a:p>
                      <a:pPr algn="ctr"/>
                      <a:r>
                        <a:rPr lang="en-US" b="1" dirty="0" err="1"/>
                        <a:t>MemRead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When high, enables memory read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9094094"/>
                  </a:ext>
                </a:extLst>
              </a:tr>
            </a:tbl>
          </a:graphicData>
        </a:graphic>
      </p:graphicFrame>
      <p:graphicFrame>
        <p:nvGraphicFramePr>
          <p:cNvPr id="5" name="Table 4">
            <a:extLst>
              <a:ext uri="{FF2B5EF4-FFF2-40B4-BE49-F238E27FC236}">
                <a16:creationId xmlns:a16="http://schemas.microsoft.com/office/drawing/2014/main" id="{8F55D6AA-E849-D952-9E41-60815F2F47CF}"/>
              </a:ext>
            </a:extLst>
          </p:cNvPr>
          <p:cNvGraphicFramePr>
            <a:graphicFrameLocks noGrp="1"/>
          </p:cNvGraphicFramePr>
          <p:nvPr>
            <p:extLst>
              <p:ext uri="{D42A27DB-BD31-4B8C-83A1-F6EECF244321}">
                <p14:modId xmlns:p14="http://schemas.microsoft.com/office/powerpoint/2010/main" val="2633700596"/>
              </p:ext>
            </p:extLst>
          </p:nvPr>
        </p:nvGraphicFramePr>
        <p:xfrm>
          <a:off x="700634" y="4420809"/>
          <a:ext cx="10691265" cy="741680"/>
        </p:xfrm>
        <a:graphic>
          <a:graphicData uri="http://schemas.openxmlformats.org/drawingml/2006/table">
            <a:tbl>
              <a:tblPr firstRow="1" bandRow="1">
                <a:tableStyleId>{5C22544A-7EE6-4342-B048-85BDC9FD1C3A}</a:tableStyleId>
              </a:tblPr>
              <a:tblGrid>
                <a:gridCol w="2028052">
                  <a:extLst>
                    <a:ext uri="{9D8B030D-6E8A-4147-A177-3AD203B41FA5}">
                      <a16:colId xmlns:a16="http://schemas.microsoft.com/office/drawing/2014/main" val="2370539341"/>
                    </a:ext>
                  </a:extLst>
                </a:gridCol>
                <a:gridCol w="1625600">
                  <a:extLst>
                    <a:ext uri="{9D8B030D-6E8A-4147-A177-3AD203B41FA5}">
                      <a16:colId xmlns:a16="http://schemas.microsoft.com/office/drawing/2014/main" val="1601742969"/>
                    </a:ext>
                  </a:extLst>
                </a:gridCol>
                <a:gridCol w="7037613">
                  <a:extLst>
                    <a:ext uri="{9D8B030D-6E8A-4147-A177-3AD203B41FA5}">
                      <a16:colId xmlns:a16="http://schemas.microsoft.com/office/drawing/2014/main" val="1407335324"/>
                    </a:ext>
                  </a:extLst>
                </a:gridCol>
              </a:tblGrid>
              <a:tr h="370840">
                <a:tc>
                  <a:txBody>
                    <a:bodyPr/>
                    <a:lstStyle/>
                    <a:p>
                      <a:pPr algn="ctr"/>
                      <a:r>
                        <a:rPr lang="en-US" b="1" dirty="0"/>
                        <a:t>Output</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Width</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Description</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6715162"/>
                  </a:ext>
                </a:extLst>
              </a:tr>
              <a:tr h="370840">
                <a:tc>
                  <a:txBody>
                    <a:bodyPr/>
                    <a:lstStyle/>
                    <a:p>
                      <a:pPr algn="ctr"/>
                      <a:r>
                        <a:rPr lang="en-IN" b="1" dirty="0" err="1"/>
                        <a:t>readData</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32</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Data read from memory (for load)</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711593"/>
                  </a:ext>
                </a:extLst>
              </a:tr>
            </a:tbl>
          </a:graphicData>
        </a:graphic>
      </p:graphicFrame>
    </p:spTree>
    <p:extLst>
      <p:ext uri="{BB962C8B-B14F-4D97-AF65-F5344CB8AC3E}">
        <p14:creationId xmlns:p14="http://schemas.microsoft.com/office/powerpoint/2010/main" val="3454501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BA2ECA-FB86-8CD6-901E-21B23CD7F78C}"/>
              </a:ext>
            </a:extLst>
          </p:cNvPr>
          <p:cNvSpPr>
            <a:spLocks noGrp="1"/>
          </p:cNvSpPr>
          <p:nvPr>
            <p:ph type="title"/>
          </p:nvPr>
        </p:nvSpPr>
        <p:spPr>
          <a:xfrm>
            <a:off x="704088" y="914400"/>
            <a:ext cx="10780776" cy="1180210"/>
          </a:xfrm>
        </p:spPr>
        <p:txBody>
          <a:bodyPr>
            <a:normAutofit/>
          </a:bodyPr>
          <a:lstStyle/>
          <a:p>
            <a:r>
              <a:rPr lang="en-US" dirty="0"/>
              <a:t>The Verilog code of the data memory</a:t>
            </a:r>
            <a:endParaRPr lang="en-IN" dirty="0"/>
          </a:p>
        </p:txBody>
      </p:sp>
      <p:cxnSp>
        <p:nvCxnSpPr>
          <p:cNvPr id="14" name="Straight Connector 13">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computer program&#10;&#10;AI-generated content may be incorrect.">
            <a:extLst>
              <a:ext uri="{FF2B5EF4-FFF2-40B4-BE49-F238E27FC236}">
                <a16:creationId xmlns:a16="http://schemas.microsoft.com/office/drawing/2014/main" id="{5EEFD036-038A-2B98-6CF8-8AF0C9AC2CB0}"/>
              </a:ext>
            </a:extLst>
          </p:cNvPr>
          <p:cNvPicPr>
            <a:picLocks noChangeAspect="1"/>
          </p:cNvPicPr>
          <p:nvPr/>
        </p:nvPicPr>
        <p:blipFill>
          <a:blip r:embed="rId2"/>
          <a:stretch>
            <a:fillRect/>
          </a:stretch>
        </p:blipFill>
        <p:spPr>
          <a:xfrm>
            <a:off x="804672" y="1709783"/>
            <a:ext cx="5148549" cy="4453272"/>
          </a:xfrm>
          <a:prstGeom prst="rect">
            <a:avLst/>
          </a:prstGeom>
        </p:spPr>
      </p:pic>
      <p:sp>
        <p:nvSpPr>
          <p:cNvPr id="9" name="Content Placeholder 8">
            <a:extLst>
              <a:ext uri="{FF2B5EF4-FFF2-40B4-BE49-F238E27FC236}">
                <a16:creationId xmlns:a16="http://schemas.microsoft.com/office/drawing/2014/main" id="{A23CEDC5-6C88-D77C-5731-A0A682736CFB}"/>
              </a:ext>
            </a:extLst>
          </p:cNvPr>
          <p:cNvSpPr>
            <a:spLocks noGrp="1"/>
          </p:cNvSpPr>
          <p:nvPr>
            <p:ph idx="1"/>
          </p:nvPr>
        </p:nvSpPr>
        <p:spPr>
          <a:xfrm>
            <a:off x="6238782" y="1669143"/>
            <a:ext cx="5246082" cy="4453273"/>
          </a:xfrm>
        </p:spPr>
        <p:txBody>
          <a:bodyPr>
            <a:normAutofit/>
          </a:bodyPr>
          <a:lstStyle/>
          <a:p>
            <a:pPr>
              <a:buFont typeface="Wingdings" panose="05000000000000000000" pitchFamily="2" charset="2"/>
              <a:buChar char="Ø"/>
            </a:pPr>
            <a:r>
              <a:rPr lang="en-US" dirty="0"/>
              <a:t>Again, the Word Align is used</a:t>
            </a:r>
          </a:p>
          <a:p>
            <a:pPr>
              <a:buFont typeface="Wingdings" panose="05000000000000000000" pitchFamily="2" charset="2"/>
              <a:buChar char="Ø"/>
            </a:pPr>
            <a:r>
              <a:rPr lang="en-US" dirty="0"/>
              <a:t>The Data is Read Asynchronously</a:t>
            </a:r>
          </a:p>
          <a:p>
            <a:pPr>
              <a:buFont typeface="Wingdings" panose="05000000000000000000" pitchFamily="2" charset="2"/>
              <a:buChar char="Ø"/>
            </a:pPr>
            <a:r>
              <a:rPr lang="en-US" dirty="0"/>
              <a:t>Some Debugging and Error Prevention statements have been added</a:t>
            </a:r>
          </a:p>
          <a:p>
            <a:pPr>
              <a:buFont typeface="Wingdings" panose="05000000000000000000" pitchFamily="2" charset="2"/>
              <a:buChar char="Ø"/>
            </a:pPr>
            <a:r>
              <a:rPr lang="en-US" dirty="0"/>
              <a:t>The Data Memory is </a:t>
            </a:r>
            <a:r>
              <a:rPr lang="en-US" dirty="0" err="1"/>
              <a:t>initiliazed</a:t>
            </a:r>
            <a:r>
              <a:rPr lang="en-US" dirty="0"/>
              <a:t> to zero to prevent showing xxx in the starting of the Simulation</a:t>
            </a:r>
          </a:p>
        </p:txBody>
      </p:sp>
    </p:spTree>
    <p:extLst>
      <p:ext uri="{BB962C8B-B14F-4D97-AF65-F5344CB8AC3E}">
        <p14:creationId xmlns:p14="http://schemas.microsoft.com/office/powerpoint/2010/main" val="2678876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6E251-C2D0-76DB-C586-C8B00C203A50}"/>
              </a:ext>
            </a:extLst>
          </p:cNvPr>
          <p:cNvSpPr>
            <a:spLocks noGrp="1"/>
          </p:cNvSpPr>
          <p:nvPr>
            <p:ph type="title"/>
          </p:nvPr>
        </p:nvSpPr>
        <p:spPr>
          <a:xfrm>
            <a:off x="834187" y="0"/>
            <a:ext cx="10691265" cy="667657"/>
          </a:xfrm>
        </p:spPr>
        <p:txBody>
          <a:bodyPr>
            <a:normAutofit fontScale="90000"/>
          </a:bodyPr>
          <a:lstStyle/>
          <a:p>
            <a:pPr algn="ctr"/>
            <a:r>
              <a:rPr lang="en-US" dirty="0"/>
              <a:t>Designing the pc adder AND THE MUX</a:t>
            </a:r>
            <a:endParaRPr lang="en-IN" dirty="0"/>
          </a:p>
        </p:txBody>
      </p:sp>
      <p:sp>
        <p:nvSpPr>
          <p:cNvPr id="3" name="Content Placeholder 2">
            <a:extLst>
              <a:ext uri="{FF2B5EF4-FFF2-40B4-BE49-F238E27FC236}">
                <a16:creationId xmlns:a16="http://schemas.microsoft.com/office/drawing/2014/main" id="{2D874BFA-93FB-0C1B-EF5D-B337445011F3}"/>
              </a:ext>
            </a:extLst>
          </p:cNvPr>
          <p:cNvSpPr>
            <a:spLocks noGrp="1"/>
          </p:cNvSpPr>
          <p:nvPr>
            <p:ph sz="half" idx="1"/>
          </p:nvPr>
        </p:nvSpPr>
        <p:spPr>
          <a:xfrm>
            <a:off x="704088" y="798286"/>
            <a:ext cx="5212080" cy="5163602"/>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The PC Adder is nothing but a Full Adder which adds a constant 4 (in decimal) to point at the next instruction.</a:t>
            </a:r>
          </a:p>
          <a:p>
            <a:pPr marL="0" indent="0">
              <a:buNone/>
            </a:pPr>
            <a:r>
              <a:rPr lang="en-US" b="1" dirty="0"/>
              <a:t>VERILOG CODE FOR THE PC ADDER </a:t>
            </a:r>
          </a:p>
          <a:p>
            <a:pPr marL="0" indent="0">
              <a:buNone/>
            </a:pPr>
            <a:endParaRPr lang="en-US" b="1" dirty="0"/>
          </a:p>
          <a:p>
            <a:endParaRPr lang="en-IN" dirty="0"/>
          </a:p>
        </p:txBody>
      </p:sp>
      <p:sp>
        <p:nvSpPr>
          <p:cNvPr id="4" name="Content Placeholder 3">
            <a:extLst>
              <a:ext uri="{FF2B5EF4-FFF2-40B4-BE49-F238E27FC236}">
                <a16:creationId xmlns:a16="http://schemas.microsoft.com/office/drawing/2014/main" id="{D102AE34-FB08-50CE-D142-A9E4DF58CF43}"/>
              </a:ext>
            </a:extLst>
          </p:cNvPr>
          <p:cNvSpPr>
            <a:spLocks noGrp="1"/>
          </p:cNvSpPr>
          <p:nvPr>
            <p:ph sz="half" idx="2"/>
          </p:nvPr>
        </p:nvSpPr>
        <p:spPr>
          <a:xfrm>
            <a:off x="6181344" y="798286"/>
            <a:ext cx="5212080" cy="5163602"/>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The MUX is a simply 2:1 MUX which selects one of its input depending upon the Selector signal.</a:t>
            </a:r>
          </a:p>
          <a:p>
            <a:pPr marL="0" indent="0">
              <a:buNone/>
            </a:pPr>
            <a:r>
              <a:rPr lang="en-US" b="1" dirty="0"/>
              <a:t>VERILOG CODE FOR THE PC ADDER </a:t>
            </a:r>
          </a:p>
          <a:p>
            <a:pPr marL="0" indent="0">
              <a:buNone/>
            </a:pPr>
            <a:endParaRPr lang="en-IN" dirty="0"/>
          </a:p>
        </p:txBody>
      </p:sp>
      <p:pic>
        <p:nvPicPr>
          <p:cNvPr id="5" name="Picture 4">
            <a:extLst>
              <a:ext uri="{FF2B5EF4-FFF2-40B4-BE49-F238E27FC236}">
                <a16:creationId xmlns:a16="http://schemas.microsoft.com/office/drawing/2014/main" id="{013F3F50-3771-0BF8-8E81-86DE52EEF721}"/>
              </a:ext>
            </a:extLst>
          </p:cNvPr>
          <p:cNvPicPr>
            <a:picLocks noChangeAspect="1"/>
          </p:cNvPicPr>
          <p:nvPr/>
        </p:nvPicPr>
        <p:blipFill>
          <a:blip r:embed="rId2"/>
          <a:stretch>
            <a:fillRect/>
          </a:stretch>
        </p:blipFill>
        <p:spPr>
          <a:xfrm>
            <a:off x="834187" y="2356005"/>
            <a:ext cx="3296110" cy="2048161"/>
          </a:xfrm>
          <a:prstGeom prst="rect">
            <a:avLst/>
          </a:prstGeom>
        </p:spPr>
      </p:pic>
      <p:pic>
        <p:nvPicPr>
          <p:cNvPr id="7" name="Picture 6">
            <a:extLst>
              <a:ext uri="{FF2B5EF4-FFF2-40B4-BE49-F238E27FC236}">
                <a16:creationId xmlns:a16="http://schemas.microsoft.com/office/drawing/2014/main" id="{F1D390E8-60D4-B763-7ABA-1D0E08D27EF3}"/>
              </a:ext>
            </a:extLst>
          </p:cNvPr>
          <p:cNvPicPr>
            <a:picLocks noChangeAspect="1"/>
          </p:cNvPicPr>
          <p:nvPr/>
        </p:nvPicPr>
        <p:blipFill>
          <a:blip r:embed="rId3"/>
          <a:stretch>
            <a:fillRect/>
          </a:stretch>
        </p:blipFill>
        <p:spPr>
          <a:xfrm>
            <a:off x="6300786" y="2356004"/>
            <a:ext cx="3277057" cy="2048161"/>
          </a:xfrm>
          <a:prstGeom prst="rect">
            <a:avLst/>
          </a:prstGeom>
        </p:spPr>
      </p:pic>
    </p:spTree>
    <p:extLst>
      <p:ext uri="{BB962C8B-B14F-4D97-AF65-F5344CB8AC3E}">
        <p14:creationId xmlns:p14="http://schemas.microsoft.com/office/powerpoint/2010/main" val="19121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0CC8A-B9EF-B6F4-9070-B3DA1149F0A8}"/>
              </a:ext>
            </a:extLst>
          </p:cNvPr>
          <p:cNvSpPr>
            <a:spLocks noGrp="1"/>
          </p:cNvSpPr>
          <p:nvPr>
            <p:ph type="title"/>
          </p:nvPr>
        </p:nvSpPr>
        <p:spPr>
          <a:xfrm>
            <a:off x="750367" y="0"/>
            <a:ext cx="10691265" cy="725714"/>
          </a:xfrm>
        </p:spPr>
        <p:txBody>
          <a:bodyPr>
            <a:noAutofit/>
          </a:bodyPr>
          <a:lstStyle/>
          <a:p>
            <a:pPr algn="ctr"/>
            <a:r>
              <a:rPr lang="en-US" sz="3200" dirty="0"/>
              <a:t>Putting all together : Designing the Top Module</a:t>
            </a:r>
            <a:endParaRPr lang="en-IN" sz="3200" dirty="0"/>
          </a:p>
        </p:txBody>
      </p:sp>
      <p:sp>
        <p:nvSpPr>
          <p:cNvPr id="3" name="Content Placeholder 2">
            <a:extLst>
              <a:ext uri="{FF2B5EF4-FFF2-40B4-BE49-F238E27FC236}">
                <a16:creationId xmlns:a16="http://schemas.microsoft.com/office/drawing/2014/main" id="{8AB3C0C4-63B9-696F-FD26-EBCB1599835A}"/>
              </a:ext>
            </a:extLst>
          </p:cNvPr>
          <p:cNvSpPr>
            <a:spLocks noGrp="1"/>
          </p:cNvSpPr>
          <p:nvPr>
            <p:ph idx="1"/>
          </p:nvPr>
        </p:nvSpPr>
        <p:spPr>
          <a:xfrm>
            <a:off x="700635" y="725713"/>
            <a:ext cx="11132899" cy="5413829"/>
          </a:xfrm>
        </p:spPr>
        <p:txBody>
          <a:bodyPr/>
          <a:lstStyle/>
          <a:p>
            <a:pPr marL="0" indent="0">
              <a:buNone/>
            </a:pPr>
            <a:r>
              <a:rPr lang="en-US" dirty="0"/>
              <a:t>The Top Module or the overall System (The Processor) will be designed according to the Block Diagram of the Overall Architecture (taken from the</a:t>
            </a:r>
            <a:r>
              <a:rPr lang="en-US" b="1" i="1" dirty="0"/>
              <a:t> Computer Organization and Design</a:t>
            </a:r>
            <a:r>
              <a:rPr lang="en-US" b="1" dirty="0"/>
              <a:t> by David A. Patterson and John L. Hennessy</a:t>
            </a:r>
            <a:r>
              <a:rPr lang="en-US" dirty="0"/>
              <a:t>).</a:t>
            </a:r>
          </a:p>
          <a:p>
            <a:pPr marL="0" indent="0">
              <a:buNone/>
            </a:pPr>
            <a:r>
              <a:rPr lang="en-US" dirty="0"/>
              <a:t>Just some minor changes will be done to add the </a:t>
            </a:r>
            <a:r>
              <a:rPr lang="en-US" dirty="0" err="1"/>
              <a:t>jal</a:t>
            </a:r>
            <a:r>
              <a:rPr lang="en-US" dirty="0"/>
              <a:t>, </a:t>
            </a:r>
            <a:r>
              <a:rPr lang="en-US" dirty="0" err="1"/>
              <a:t>jalr</a:t>
            </a:r>
            <a:r>
              <a:rPr lang="en-US" dirty="0"/>
              <a:t>, </a:t>
            </a:r>
            <a:r>
              <a:rPr lang="en-US" dirty="0" err="1"/>
              <a:t>lui</a:t>
            </a:r>
            <a:r>
              <a:rPr lang="en-US" dirty="0"/>
              <a:t> and </a:t>
            </a:r>
            <a:r>
              <a:rPr lang="en-US" dirty="0" err="1"/>
              <a:t>auipc</a:t>
            </a:r>
            <a:r>
              <a:rPr lang="en-US" dirty="0"/>
              <a:t> instructions. Also, we are not using the shift + 1 block since it will be handled in the Top Module.</a:t>
            </a:r>
          </a:p>
          <a:p>
            <a:pPr marL="0" indent="0">
              <a:buNone/>
            </a:pPr>
            <a:r>
              <a:rPr lang="en-US" dirty="0"/>
              <a:t>The inputs of the Top Module </a:t>
            </a:r>
            <a:r>
              <a:rPr lang="en-US" dirty="0" err="1"/>
              <a:t>i.e</a:t>
            </a:r>
            <a:r>
              <a:rPr lang="en-US" dirty="0"/>
              <a:t> the Processor is </a:t>
            </a:r>
            <a:r>
              <a:rPr lang="en-US" dirty="0" err="1"/>
              <a:t>clk</a:t>
            </a:r>
            <a:r>
              <a:rPr lang="en-US" dirty="0"/>
              <a:t> and </a:t>
            </a:r>
            <a:r>
              <a:rPr lang="en-US" dirty="0" err="1"/>
              <a:t>rst</a:t>
            </a:r>
            <a:r>
              <a:rPr lang="en-US" dirty="0"/>
              <a:t>. </a:t>
            </a:r>
          </a:p>
          <a:p>
            <a:pPr marL="0" indent="0">
              <a:buNone/>
            </a:pPr>
            <a:r>
              <a:rPr lang="en-US" dirty="0" err="1"/>
              <a:t>i</a:t>
            </a:r>
            <a:r>
              <a:rPr lang="en-US" dirty="0"/>
              <a:t>) First, we will configure the Program Counter.</a:t>
            </a:r>
          </a:p>
          <a:p>
            <a:pPr marL="0" indent="0">
              <a:buNone/>
            </a:pPr>
            <a:r>
              <a:rPr lang="en-US" dirty="0"/>
              <a:t>ii) Next, we will connect the output of the PC to the PC Adder. </a:t>
            </a:r>
          </a:p>
          <a:p>
            <a:pPr marL="0" indent="0">
              <a:buNone/>
            </a:pPr>
            <a:r>
              <a:rPr lang="en-US" dirty="0"/>
              <a:t>iii) Next, the </a:t>
            </a:r>
            <a:r>
              <a:rPr lang="en-US" dirty="0" err="1"/>
              <a:t>the</a:t>
            </a:r>
            <a:r>
              <a:rPr lang="en-US" dirty="0"/>
              <a:t> instruction memory is to be configured.</a:t>
            </a:r>
          </a:p>
          <a:p>
            <a:pPr marL="0" indent="0">
              <a:buNone/>
            </a:pPr>
            <a:r>
              <a:rPr lang="en-US" dirty="0"/>
              <a:t>iv) Now, we will extract the </a:t>
            </a:r>
            <a:r>
              <a:rPr lang="en-US" dirty="0" err="1"/>
              <a:t>rd</a:t>
            </a:r>
            <a:r>
              <a:rPr lang="en-US" dirty="0"/>
              <a:t>, rs1, rs2, funct3, funct7 and opcode from the instruction.</a:t>
            </a:r>
          </a:p>
          <a:p>
            <a:pPr marL="0" indent="0">
              <a:buNone/>
            </a:pPr>
            <a:r>
              <a:rPr lang="en-US" dirty="0"/>
              <a:t>v) Next comes the Register File. </a:t>
            </a:r>
          </a:p>
          <a:p>
            <a:pPr marL="0" indent="0">
              <a:buNone/>
            </a:pPr>
            <a:endParaRPr lang="en-IN" dirty="0"/>
          </a:p>
        </p:txBody>
      </p:sp>
      <p:pic>
        <p:nvPicPr>
          <p:cNvPr id="9" name="Picture 8">
            <a:extLst>
              <a:ext uri="{FF2B5EF4-FFF2-40B4-BE49-F238E27FC236}">
                <a16:creationId xmlns:a16="http://schemas.microsoft.com/office/drawing/2014/main" id="{59FAD26B-4CD6-C27F-DE25-A3E231B9351D}"/>
              </a:ext>
            </a:extLst>
          </p:cNvPr>
          <p:cNvPicPr>
            <a:picLocks noChangeAspect="1"/>
          </p:cNvPicPr>
          <p:nvPr/>
        </p:nvPicPr>
        <p:blipFill>
          <a:blip r:embed="rId2"/>
          <a:stretch>
            <a:fillRect/>
          </a:stretch>
        </p:blipFill>
        <p:spPr>
          <a:xfrm>
            <a:off x="7404099" y="3110150"/>
            <a:ext cx="4429435" cy="447737"/>
          </a:xfrm>
          <a:prstGeom prst="rect">
            <a:avLst/>
          </a:prstGeom>
        </p:spPr>
      </p:pic>
      <p:pic>
        <p:nvPicPr>
          <p:cNvPr id="11" name="Picture 10">
            <a:extLst>
              <a:ext uri="{FF2B5EF4-FFF2-40B4-BE49-F238E27FC236}">
                <a16:creationId xmlns:a16="http://schemas.microsoft.com/office/drawing/2014/main" id="{2ADD1BC8-8E4F-2175-92D5-639A86FE33B2}"/>
              </a:ext>
            </a:extLst>
          </p:cNvPr>
          <p:cNvPicPr>
            <a:picLocks noChangeAspect="1"/>
          </p:cNvPicPr>
          <p:nvPr/>
        </p:nvPicPr>
        <p:blipFill>
          <a:blip r:embed="rId3"/>
          <a:stretch>
            <a:fillRect/>
          </a:stretch>
        </p:blipFill>
        <p:spPr>
          <a:xfrm>
            <a:off x="9204267" y="3677880"/>
            <a:ext cx="2629267" cy="409632"/>
          </a:xfrm>
          <a:prstGeom prst="rect">
            <a:avLst/>
          </a:prstGeom>
        </p:spPr>
      </p:pic>
      <p:pic>
        <p:nvPicPr>
          <p:cNvPr id="15" name="Picture 14">
            <a:extLst>
              <a:ext uri="{FF2B5EF4-FFF2-40B4-BE49-F238E27FC236}">
                <a16:creationId xmlns:a16="http://schemas.microsoft.com/office/drawing/2014/main" id="{473AC412-C200-ADA2-2E88-05E97C276112}"/>
              </a:ext>
            </a:extLst>
          </p:cNvPr>
          <p:cNvPicPr>
            <a:picLocks noChangeAspect="1"/>
          </p:cNvPicPr>
          <p:nvPr/>
        </p:nvPicPr>
        <p:blipFill>
          <a:blip r:embed="rId4"/>
          <a:stretch>
            <a:fillRect/>
          </a:stretch>
        </p:blipFill>
        <p:spPr>
          <a:xfrm>
            <a:off x="8499319" y="4149064"/>
            <a:ext cx="3334215" cy="438211"/>
          </a:xfrm>
          <a:prstGeom prst="rect">
            <a:avLst/>
          </a:prstGeom>
        </p:spPr>
      </p:pic>
      <p:pic>
        <p:nvPicPr>
          <p:cNvPr id="17" name="Picture 16">
            <a:extLst>
              <a:ext uri="{FF2B5EF4-FFF2-40B4-BE49-F238E27FC236}">
                <a16:creationId xmlns:a16="http://schemas.microsoft.com/office/drawing/2014/main" id="{0FD28457-EF5A-526B-98C5-D7304E28A3E4}"/>
              </a:ext>
            </a:extLst>
          </p:cNvPr>
          <p:cNvPicPr>
            <a:picLocks noChangeAspect="1"/>
          </p:cNvPicPr>
          <p:nvPr/>
        </p:nvPicPr>
        <p:blipFill>
          <a:blip r:embed="rId5"/>
          <a:stretch>
            <a:fillRect/>
          </a:stretch>
        </p:blipFill>
        <p:spPr>
          <a:xfrm>
            <a:off x="7563104" y="4906866"/>
            <a:ext cx="4270430" cy="597990"/>
          </a:xfrm>
          <a:prstGeom prst="rect">
            <a:avLst/>
          </a:prstGeom>
        </p:spPr>
      </p:pic>
      <p:pic>
        <p:nvPicPr>
          <p:cNvPr id="19" name="Picture 18">
            <a:extLst>
              <a:ext uri="{FF2B5EF4-FFF2-40B4-BE49-F238E27FC236}">
                <a16:creationId xmlns:a16="http://schemas.microsoft.com/office/drawing/2014/main" id="{92CAE6C5-FF89-A27E-2C5B-2B3B70415837}"/>
              </a:ext>
            </a:extLst>
          </p:cNvPr>
          <p:cNvPicPr>
            <a:picLocks noChangeAspect="1"/>
          </p:cNvPicPr>
          <p:nvPr/>
        </p:nvPicPr>
        <p:blipFill>
          <a:blip r:embed="rId6"/>
          <a:stretch>
            <a:fillRect/>
          </a:stretch>
        </p:blipFill>
        <p:spPr>
          <a:xfrm>
            <a:off x="2222500" y="5665722"/>
            <a:ext cx="4565901" cy="473820"/>
          </a:xfrm>
          <a:prstGeom prst="rect">
            <a:avLst/>
          </a:prstGeom>
        </p:spPr>
      </p:pic>
      <p:cxnSp>
        <p:nvCxnSpPr>
          <p:cNvPr id="21" name="Straight Arrow Connector 20">
            <a:extLst>
              <a:ext uri="{FF2B5EF4-FFF2-40B4-BE49-F238E27FC236}">
                <a16:creationId xmlns:a16="http://schemas.microsoft.com/office/drawing/2014/main" id="{E75649F8-AFCE-043E-1411-45EEF86CBA12}"/>
              </a:ext>
            </a:extLst>
          </p:cNvPr>
          <p:cNvCxnSpPr>
            <a:cxnSpLocks/>
            <a:endCxn id="15" idx="1"/>
          </p:cNvCxnSpPr>
          <p:nvPr/>
        </p:nvCxnSpPr>
        <p:spPr>
          <a:xfrm>
            <a:off x="6934200" y="4272180"/>
            <a:ext cx="1565119" cy="95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B32726AA-C518-6732-D4F7-8D94C3F58EF7}"/>
              </a:ext>
            </a:extLst>
          </p:cNvPr>
          <p:cNvCxnSpPr>
            <a:endCxn id="11" idx="1"/>
          </p:cNvCxnSpPr>
          <p:nvPr/>
        </p:nvCxnSpPr>
        <p:spPr>
          <a:xfrm>
            <a:off x="7563104" y="3882696"/>
            <a:ext cx="16411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52DCAED1-3745-15B5-A997-8AD9ED78E1E2}"/>
              </a:ext>
            </a:extLst>
          </p:cNvPr>
          <p:cNvCxnSpPr>
            <a:endCxn id="9" idx="1"/>
          </p:cNvCxnSpPr>
          <p:nvPr/>
        </p:nvCxnSpPr>
        <p:spPr>
          <a:xfrm>
            <a:off x="5981700" y="3334018"/>
            <a:ext cx="142239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DD0BB4F-C036-C038-260F-6459C58991FD}"/>
              </a:ext>
            </a:extLst>
          </p:cNvPr>
          <p:cNvCxnSpPr>
            <a:endCxn id="17" idx="1"/>
          </p:cNvCxnSpPr>
          <p:nvPr/>
        </p:nvCxnSpPr>
        <p:spPr>
          <a:xfrm>
            <a:off x="6788401" y="4906866"/>
            <a:ext cx="774703" cy="2989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E5FAE891-CF43-7F87-804F-5D9358BBF264}"/>
              </a:ext>
            </a:extLst>
          </p:cNvPr>
          <p:cNvCxnSpPr>
            <a:cxnSpLocks/>
            <a:endCxn id="19" idx="0"/>
          </p:cNvCxnSpPr>
          <p:nvPr/>
        </p:nvCxnSpPr>
        <p:spPr>
          <a:xfrm>
            <a:off x="3454400" y="5205861"/>
            <a:ext cx="1051051" cy="459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1443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D8D94-6A89-E071-8505-7283AC1E00F9}"/>
              </a:ext>
            </a:extLst>
          </p:cNvPr>
          <p:cNvSpPr>
            <a:spLocks noGrp="1"/>
          </p:cNvSpPr>
          <p:nvPr>
            <p:ph type="title"/>
          </p:nvPr>
        </p:nvSpPr>
        <p:spPr>
          <a:xfrm>
            <a:off x="750367" y="0"/>
            <a:ext cx="10691265" cy="723900"/>
          </a:xfrm>
        </p:spPr>
        <p:txBody>
          <a:bodyPr anchor="ctr"/>
          <a:lstStyle/>
          <a:p>
            <a:pPr algn="ctr"/>
            <a:r>
              <a:rPr lang="en-US" dirty="0"/>
              <a:t>The top module</a:t>
            </a:r>
            <a:endParaRPr lang="en-IN" dirty="0"/>
          </a:p>
        </p:txBody>
      </p:sp>
      <p:sp>
        <p:nvSpPr>
          <p:cNvPr id="3" name="Content Placeholder 2">
            <a:extLst>
              <a:ext uri="{FF2B5EF4-FFF2-40B4-BE49-F238E27FC236}">
                <a16:creationId xmlns:a16="http://schemas.microsoft.com/office/drawing/2014/main" id="{25675475-684C-3CAB-448B-D5288AA00285}"/>
              </a:ext>
            </a:extLst>
          </p:cNvPr>
          <p:cNvSpPr>
            <a:spLocks noGrp="1"/>
          </p:cNvSpPr>
          <p:nvPr>
            <p:ph idx="1"/>
          </p:nvPr>
        </p:nvSpPr>
        <p:spPr>
          <a:xfrm>
            <a:off x="700635" y="723900"/>
            <a:ext cx="10691265" cy="5397500"/>
          </a:xfrm>
        </p:spPr>
        <p:txBody>
          <a:bodyPr>
            <a:normAutofit lnSpcReduction="10000"/>
          </a:bodyPr>
          <a:lstStyle/>
          <a:p>
            <a:pPr marL="0" indent="0">
              <a:buNone/>
            </a:pPr>
            <a:r>
              <a:rPr lang="en-US" dirty="0"/>
              <a:t>vi) Now, we will set up the Sign Extender block.</a:t>
            </a:r>
          </a:p>
          <a:p>
            <a:pPr marL="0" indent="0">
              <a:buNone/>
            </a:pPr>
            <a:r>
              <a:rPr lang="en-US" dirty="0"/>
              <a:t>vii) Next, the Control Unit.  </a:t>
            </a:r>
          </a:p>
          <a:p>
            <a:pPr marL="0" indent="0">
              <a:buNone/>
            </a:pPr>
            <a:r>
              <a:rPr lang="en-US" dirty="0"/>
              <a:t>viii) Next, the ALU Control.</a:t>
            </a:r>
          </a:p>
          <a:p>
            <a:pPr marL="0" indent="0">
              <a:buNone/>
            </a:pPr>
            <a:r>
              <a:rPr lang="en-US" dirty="0"/>
              <a:t>ix) Next, the ALU MUX.</a:t>
            </a:r>
          </a:p>
          <a:p>
            <a:pPr marL="0" indent="0">
              <a:buNone/>
            </a:pPr>
            <a:r>
              <a:rPr lang="en-US" dirty="0"/>
              <a:t>x) Next, the ALU.</a:t>
            </a:r>
          </a:p>
          <a:p>
            <a:pPr marL="0" indent="0">
              <a:buNone/>
            </a:pPr>
            <a:r>
              <a:rPr lang="en-US" dirty="0"/>
              <a:t>xi) Now, the Data Memory. </a:t>
            </a:r>
          </a:p>
          <a:p>
            <a:pPr marL="0" indent="0">
              <a:buNone/>
            </a:pPr>
            <a:r>
              <a:rPr lang="en-US" dirty="0"/>
              <a:t>xii) Next, the Memory Mux.</a:t>
            </a:r>
          </a:p>
          <a:p>
            <a:pPr marL="0" indent="0">
              <a:buNone/>
            </a:pPr>
            <a:endParaRPr lang="en-US" dirty="0"/>
          </a:p>
          <a:p>
            <a:pPr marL="0" indent="0">
              <a:buNone/>
            </a:pPr>
            <a:r>
              <a:rPr lang="en-US" dirty="0"/>
              <a:t>xiii) Now, we will tackle the </a:t>
            </a:r>
            <a:r>
              <a:rPr lang="en-US" dirty="0" err="1"/>
              <a:t>jal</a:t>
            </a:r>
            <a:r>
              <a:rPr lang="en-US" dirty="0"/>
              <a:t>, </a:t>
            </a:r>
            <a:r>
              <a:rPr lang="en-US" dirty="0" err="1"/>
              <a:t>jalr</a:t>
            </a:r>
            <a:r>
              <a:rPr lang="en-US" dirty="0"/>
              <a:t>, </a:t>
            </a:r>
            <a:r>
              <a:rPr lang="en-US" dirty="0" err="1"/>
              <a:t>lui</a:t>
            </a:r>
            <a:r>
              <a:rPr lang="en-US" dirty="0"/>
              <a:t>,</a:t>
            </a:r>
          </a:p>
          <a:p>
            <a:pPr marL="0" indent="0">
              <a:buNone/>
            </a:pPr>
            <a:r>
              <a:rPr lang="en-US" dirty="0" err="1"/>
              <a:t>auipc</a:t>
            </a:r>
            <a:r>
              <a:rPr lang="en-US" dirty="0"/>
              <a:t> instructions. Recall that, for both </a:t>
            </a:r>
            <a:r>
              <a:rPr lang="en-US" dirty="0" err="1"/>
              <a:t>jal</a:t>
            </a:r>
            <a:r>
              <a:rPr lang="en-US" dirty="0"/>
              <a:t> and </a:t>
            </a:r>
            <a:r>
              <a:rPr lang="en-US" dirty="0" err="1"/>
              <a:t>jalr</a:t>
            </a:r>
            <a:r>
              <a:rPr lang="en-US" dirty="0"/>
              <a:t> instructions, we store PC + 4 (the return address) in the destination register rd. Also, we store PC and PC + </a:t>
            </a:r>
            <a:r>
              <a:rPr lang="en-US" dirty="0" err="1"/>
              <a:t>imm</a:t>
            </a:r>
            <a:r>
              <a:rPr lang="en-US" dirty="0"/>
              <a:t> in </a:t>
            </a:r>
            <a:r>
              <a:rPr lang="en-US" dirty="0" err="1"/>
              <a:t>rd</a:t>
            </a:r>
            <a:r>
              <a:rPr lang="en-US" dirty="0"/>
              <a:t> for </a:t>
            </a:r>
            <a:r>
              <a:rPr lang="en-US" dirty="0" err="1"/>
              <a:t>lui</a:t>
            </a:r>
            <a:r>
              <a:rPr lang="en-US" dirty="0"/>
              <a:t> and </a:t>
            </a:r>
            <a:r>
              <a:rPr lang="en-US" dirty="0" err="1"/>
              <a:t>auipc</a:t>
            </a:r>
            <a:r>
              <a:rPr lang="en-US" dirty="0"/>
              <a:t> respectively. So, for </a:t>
            </a:r>
            <a:r>
              <a:rPr lang="en-US" dirty="0" err="1"/>
              <a:t>jal</a:t>
            </a:r>
            <a:r>
              <a:rPr lang="en-US" dirty="0"/>
              <a:t> or </a:t>
            </a:r>
            <a:r>
              <a:rPr lang="en-US" dirty="0" err="1"/>
              <a:t>jalr</a:t>
            </a:r>
            <a:r>
              <a:rPr lang="en-US" dirty="0"/>
              <a:t> (i.e. </a:t>
            </a:r>
            <a:r>
              <a:rPr lang="en-US" dirty="0" err="1"/>
              <a:t>jal</a:t>
            </a:r>
            <a:r>
              <a:rPr lang="en-US" dirty="0"/>
              <a:t> | </a:t>
            </a:r>
            <a:r>
              <a:rPr lang="en-US" dirty="0" err="1"/>
              <a:t>jalr</a:t>
            </a:r>
            <a:r>
              <a:rPr lang="en-US" dirty="0"/>
              <a:t>) we store PC + 4, for </a:t>
            </a:r>
            <a:r>
              <a:rPr lang="en-US" dirty="0" err="1"/>
              <a:t>lui</a:t>
            </a:r>
            <a:r>
              <a:rPr lang="en-US" dirty="0"/>
              <a:t> and </a:t>
            </a:r>
            <a:r>
              <a:rPr lang="en-US" dirty="0" err="1"/>
              <a:t>auipc</a:t>
            </a:r>
            <a:r>
              <a:rPr lang="en-US" dirty="0"/>
              <a:t> we will store PC and PC + </a:t>
            </a:r>
            <a:r>
              <a:rPr lang="en-US" dirty="0" err="1"/>
              <a:t>imm</a:t>
            </a:r>
            <a:r>
              <a:rPr lang="en-US" dirty="0"/>
              <a:t> respectively. </a:t>
            </a:r>
            <a:endParaRPr lang="en-IN" dirty="0"/>
          </a:p>
        </p:txBody>
      </p:sp>
      <p:pic>
        <p:nvPicPr>
          <p:cNvPr id="5" name="Picture 4">
            <a:extLst>
              <a:ext uri="{FF2B5EF4-FFF2-40B4-BE49-F238E27FC236}">
                <a16:creationId xmlns:a16="http://schemas.microsoft.com/office/drawing/2014/main" id="{8055641D-59BD-A2F6-EFF1-D57DAC96F62A}"/>
              </a:ext>
            </a:extLst>
          </p:cNvPr>
          <p:cNvPicPr>
            <a:picLocks noChangeAspect="1"/>
          </p:cNvPicPr>
          <p:nvPr/>
        </p:nvPicPr>
        <p:blipFill>
          <a:blip r:embed="rId2"/>
          <a:stretch>
            <a:fillRect/>
          </a:stretch>
        </p:blipFill>
        <p:spPr>
          <a:xfrm>
            <a:off x="7895737" y="768379"/>
            <a:ext cx="3496163" cy="419158"/>
          </a:xfrm>
          <a:prstGeom prst="rect">
            <a:avLst/>
          </a:prstGeom>
        </p:spPr>
      </p:pic>
      <p:pic>
        <p:nvPicPr>
          <p:cNvPr id="9" name="Picture 8">
            <a:extLst>
              <a:ext uri="{FF2B5EF4-FFF2-40B4-BE49-F238E27FC236}">
                <a16:creationId xmlns:a16="http://schemas.microsoft.com/office/drawing/2014/main" id="{08A4DD36-ABC2-BABD-D6B8-3097FD87814B}"/>
              </a:ext>
            </a:extLst>
          </p:cNvPr>
          <p:cNvPicPr>
            <a:picLocks noChangeAspect="1"/>
          </p:cNvPicPr>
          <p:nvPr/>
        </p:nvPicPr>
        <p:blipFill>
          <a:blip r:embed="rId3"/>
          <a:stretch>
            <a:fillRect/>
          </a:stretch>
        </p:blipFill>
        <p:spPr>
          <a:xfrm>
            <a:off x="4750709" y="1232016"/>
            <a:ext cx="6641191" cy="598423"/>
          </a:xfrm>
          <a:prstGeom prst="rect">
            <a:avLst/>
          </a:prstGeom>
        </p:spPr>
      </p:pic>
      <p:pic>
        <p:nvPicPr>
          <p:cNvPr id="11" name="Picture 10">
            <a:extLst>
              <a:ext uri="{FF2B5EF4-FFF2-40B4-BE49-F238E27FC236}">
                <a16:creationId xmlns:a16="http://schemas.microsoft.com/office/drawing/2014/main" id="{156D0C80-971D-CA0D-7DF1-DEAA12693EE7}"/>
              </a:ext>
            </a:extLst>
          </p:cNvPr>
          <p:cNvPicPr>
            <a:picLocks noChangeAspect="1"/>
          </p:cNvPicPr>
          <p:nvPr/>
        </p:nvPicPr>
        <p:blipFill>
          <a:blip r:embed="rId4"/>
          <a:stretch>
            <a:fillRect/>
          </a:stretch>
        </p:blipFill>
        <p:spPr>
          <a:xfrm>
            <a:off x="6190524" y="1862305"/>
            <a:ext cx="5201376" cy="419158"/>
          </a:xfrm>
          <a:prstGeom prst="rect">
            <a:avLst/>
          </a:prstGeom>
        </p:spPr>
      </p:pic>
      <p:pic>
        <p:nvPicPr>
          <p:cNvPr id="13" name="Picture 12">
            <a:extLst>
              <a:ext uri="{FF2B5EF4-FFF2-40B4-BE49-F238E27FC236}">
                <a16:creationId xmlns:a16="http://schemas.microsoft.com/office/drawing/2014/main" id="{3427DFE9-4B37-584F-D7CD-3AD47E6CED39}"/>
              </a:ext>
            </a:extLst>
          </p:cNvPr>
          <p:cNvPicPr>
            <a:picLocks noChangeAspect="1"/>
          </p:cNvPicPr>
          <p:nvPr/>
        </p:nvPicPr>
        <p:blipFill>
          <a:blip r:embed="rId5"/>
          <a:stretch>
            <a:fillRect/>
          </a:stretch>
        </p:blipFill>
        <p:spPr>
          <a:xfrm>
            <a:off x="7171736" y="2313329"/>
            <a:ext cx="4220164" cy="438211"/>
          </a:xfrm>
          <a:prstGeom prst="rect">
            <a:avLst/>
          </a:prstGeom>
        </p:spPr>
      </p:pic>
      <p:pic>
        <p:nvPicPr>
          <p:cNvPr id="15" name="Picture 14">
            <a:extLst>
              <a:ext uri="{FF2B5EF4-FFF2-40B4-BE49-F238E27FC236}">
                <a16:creationId xmlns:a16="http://schemas.microsoft.com/office/drawing/2014/main" id="{A7C0BB6F-DCA5-CEAC-D5F3-93B0584FC939}"/>
              </a:ext>
            </a:extLst>
          </p:cNvPr>
          <p:cNvPicPr>
            <a:picLocks noChangeAspect="1"/>
          </p:cNvPicPr>
          <p:nvPr/>
        </p:nvPicPr>
        <p:blipFill>
          <a:blip r:embed="rId6"/>
          <a:stretch>
            <a:fillRect/>
          </a:stretch>
        </p:blipFill>
        <p:spPr>
          <a:xfrm>
            <a:off x="6781157" y="2783406"/>
            <a:ext cx="4610743" cy="619211"/>
          </a:xfrm>
          <a:prstGeom prst="rect">
            <a:avLst/>
          </a:prstGeom>
        </p:spPr>
      </p:pic>
      <p:pic>
        <p:nvPicPr>
          <p:cNvPr id="19" name="Picture 18">
            <a:extLst>
              <a:ext uri="{FF2B5EF4-FFF2-40B4-BE49-F238E27FC236}">
                <a16:creationId xmlns:a16="http://schemas.microsoft.com/office/drawing/2014/main" id="{30ED9B2C-71C4-AE4E-86FB-A718BBFBB653}"/>
              </a:ext>
            </a:extLst>
          </p:cNvPr>
          <p:cNvPicPr>
            <a:picLocks noChangeAspect="1"/>
          </p:cNvPicPr>
          <p:nvPr/>
        </p:nvPicPr>
        <p:blipFill>
          <a:blip r:embed="rId7"/>
          <a:stretch>
            <a:fillRect/>
          </a:stretch>
        </p:blipFill>
        <p:spPr>
          <a:xfrm>
            <a:off x="5723734" y="3456823"/>
            <a:ext cx="5668166" cy="447737"/>
          </a:xfrm>
          <a:prstGeom prst="rect">
            <a:avLst/>
          </a:prstGeom>
        </p:spPr>
      </p:pic>
      <p:pic>
        <p:nvPicPr>
          <p:cNvPr id="21" name="Picture 20">
            <a:extLst>
              <a:ext uri="{FF2B5EF4-FFF2-40B4-BE49-F238E27FC236}">
                <a16:creationId xmlns:a16="http://schemas.microsoft.com/office/drawing/2014/main" id="{D36E2198-97E9-E483-871A-C509E72DD78D}"/>
              </a:ext>
            </a:extLst>
          </p:cNvPr>
          <p:cNvPicPr>
            <a:picLocks noChangeAspect="1"/>
          </p:cNvPicPr>
          <p:nvPr/>
        </p:nvPicPr>
        <p:blipFill>
          <a:blip r:embed="rId8"/>
          <a:stretch>
            <a:fillRect/>
          </a:stretch>
        </p:blipFill>
        <p:spPr>
          <a:xfrm>
            <a:off x="5209312" y="3958766"/>
            <a:ext cx="6182588" cy="419158"/>
          </a:xfrm>
          <a:prstGeom prst="rect">
            <a:avLst/>
          </a:prstGeom>
        </p:spPr>
      </p:pic>
      <p:cxnSp>
        <p:nvCxnSpPr>
          <p:cNvPr id="23" name="Straight Arrow Connector 22">
            <a:extLst>
              <a:ext uri="{FF2B5EF4-FFF2-40B4-BE49-F238E27FC236}">
                <a16:creationId xmlns:a16="http://schemas.microsoft.com/office/drawing/2014/main" id="{1E677CAD-D954-B5F3-6C0E-FD898906F608}"/>
              </a:ext>
            </a:extLst>
          </p:cNvPr>
          <p:cNvCxnSpPr>
            <a:cxnSpLocks/>
            <a:endCxn id="21" idx="1"/>
          </p:cNvCxnSpPr>
          <p:nvPr/>
        </p:nvCxnSpPr>
        <p:spPr>
          <a:xfrm>
            <a:off x="3860800" y="3733800"/>
            <a:ext cx="1348512" cy="4345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4A580B97-4931-E263-7549-09B9A9E41E82}"/>
              </a:ext>
            </a:extLst>
          </p:cNvPr>
          <p:cNvCxnSpPr>
            <a:cxnSpLocks/>
            <a:endCxn id="19" idx="1"/>
          </p:cNvCxnSpPr>
          <p:nvPr/>
        </p:nvCxnSpPr>
        <p:spPr>
          <a:xfrm>
            <a:off x="3860800" y="3239550"/>
            <a:ext cx="1862934" cy="4411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82718436-1473-3039-D05E-3FC0788BF380}"/>
              </a:ext>
            </a:extLst>
          </p:cNvPr>
          <p:cNvCxnSpPr>
            <a:cxnSpLocks/>
            <a:endCxn id="15" idx="1"/>
          </p:cNvCxnSpPr>
          <p:nvPr/>
        </p:nvCxnSpPr>
        <p:spPr>
          <a:xfrm>
            <a:off x="2809429" y="2769270"/>
            <a:ext cx="3971728" cy="3237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F8009E7A-E041-E548-59CE-8A4C11ED4309}"/>
              </a:ext>
            </a:extLst>
          </p:cNvPr>
          <p:cNvCxnSpPr>
            <a:cxnSpLocks/>
            <a:endCxn id="13" idx="1"/>
          </p:cNvCxnSpPr>
          <p:nvPr/>
        </p:nvCxnSpPr>
        <p:spPr>
          <a:xfrm>
            <a:off x="3609529" y="2310973"/>
            <a:ext cx="3562207" cy="2214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95C0D90B-0ACC-20E1-AA85-88403A899DA5}"/>
              </a:ext>
            </a:extLst>
          </p:cNvPr>
          <p:cNvCxnSpPr>
            <a:endCxn id="11" idx="1"/>
          </p:cNvCxnSpPr>
          <p:nvPr/>
        </p:nvCxnSpPr>
        <p:spPr>
          <a:xfrm>
            <a:off x="3860800" y="1862305"/>
            <a:ext cx="2329724" cy="2095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FF3DD2E6-D237-4B07-DE48-49BB6D11FF23}"/>
              </a:ext>
            </a:extLst>
          </p:cNvPr>
          <p:cNvCxnSpPr>
            <a:endCxn id="9" idx="1"/>
          </p:cNvCxnSpPr>
          <p:nvPr/>
        </p:nvCxnSpPr>
        <p:spPr>
          <a:xfrm>
            <a:off x="3771900" y="1371600"/>
            <a:ext cx="978809" cy="159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24074759-D9A9-2281-FD59-A82F3EB9AB84}"/>
              </a:ext>
            </a:extLst>
          </p:cNvPr>
          <p:cNvCxnSpPr>
            <a:endCxn id="5" idx="1"/>
          </p:cNvCxnSpPr>
          <p:nvPr/>
        </p:nvCxnSpPr>
        <p:spPr>
          <a:xfrm>
            <a:off x="6046267" y="977958"/>
            <a:ext cx="18494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072110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0AD15-6C11-50C9-67EA-6D3FE5949F82}"/>
              </a:ext>
            </a:extLst>
          </p:cNvPr>
          <p:cNvSpPr>
            <a:spLocks noGrp="1"/>
          </p:cNvSpPr>
          <p:nvPr>
            <p:ph type="title"/>
          </p:nvPr>
        </p:nvSpPr>
        <p:spPr>
          <a:xfrm>
            <a:off x="840335" y="88900"/>
            <a:ext cx="10691265" cy="635000"/>
          </a:xfrm>
        </p:spPr>
        <p:txBody>
          <a:bodyPr>
            <a:normAutofit fontScale="90000"/>
          </a:bodyPr>
          <a:lstStyle/>
          <a:p>
            <a:pPr algn="ctr"/>
            <a:r>
              <a:rPr lang="en-US" dirty="0"/>
              <a:t>The top module</a:t>
            </a:r>
            <a:endParaRPr lang="en-IN" dirty="0"/>
          </a:p>
        </p:txBody>
      </p:sp>
      <p:sp>
        <p:nvSpPr>
          <p:cNvPr id="3" name="Content Placeholder 2">
            <a:extLst>
              <a:ext uri="{FF2B5EF4-FFF2-40B4-BE49-F238E27FC236}">
                <a16:creationId xmlns:a16="http://schemas.microsoft.com/office/drawing/2014/main" id="{B9CBC9FF-FFA1-5155-CB2E-3B340EBFE7B4}"/>
              </a:ext>
            </a:extLst>
          </p:cNvPr>
          <p:cNvSpPr>
            <a:spLocks noGrp="1"/>
          </p:cNvSpPr>
          <p:nvPr>
            <p:ph idx="1"/>
          </p:nvPr>
        </p:nvSpPr>
        <p:spPr>
          <a:xfrm>
            <a:off x="700635" y="723900"/>
            <a:ext cx="11123065" cy="5410200"/>
          </a:xfrm>
        </p:spPr>
        <p:txBody>
          <a:bodyPr>
            <a:normAutofit fontScale="85000" lnSpcReduction="20000"/>
          </a:bodyPr>
          <a:lstStyle/>
          <a:p>
            <a:pPr marL="0" indent="0">
              <a:buNone/>
            </a:pPr>
            <a:r>
              <a:rPr lang="en-US" dirty="0"/>
              <a:t>For none of the </a:t>
            </a:r>
            <a:r>
              <a:rPr lang="en-US" dirty="0" err="1"/>
              <a:t>lui</a:t>
            </a:r>
            <a:r>
              <a:rPr lang="en-US" dirty="0"/>
              <a:t>, </a:t>
            </a:r>
            <a:r>
              <a:rPr lang="en-US" dirty="0" err="1"/>
              <a:t>auipc</a:t>
            </a:r>
            <a:r>
              <a:rPr lang="en-US" dirty="0"/>
              <a:t>, </a:t>
            </a:r>
            <a:r>
              <a:rPr lang="en-US" dirty="0" err="1"/>
              <a:t>jal</a:t>
            </a:r>
            <a:r>
              <a:rPr lang="en-US" dirty="0"/>
              <a:t>, </a:t>
            </a:r>
            <a:r>
              <a:rPr lang="en-US" dirty="0" err="1"/>
              <a:t>jalr</a:t>
            </a:r>
            <a:r>
              <a:rPr lang="en-US" dirty="0"/>
              <a:t> we will pass the ALU Result.</a:t>
            </a:r>
          </a:p>
          <a:p>
            <a:pPr marL="0" indent="0">
              <a:buNone/>
            </a:pPr>
            <a:r>
              <a:rPr lang="en-US" dirty="0"/>
              <a:t>xiii) Finally, we will configure the Branching and Jumping logic.</a:t>
            </a:r>
          </a:p>
          <a:p>
            <a:pPr marL="0" indent="0">
              <a:buNone/>
            </a:pPr>
            <a:r>
              <a:rPr lang="en-US" dirty="0"/>
              <a:t>For this, we have to recall </a:t>
            </a:r>
            <a:r>
              <a:rPr lang="en-US" b="1" dirty="0"/>
              <a:t>Branch</a:t>
            </a:r>
            <a:r>
              <a:rPr lang="en-US" dirty="0"/>
              <a:t> and </a:t>
            </a:r>
            <a:r>
              <a:rPr lang="en-US" b="1" dirty="0"/>
              <a:t>Jump</a:t>
            </a:r>
            <a:r>
              <a:rPr lang="en-US" dirty="0"/>
              <a:t> type instructions. </a:t>
            </a:r>
            <a:br>
              <a:rPr lang="en-US" dirty="0"/>
            </a:br>
            <a:r>
              <a:rPr lang="en-US" dirty="0"/>
              <a:t>The </a:t>
            </a:r>
            <a:r>
              <a:rPr lang="en-US" b="1" dirty="0"/>
              <a:t>Branch</a:t>
            </a:r>
            <a:r>
              <a:rPr lang="en-US" dirty="0"/>
              <a:t> type instructions and </a:t>
            </a:r>
            <a:r>
              <a:rPr lang="en-US" b="1" dirty="0" err="1"/>
              <a:t>jal</a:t>
            </a:r>
            <a:r>
              <a:rPr lang="en-US" dirty="0"/>
              <a:t> loads the Program counter to point to </a:t>
            </a:r>
          </a:p>
          <a:p>
            <a:pPr marL="0" indent="0">
              <a:buNone/>
            </a:pPr>
            <a:r>
              <a:rPr lang="en-US" dirty="0"/>
              <a:t>some label (an address) which is basically doing the current address plus some immediate.</a:t>
            </a:r>
          </a:p>
          <a:p>
            <a:pPr marL="0" indent="0">
              <a:buNone/>
            </a:pPr>
            <a:r>
              <a:rPr lang="en-US" dirty="0"/>
              <a:t>Again, for </a:t>
            </a:r>
            <a:r>
              <a:rPr lang="en-US" b="1" dirty="0" err="1"/>
              <a:t>jalr</a:t>
            </a:r>
            <a:r>
              <a:rPr lang="en-US" dirty="0"/>
              <a:t> we load the </a:t>
            </a:r>
            <a:r>
              <a:rPr lang="en-US" b="1" dirty="0"/>
              <a:t>PC</a:t>
            </a:r>
            <a:r>
              <a:rPr lang="en-US" dirty="0"/>
              <a:t> to point to the </a:t>
            </a:r>
            <a:r>
              <a:rPr lang="en-US" b="1" dirty="0"/>
              <a:t>RD1</a:t>
            </a:r>
            <a:r>
              <a:rPr lang="en-US" dirty="0"/>
              <a:t> + </a:t>
            </a:r>
            <a:r>
              <a:rPr lang="en-US" b="1" dirty="0" err="1"/>
              <a:t>imm</a:t>
            </a:r>
            <a:r>
              <a:rPr lang="en-US" dirty="0"/>
              <a:t> (i.e. to the address stored in </a:t>
            </a:r>
            <a:r>
              <a:rPr lang="en-US" b="1" dirty="0"/>
              <a:t>rs1</a:t>
            </a:r>
            <a:r>
              <a:rPr lang="en-US" dirty="0"/>
              <a:t> + </a:t>
            </a:r>
            <a:r>
              <a:rPr lang="en-US" b="1" dirty="0" err="1"/>
              <a:t>imm</a:t>
            </a:r>
            <a:r>
              <a:rPr lang="en-US" dirty="0"/>
              <a:t>)</a:t>
            </a:r>
          </a:p>
          <a:p>
            <a:pPr marL="0" indent="0">
              <a:buNone/>
            </a:pPr>
            <a:r>
              <a:rPr lang="en-IN" dirty="0"/>
              <a:t>For none of Branch, </a:t>
            </a:r>
            <a:r>
              <a:rPr lang="en-IN" b="1" dirty="0" err="1"/>
              <a:t>jal</a:t>
            </a:r>
            <a:r>
              <a:rPr lang="en-IN" dirty="0"/>
              <a:t> or </a:t>
            </a:r>
            <a:r>
              <a:rPr lang="en-IN" b="1" dirty="0"/>
              <a:t>jalr</a:t>
            </a:r>
            <a:r>
              <a:rPr lang="en-IN" dirty="0"/>
              <a:t> we simply loads the </a:t>
            </a:r>
            <a:r>
              <a:rPr lang="en-IN" b="1" dirty="0"/>
              <a:t>PC</a:t>
            </a:r>
            <a:r>
              <a:rPr lang="en-IN" dirty="0"/>
              <a:t> to </a:t>
            </a:r>
            <a:r>
              <a:rPr lang="en-IN" b="1" dirty="0"/>
              <a:t>PC</a:t>
            </a:r>
            <a:r>
              <a:rPr lang="en-IN" dirty="0"/>
              <a:t> + </a:t>
            </a:r>
            <a:r>
              <a:rPr lang="en-IN" b="1" dirty="0"/>
              <a:t>4</a:t>
            </a:r>
            <a:r>
              <a:rPr lang="en-IN" dirty="0"/>
              <a:t> to point to the next instruction.</a:t>
            </a:r>
          </a:p>
          <a:p>
            <a:pPr marL="0" indent="0">
              <a:buNone/>
            </a:pPr>
            <a:r>
              <a:rPr lang="en-IN" dirty="0"/>
              <a:t>We will take branch only if Branch signal from the CU is high i.e. it is indeed a Branch Instruction and any of the </a:t>
            </a:r>
            <a:r>
              <a:rPr lang="en-IN" b="1" dirty="0" err="1"/>
              <a:t>beq</a:t>
            </a:r>
            <a:r>
              <a:rPr lang="en-IN" dirty="0"/>
              <a:t>, </a:t>
            </a:r>
            <a:r>
              <a:rPr lang="en-IN" b="1" dirty="0" err="1"/>
              <a:t>bne</a:t>
            </a:r>
            <a:r>
              <a:rPr lang="en-IN" dirty="0"/>
              <a:t>, </a:t>
            </a:r>
            <a:r>
              <a:rPr lang="en-IN" b="1" dirty="0" err="1"/>
              <a:t>blt</a:t>
            </a:r>
            <a:r>
              <a:rPr lang="en-IN" dirty="0"/>
              <a:t>, </a:t>
            </a:r>
            <a:r>
              <a:rPr lang="en-IN" b="1" dirty="0" err="1"/>
              <a:t>bge</a:t>
            </a:r>
            <a:r>
              <a:rPr lang="en-IN" dirty="0"/>
              <a:t>, </a:t>
            </a:r>
            <a:r>
              <a:rPr lang="en-IN" b="1" dirty="0" err="1"/>
              <a:t>bltu</a:t>
            </a:r>
            <a:r>
              <a:rPr lang="en-IN" dirty="0"/>
              <a:t> and </a:t>
            </a:r>
            <a:r>
              <a:rPr lang="en-IN" b="1" dirty="0" err="1"/>
              <a:t>bgeu</a:t>
            </a:r>
            <a:r>
              <a:rPr lang="en-IN" dirty="0"/>
              <a:t> is </a:t>
            </a:r>
            <a:r>
              <a:rPr lang="en-IN" b="1" dirty="0"/>
              <a:t>TRUE</a:t>
            </a:r>
            <a:r>
              <a:rPr lang="en-IN" dirty="0"/>
              <a:t>. Otherwise we will not take branch i.e. the condition is FALSE.</a:t>
            </a:r>
          </a:p>
          <a:p>
            <a:pPr>
              <a:buFont typeface="Wingdings" panose="05000000000000000000" pitchFamily="2" charset="2"/>
              <a:buChar char="Ø"/>
            </a:pPr>
            <a:r>
              <a:rPr lang="en-IN" b="1" dirty="0" err="1"/>
              <a:t>beq</a:t>
            </a:r>
            <a:r>
              <a:rPr lang="en-IN" dirty="0"/>
              <a:t> is </a:t>
            </a:r>
            <a:r>
              <a:rPr lang="en-IN" b="1" dirty="0"/>
              <a:t>TRUE</a:t>
            </a:r>
            <a:r>
              <a:rPr lang="en-IN" dirty="0"/>
              <a:t> if </a:t>
            </a:r>
            <a:r>
              <a:rPr lang="en-IN" b="1" dirty="0"/>
              <a:t>ALU</a:t>
            </a:r>
            <a:r>
              <a:rPr lang="en-IN" dirty="0"/>
              <a:t> </a:t>
            </a:r>
            <a:r>
              <a:rPr lang="en-IN" b="1" dirty="0"/>
              <a:t>Result</a:t>
            </a:r>
            <a:r>
              <a:rPr lang="en-IN" dirty="0"/>
              <a:t> is </a:t>
            </a:r>
            <a:r>
              <a:rPr lang="en-IN" b="1" dirty="0"/>
              <a:t>Zero</a:t>
            </a:r>
            <a:r>
              <a:rPr lang="en-IN" dirty="0"/>
              <a:t> (since A – B = 0) and </a:t>
            </a:r>
            <a:r>
              <a:rPr lang="en-IN" b="1" dirty="0"/>
              <a:t>funct3</a:t>
            </a:r>
            <a:r>
              <a:rPr lang="en-IN" dirty="0"/>
              <a:t> = </a:t>
            </a:r>
            <a:r>
              <a:rPr lang="en-IN" b="1" dirty="0"/>
              <a:t>000</a:t>
            </a:r>
          </a:p>
          <a:p>
            <a:pPr>
              <a:buFont typeface="Wingdings" panose="05000000000000000000" pitchFamily="2" charset="2"/>
              <a:buChar char="Ø"/>
            </a:pPr>
            <a:r>
              <a:rPr lang="en-IN" b="1" dirty="0" err="1"/>
              <a:t>bne</a:t>
            </a:r>
            <a:r>
              <a:rPr lang="en-IN" dirty="0"/>
              <a:t> is </a:t>
            </a:r>
            <a:r>
              <a:rPr lang="en-IN" b="1" dirty="0"/>
              <a:t>TRUE</a:t>
            </a:r>
            <a:r>
              <a:rPr lang="en-IN" dirty="0"/>
              <a:t> if </a:t>
            </a:r>
            <a:r>
              <a:rPr lang="en-IN" b="1" dirty="0"/>
              <a:t>ALU</a:t>
            </a:r>
            <a:r>
              <a:rPr lang="en-IN" dirty="0"/>
              <a:t> </a:t>
            </a:r>
            <a:r>
              <a:rPr lang="en-IN" b="1" dirty="0"/>
              <a:t>Result</a:t>
            </a:r>
            <a:r>
              <a:rPr lang="en-IN" dirty="0"/>
              <a:t> is not </a:t>
            </a:r>
            <a:r>
              <a:rPr lang="en-IN" b="1" dirty="0"/>
              <a:t>Zero</a:t>
            </a:r>
            <a:r>
              <a:rPr lang="en-IN" dirty="0"/>
              <a:t> (since A != B, A – B != 0) and </a:t>
            </a:r>
            <a:r>
              <a:rPr lang="en-IN" b="1" dirty="0"/>
              <a:t>funct3</a:t>
            </a:r>
            <a:r>
              <a:rPr lang="en-IN" dirty="0"/>
              <a:t> = </a:t>
            </a:r>
            <a:r>
              <a:rPr lang="en-IN" b="1" dirty="0"/>
              <a:t>001</a:t>
            </a:r>
          </a:p>
          <a:p>
            <a:pPr>
              <a:buFont typeface="Wingdings" panose="05000000000000000000" pitchFamily="2" charset="2"/>
              <a:buChar char="Ø"/>
            </a:pPr>
            <a:r>
              <a:rPr lang="en-IN" b="1" dirty="0" err="1"/>
              <a:t>blt</a:t>
            </a:r>
            <a:r>
              <a:rPr lang="en-IN" dirty="0"/>
              <a:t> is </a:t>
            </a:r>
            <a:r>
              <a:rPr lang="en-IN" b="1" dirty="0"/>
              <a:t>TRUE</a:t>
            </a:r>
            <a:r>
              <a:rPr lang="en-IN" dirty="0"/>
              <a:t> if the </a:t>
            </a:r>
            <a:r>
              <a:rPr lang="en-IN" b="1" dirty="0"/>
              <a:t>LSB</a:t>
            </a:r>
            <a:r>
              <a:rPr lang="en-IN" dirty="0"/>
              <a:t> of the </a:t>
            </a:r>
            <a:r>
              <a:rPr lang="en-IN" b="1" dirty="0"/>
              <a:t>ALU</a:t>
            </a:r>
            <a:r>
              <a:rPr lang="en-IN" dirty="0"/>
              <a:t> </a:t>
            </a:r>
            <a:r>
              <a:rPr lang="en-IN" b="1" dirty="0"/>
              <a:t>Result</a:t>
            </a:r>
            <a:r>
              <a:rPr lang="en-IN" dirty="0"/>
              <a:t> = 1 (for comparison the whole ALU Result is 1 if A &lt; B and the whole ALU Result is 0 if A &gt; B, so, we are just choosing the </a:t>
            </a:r>
            <a:r>
              <a:rPr lang="en-IN" b="1" dirty="0"/>
              <a:t>LSB</a:t>
            </a:r>
            <a:r>
              <a:rPr lang="en-IN" dirty="0"/>
              <a:t>, you could choose the whole </a:t>
            </a:r>
            <a:r>
              <a:rPr lang="en-IN" b="1" dirty="0"/>
              <a:t>ALU</a:t>
            </a:r>
            <a:r>
              <a:rPr lang="en-IN" dirty="0"/>
              <a:t> </a:t>
            </a:r>
            <a:r>
              <a:rPr lang="en-IN" b="1" dirty="0"/>
              <a:t>Result</a:t>
            </a:r>
            <a:r>
              <a:rPr lang="en-IN" dirty="0"/>
              <a:t> if you want) and </a:t>
            </a:r>
            <a:r>
              <a:rPr lang="en-IN" b="1" dirty="0"/>
              <a:t>funct3</a:t>
            </a:r>
            <a:r>
              <a:rPr lang="en-IN" dirty="0"/>
              <a:t> = </a:t>
            </a:r>
            <a:r>
              <a:rPr lang="en-IN" b="1" dirty="0"/>
              <a:t>100</a:t>
            </a:r>
          </a:p>
          <a:p>
            <a:pPr>
              <a:buFont typeface="Wingdings" panose="05000000000000000000" pitchFamily="2" charset="2"/>
              <a:buChar char="Ø"/>
            </a:pPr>
            <a:r>
              <a:rPr lang="en-IN" b="1" dirty="0" err="1"/>
              <a:t>bge</a:t>
            </a:r>
            <a:r>
              <a:rPr lang="en-IN" dirty="0"/>
              <a:t> is </a:t>
            </a:r>
            <a:r>
              <a:rPr lang="en-IN" b="1" dirty="0"/>
              <a:t>TRUE</a:t>
            </a:r>
            <a:r>
              <a:rPr lang="en-IN" dirty="0"/>
              <a:t> if the </a:t>
            </a:r>
            <a:r>
              <a:rPr lang="en-IN" b="1" dirty="0"/>
              <a:t>LSB</a:t>
            </a:r>
            <a:r>
              <a:rPr lang="en-IN" dirty="0"/>
              <a:t> of the </a:t>
            </a:r>
            <a:r>
              <a:rPr lang="en-IN" b="1" dirty="0"/>
              <a:t>ALU</a:t>
            </a:r>
            <a:r>
              <a:rPr lang="en-IN" dirty="0"/>
              <a:t> </a:t>
            </a:r>
            <a:r>
              <a:rPr lang="en-IN" b="1" dirty="0"/>
              <a:t>Result</a:t>
            </a:r>
            <a:r>
              <a:rPr lang="en-IN" dirty="0"/>
              <a:t> != 1 (i.e. A &gt; B) and </a:t>
            </a:r>
            <a:r>
              <a:rPr lang="en-IN" b="1" dirty="0"/>
              <a:t>funct3</a:t>
            </a:r>
            <a:r>
              <a:rPr lang="en-IN" dirty="0"/>
              <a:t> = </a:t>
            </a:r>
            <a:r>
              <a:rPr lang="en-IN" b="1" dirty="0"/>
              <a:t>101</a:t>
            </a:r>
          </a:p>
          <a:p>
            <a:pPr>
              <a:buFont typeface="Wingdings" panose="05000000000000000000" pitchFamily="2" charset="2"/>
              <a:buChar char="Ø"/>
            </a:pPr>
            <a:r>
              <a:rPr lang="en-IN" b="1" dirty="0" err="1"/>
              <a:t>bltu</a:t>
            </a:r>
            <a:r>
              <a:rPr lang="en-IN" dirty="0"/>
              <a:t> and </a:t>
            </a:r>
            <a:r>
              <a:rPr lang="en-IN" b="1" dirty="0" err="1"/>
              <a:t>bgeu</a:t>
            </a:r>
            <a:r>
              <a:rPr lang="en-IN" dirty="0"/>
              <a:t> is </a:t>
            </a:r>
            <a:r>
              <a:rPr lang="en-IN" b="1" dirty="0"/>
              <a:t>TRUE</a:t>
            </a:r>
            <a:r>
              <a:rPr lang="en-IN" dirty="0"/>
              <a:t> just like </a:t>
            </a:r>
            <a:r>
              <a:rPr lang="en-IN" b="1" dirty="0" err="1"/>
              <a:t>blt</a:t>
            </a:r>
            <a:r>
              <a:rPr lang="en-IN" dirty="0"/>
              <a:t> and </a:t>
            </a:r>
            <a:r>
              <a:rPr lang="en-IN" b="1" dirty="0" err="1"/>
              <a:t>bge</a:t>
            </a:r>
            <a:r>
              <a:rPr lang="en-IN" dirty="0"/>
              <a:t> respectively and </a:t>
            </a:r>
            <a:r>
              <a:rPr lang="en-IN" b="1" dirty="0"/>
              <a:t>funct3</a:t>
            </a:r>
            <a:r>
              <a:rPr lang="en-IN" dirty="0"/>
              <a:t> = </a:t>
            </a:r>
            <a:r>
              <a:rPr lang="en-IN" b="1" dirty="0"/>
              <a:t>110</a:t>
            </a:r>
            <a:r>
              <a:rPr lang="en-IN" dirty="0"/>
              <a:t> and </a:t>
            </a:r>
            <a:r>
              <a:rPr lang="en-IN" b="1" dirty="0"/>
              <a:t>111</a:t>
            </a:r>
            <a:r>
              <a:rPr lang="en-IN" dirty="0"/>
              <a:t> respectively</a:t>
            </a:r>
          </a:p>
          <a:p>
            <a:pPr>
              <a:buFont typeface="Wingdings" panose="05000000000000000000" pitchFamily="2" charset="2"/>
              <a:buChar char="Ø"/>
            </a:pPr>
            <a:endParaRPr lang="en-IN" dirty="0"/>
          </a:p>
          <a:p>
            <a:pPr>
              <a:buFont typeface="Wingdings" panose="05000000000000000000" pitchFamily="2" charset="2"/>
              <a:buChar char="Ø"/>
            </a:pPr>
            <a:endParaRPr lang="en-IN" dirty="0"/>
          </a:p>
        </p:txBody>
      </p:sp>
      <p:pic>
        <p:nvPicPr>
          <p:cNvPr id="5" name="Picture 4">
            <a:extLst>
              <a:ext uri="{FF2B5EF4-FFF2-40B4-BE49-F238E27FC236}">
                <a16:creationId xmlns:a16="http://schemas.microsoft.com/office/drawing/2014/main" id="{49FC7F5C-8369-3E72-B4BE-F9125F3689E2}"/>
              </a:ext>
            </a:extLst>
          </p:cNvPr>
          <p:cNvPicPr>
            <a:picLocks noChangeAspect="1"/>
          </p:cNvPicPr>
          <p:nvPr/>
        </p:nvPicPr>
        <p:blipFill>
          <a:blip r:embed="rId2"/>
          <a:stretch>
            <a:fillRect/>
          </a:stretch>
        </p:blipFill>
        <p:spPr>
          <a:xfrm>
            <a:off x="7719464" y="723900"/>
            <a:ext cx="4104235" cy="1372850"/>
          </a:xfrm>
          <a:prstGeom prst="rect">
            <a:avLst/>
          </a:prstGeom>
        </p:spPr>
      </p:pic>
    </p:spTree>
    <p:extLst>
      <p:ext uri="{BB962C8B-B14F-4D97-AF65-F5344CB8AC3E}">
        <p14:creationId xmlns:p14="http://schemas.microsoft.com/office/powerpoint/2010/main" val="2509934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B36B2-6BBC-43EE-44DC-90D6514E264B}"/>
              </a:ext>
            </a:extLst>
          </p:cNvPr>
          <p:cNvSpPr>
            <a:spLocks noGrp="1"/>
          </p:cNvSpPr>
          <p:nvPr>
            <p:ph type="title"/>
          </p:nvPr>
        </p:nvSpPr>
        <p:spPr>
          <a:xfrm>
            <a:off x="750367" y="0"/>
            <a:ext cx="10691265" cy="685800"/>
          </a:xfrm>
        </p:spPr>
        <p:txBody>
          <a:bodyPr>
            <a:normAutofit fontScale="90000"/>
          </a:bodyPr>
          <a:lstStyle/>
          <a:p>
            <a:pPr algn="ctr"/>
            <a:r>
              <a:rPr lang="en-US" dirty="0"/>
              <a:t>The top module </a:t>
            </a:r>
            <a:endParaRPr lang="en-IN" dirty="0"/>
          </a:p>
        </p:txBody>
      </p:sp>
      <p:sp>
        <p:nvSpPr>
          <p:cNvPr id="3" name="Content Placeholder 2">
            <a:extLst>
              <a:ext uri="{FF2B5EF4-FFF2-40B4-BE49-F238E27FC236}">
                <a16:creationId xmlns:a16="http://schemas.microsoft.com/office/drawing/2014/main" id="{698D5B4E-AC8E-3816-C4B8-3AB5DA010235}"/>
              </a:ext>
            </a:extLst>
          </p:cNvPr>
          <p:cNvSpPr>
            <a:spLocks noGrp="1"/>
          </p:cNvSpPr>
          <p:nvPr>
            <p:ph idx="1"/>
          </p:nvPr>
        </p:nvSpPr>
        <p:spPr>
          <a:xfrm>
            <a:off x="700635" y="685800"/>
            <a:ext cx="10691265" cy="5448300"/>
          </a:xfrm>
        </p:spPr>
        <p:txBody>
          <a:bodyPr/>
          <a:lstStyle/>
          <a:p>
            <a:pPr marL="0" indent="0">
              <a:buNone/>
            </a:pPr>
            <a:r>
              <a:rPr lang="en-US" dirty="0"/>
              <a:t>So, from the above discussion, we will load the PC accordingly.</a:t>
            </a:r>
          </a:p>
          <a:p>
            <a:pPr>
              <a:buFont typeface="Wingdings" panose="05000000000000000000" pitchFamily="2" charset="2"/>
              <a:buChar char="Ø"/>
            </a:pPr>
            <a:r>
              <a:rPr lang="en-US" dirty="0"/>
              <a:t>For </a:t>
            </a:r>
            <a:r>
              <a:rPr lang="en-US" dirty="0" err="1"/>
              <a:t>jalr</a:t>
            </a:r>
            <a:r>
              <a:rPr lang="en-US" dirty="0"/>
              <a:t>, we have ANDed 32’hfffffffe to</a:t>
            </a:r>
          </a:p>
          <a:p>
            <a:pPr marL="0" indent="0">
              <a:buNone/>
            </a:pPr>
            <a:r>
              <a:rPr lang="en-US" dirty="0"/>
              <a:t>ensure word alignment i.e. to make sure that </a:t>
            </a:r>
          </a:p>
          <a:p>
            <a:pPr marL="0" indent="0">
              <a:buNone/>
            </a:pPr>
            <a:r>
              <a:rPr lang="en-US" dirty="0"/>
              <a:t>the two LSB bits of the </a:t>
            </a:r>
            <a:r>
              <a:rPr lang="en-US" dirty="0" err="1"/>
              <a:t>jalr_target</a:t>
            </a:r>
            <a:r>
              <a:rPr lang="en-US" dirty="0"/>
              <a:t> is indeed </a:t>
            </a:r>
          </a:p>
          <a:p>
            <a:pPr marL="0" indent="0">
              <a:buNone/>
            </a:pPr>
            <a:r>
              <a:rPr lang="en-US" dirty="0"/>
              <a:t>0.</a:t>
            </a:r>
          </a:p>
          <a:p>
            <a:pPr marL="0" indent="0">
              <a:buNone/>
            </a:pPr>
            <a:endParaRPr lang="en-US" dirty="0"/>
          </a:p>
          <a:p>
            <a:pPr marL="0" indent="0">
              <a:buNone/>
            </a:pPr>
            <a:endParaRPr lang="en-US" dirty="0"/>
          </a:p>
          <a:p>
            <a:pPr marL="0" indent="0">
              <a:buNone/>
            </a:pPr>
            <a:endParaRPr lang="en-US" dirty="0"/>
          </a:p>
          <a:p>
            <a:pPr marL="0" indent="0">
              <a:buNone/>
            </a:pPr>
            <a:r>
              <a:rPr lang="en-US" dirty="0"/>
              <a:t>We have designed the Top Module following the classic Diagram of the RISCV Architecture, step by step, module by module. In many cases, we have used redundant wires for education purpose only.</a:t>
            </a:r>
            <a:endParaRPr lang="en-IN" dirty="0"/>
          </a:p>
        </p:txBody>
      </p:sp>
      <p:pic>
        <p:nvPicPr>
          <p:cNvPr id="7" name="Picture 6">
            <a:extLst>
              <a:ext uri="{FF2B5EF4-FFF2-40B4-BE49-F238E27FC236}">
                <a16:creationId xmlns:a16="http://schemas.microsoft.com/office/drawing/2014/main" id="{CCDB0413-0573-1D34-9A89-DA48DC33AFA5}"/>
              </a:ext>
            </a:extLst>
          </p:cNvPr>
          <p:cNvPicPr>
            <a:picLocks noChangeAspect="1"/>
          </p:cNvPicPr>
          <p:nvPr/>
        </p:nvPicPr>
        <p:blipFill>
          <a:blip r:embed="rId2"/>
          <a:stretch>
            <a:fillRect/>
          </a:stretch>
        </p:blipFill>
        <p:spPr>
          <a:xfrm>
            <a:off x="5726581" y="1206501"/>
            <a:ext cx="5665319" cy="2550304"/>
          </a:xfrm>
          <a:prstGeom prst="rect">
            <a:avLst/>
          </a:prstGeom>
        </p:spPr>
      </p:pic>
    </p:spTree>
    <p:extLst>
      <p:ext uri="{BB962C8B-B14F-4D97-AF65-F5344CB8AC3E}">
        <p14:creationId xmlns:p14="http://schemas.microsoft.com/office/powerpoint/2010/main" val="20466065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E030B-4A8B-C01A-FF76-F7781F74BDD0}"/>
              </a:ext>
            </a:extLst>
          </p:cNvPr>
          <p:cNvSpPr>
            <a:spLocks noGrp="1"/>
          </p:cNvSpPr>
          <p:nvPr>
            <p:ph type="title"/>
          </p:nvPr>
        </p:nvSpPr>
        <p:spPr>
          <a:xfrm>
            <a:off x="700635" y="88900"/>
            <a:ext cx="10691265" cy="635000"/>
          </a:xfrm>
        </p:spPr>
        <p:txBody>
          <a:bodyPr>
            <a:normAutofit fontScale="90000"/>
          </a:bodyPr>
          <a:lstStyle/>
          <a:p>
            <a:pPr algn="ctr"/>
            <a:r>
              <a:rPr lang="en-US"/>
              <a:t>Testing and simulation</a:t>
            </a:r>
            <a:endParaRPr lang="en-IN" dirty="0"/>
          </a:p>
        </p:txBody>
      </p:sp>
      <p:sp>
        <p:nvSpPr>
          <p:cNvPr id="3" name="Content Placeholder 2">
            <a:extLst>
              <a:ext uri="{FF2B5EF4-FFF2-40B4-BE49-F238E27FC236}">
                <a16:creationId xmlns:a16="http://schemas.microsoft.com/office/drawing/2014/main" id="{83C3F300-BEB4-C948-9916-6EF3097E3B10}"/>
              </a:ext>
            </a:extLst>
          </p:cNvPr>
          <p:cNvSpPr>
            <a:spLocks noGrp="1"/>
          </p:cNvSpPr>
          <p:nvPr>
            <p:ph idx="1"/>
          </p:nvPr>
        </p:nvSpPr>
        <p:spPr>
          <a:xfrm>
            <a:off x="700635" y="723900"/>
            <a:ext cx="10691265" cy="5237988"/>
          </a:xfrm>
        </p:spPr>
        <p:txBody>
          <a:bodyPr>
            <a:normAutofit fontScale="77500" lnSpcReduction="20000"/>
          </a:bodyPr>
          <a:lstStyle/>
          <a:p>
            <a:pPr marL="0" indent="0">
              <a:buNone/>
            </a:pPr>
            <a:r>
              <a:rPr lang="en-US" dirty="0"/>
              <a:t>We have written all the Verilog Codes in the EDA Playground for sharing purpose. The Processor has been tested with different programs like Fibonacci Series, GCD, Bubble Sort, Sum of N natural number etc. Steps to run a program using this Processor :</a:t>
            </a:r>
          </a:p>
          <a:p>
            <a:pPr marL="0" indent="0">
              <a:buNone/>
            </a:pPr>
            <a:br>
              <a:rPr lang="en-US" dirty="0"/>
            </a:br>
            <a:r>
              <a:rPr lang="en-US" b="1" dirty="0" err="1"/>
              <a:t>i</a:t>
            </a:r>
            <a:r>
              <a:rPr lang="en-US" b="1" dirty="0"/>
              <a:t>) Write the program in Assembly Language.</a:t>
            </a:r>
          </a:p>
          <a:p>
            <a:pPr marL="0" indent="0">
              <a:buNone/>
            </a:pPr>
            <a:r>
              <a:rPr lang="en-US" b="1" dirty="0"/>
              <a:t>ii) Use an Assembler (RISCV toolchain) to get the .hex file.</a:t>
            </a:r>
          </a:p>
          <a:p>
            <a:pPr marL="0" indent="0">
              <a:buNone/>
            </a:pPr>
            <a:r>
              <a:rPr lang="en-US" b="1" dirty="0"/>
              <a:t>iii) Make a .hex file and change the name of the file in the </a:t>
            </a:r>
            <a:r>
              <a:rPr lang="en-US" b="1" dirty="0" err="1"/>
              <a:t>instructionMemory.v</a:t>
            </a:r>
            <a:r>
              <a:rPr lang="en-US" b="1" dirty="0"/>
              <a:t> or just paste the contents of your .hex file in the </a:t>
            </a:r>
            <a:r>
              <a:rPr lang="en-US" b="1" dirty="0" err="1"/>
              <a:t>test_program.hex</a:t>
            </a:r>
            <a:endParaRPr lang="en-US" b="1" dirty="0"/>
          </a:p>
          <a:p>
            <a:pPr marL="0" indent="0">
              <a:buNone/>
            </a:pPr>
            <a:r>
              <a:rPr lang="en-US" b="1" dirty="0"/>
              <a:t>iv) Just Save and Run the Simulation!</a:t>
            </a:r>
          </a:p>
          <a:p>
            <a:pPr marL="0" indent="0">
              <a:buNone/>
            </a:pPr>
            <a:r>
              <a:rPr lang="en-US" b="1" dirty="0"/>
              <a:t>v) A test bench is already provided </a:t>
            </a:r>
          </a:p>
          <a:p>
            <a:pPr marL="0" indent="0">
              <a:buNone/>
            </a:pPr>
            <a:r>
              <a:rPr lang="en-US" b="1" dirty="0"/>
              <a:t>Link to EDA Playground : </a:t>
            </a:r>
            <a:r>
              <a:rPr lang="en-US" b="1" dirty="0">
                <a:hlinkClick r:id="rId2"/>
              </a:rPr>
              <a:t>RISCV Single Cycle Processor - EDA Playground</a:t>
            </a:r>
            <a:endParaRPr lang="en-US" b="1" dirty="0"/>
          </a:p>
          <a:p>
            <a:pPr marL="0" indent="0">
              <a:buNone/>
            </a:pPr>
            <a:r>
              <a:rPr lang="en-US" b="1" dirty="0"/>
              <a:t>Links to my GitHub :</a:t>
            </a:r>
          </a:p>
          <a:p>
            <a:pPr marL="0" indent="0">
              <a:buNone/>
            </a:pPr>
            <a:r>
              <a:rPr lang="en-US" b="1" dirty="0" err="1"/>
              <a:t>i</a:t>
            </a:r>
            <a:r>
              <a:rPr lang="en-US" b="1" dirty="0"/>
              <a:t>) Verilog Based Implementation : https://github.com/Anish-Rooj-cpu/Single-Cycle-RISCV-Processor-using-Verilog-HDL</a:t>
            </a:r>
          </a:p>
          <a:p>
            <a:pPr marL="0" indent="0">
              <a:buNone/>
            </a:pPr>
            <a:r>
              <a:rPr lang="en-US" b="1" dirty="0"/>
              <a:t>ii) Digital Software Based Implementation (way cooler and you can easily see what really is going on inside the Processor!) : https://github.com/Anish-Rooj-cpu/Single-Cycle-RISCV-Processor-using-Digital-Software</a:t>
            </a:r>
          </a:p>
          <a:p>
            <a:pPr marL="0" indent="0">
              <a:buNone/>
            </a:pPr>
            <a:r>
              <a:rPr lang="en-US" b="1" dirty="0"/>
              <a:t>Finally, let's connect on LinkedIn : www.linkedin.com/in/anish-rooj-6b6746275</a:t>
            </a:r>
            <a:endParaRPr lang="en-IN" b="1" dirty="0"/>
          </a:p>
        </p:txBody>
      </p:sp>
    </p:spTree>
    <p:extLst>
      <p:ext uri="{BB962C8B-B14F-4D97-AF65-F5344CB8AC3E}">
        <p14:creationId xmlns:p14="http://schemas.microsoft.com/office/powerpoint/2010/main" val="1815549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FA195-9430-DE31-E8CB-CF3C5EF48753}"/>
              </a:ext>
            </a:extLst>
          </p:cNvPr>
          <p:cNvSpPr>
            <a:spLocks noGrp="1"/>
          </p:cNvSpPr>
          <p:nvPr>
            <p:ph type="title"/>
          </p:nvPr>
        </p:nvSpPr>
        <p:spPr>
          <a:xfrm>
            <a:off x="750367" y="0"/>
            <a:ext cx="10691265" cy="673100"/>
          </a:xfrm>
        </p:spPr>
        <p:txBody>
          <a:bodyPr>
            <a:normAutofit fontScale="90000"/>
          </a:bodyPr>
          <a:lstStyle/>
          <a:p>
            <a:pPr algn="ctr"/>
            <a:r>
              <a:rPr lang="en-US"/>
              <a:t>A test Program </a:t>
            </a:r>
            <a:endParaRPr lang="en-IN" dirty="0"/>
          </a:p>
        </p:txBody>
      </p:sp>
      <p:pic>
        <p:nvPicPr>
          <p:cNvPr id="5" name="Content Placeholder 4">
            <a:extLst>
              <a:ext uri="{FF2B5EF4-FFF2-40B4-BE49-F238E27FC236}">
                <a16:creationId xmlns:a16="http://schemas.microsoft.com/office/drawing/2014/main" id="{7CCD4574-7C3D-157C-1CBE-964EE4D0B241}"/>
              </a:ext>
            </a:extLst>
          </p:cNvPr>
          <p:cNvPicPr>
            <a:picLocks noGrp="1" noChangeAspect="1"/>
          </p:cNvPicPr>
          <p:nvPr>
            <p:ph idx="1"/>
          </p:nvPr>
        </p:nvPicPr>
        <p:blipFill>
          <a:blip r:embed="rId2"/>
          <a:stretch>
            <a:fillRect/>
          </a:stretch>
        </p:blipFill>
        <p:spPr>
          <a:xfrm>
            <a:off x="865282" y="958585"/>
            <a:ext cx="5460824" cy="2064015"/>
          </a:xfrm>
          <a:ln>
            <a:solidFill>
              <a:schemeClr val="tx1"/>
            </a:solidFill>
          </a:ln>
        </p:spPr>
      </p:pic>
      <p:pic>
        <p:nvPicPr>
          <p:cNvPr id="7" name="Picture 6">
            <a:extLst>
              <a:ext uri="{FF2B5EF4-FFF2-40B4-BE49-F238E27FC236}">
                <a16:creationId xmlns:a16="http://schemas.microsoft.com/office/drawing/2014/main" id="{9603C581-9684-C8CC-1C73-3FC63A2AEAB5}"/>
              </a:ext>
            </a:extLst>
          </p:cNvPr>
          <p:cNvPicPr>
            <a:picLocks noChangeAspect="1"/>
          </p:cNvPicPr>
          <p:nvPr/>
        </p:nvPicPr>
        <p:blipFill>
          <a:blip r:embed="rId3"/>
          <a:stretch>
            <a:fillRect/>
          </a:stretch>
        </p:blipFill>
        <p:spPr>
          <a:xfrm>
            <a:off x="8118319" y="958585"/>
            <a:ext cx="2229161" cy="2064015"/>
          </a:xfrm>
          <a:prstGeom prst="rect">
            <a:avLst/>
          </a:prstGeom>
          <a:ln>
            <a:solidFill>
              <a:schemeClr val="tx1"/>
            </a:solidFill>
          </a:ln>
        </p:spPr>
      </p:pic>
      <p:pic>
        <p:nvPicPr>
          <p:cNvPr id="11" name="Picture 10">
            <a:extLst>
              <a:ext uri="{FF2B5EF4-FFF2-40B4-BE49-F238E27FC236}">
                <a16:creationId xmlns:a16="http://schemas.microsoft.com/office/drawing/2014/main" id="{E83D5695-C421-7DB8-2614-165EC0F1D7E2}"/>
              </a:ext>
            </a:extLst>
          </p:cNvPr>
          <p:cNvPicPr>
            <a:picLocks noChangeAspect="1"/>
          </p:cNvPicPr>
          <p:nvPr/>
        </p:nvPicPr>
        <p:blipFill>
          <a:blip r:embed="rId4"/>
          <a:stretch>
            <a:fillRect/>
          </a:stretch>
        </p:blipFill>
        <p:spPr>
          <a:xfrm>
            <a:off x="5980808" y="3110880"/>
            <a:ext cx="5460824" cy="2788535"/>
          </a:xfrm>
          <a:prstGeom prst="rect">
            <a:avLst/>
          </a:prstGeom>
          <a:ln>
            <a:solidFill>
              <a:schemeClr val="tx1"/>
            </a:solidFill>
          </a:ln>
        </p:spPr>
      </p:pic>
      <p:pic>
        <p:nvPicPr>
          <p:cNvPr id="15" name="Picture 14">
            <a:extLst>
              <a:ext uri="{FF2B5EF4-FFF2-40B4-BE49-F238E27FC236}">
                <a16:creationId xmlns:a16="http://schemas.microsoft.com/office/drawing/2014/main" id="{1D63548F-8242-C841-D37A-0E279B9BE7FC}"/>
              </a:ext>
            </a:extLst>
          </p:cNvPr>
          <p:cNvPicPr>
            <a:picLocks noChangeAspect="1"/>
          </p:cNvPicPr>
          <p:nvPr/>
        </p:nvPicPr>
        <p:blipFill>
          <a:blip r:embed="rId5"/>
          <a:stretch>
            <a:fillRect/>
          </a:stretch>
        </p:blipFill>
        <p:spPr>
          <a:xfrm>
            <a:off x="865282" y="3110880"/>
            <a:ext cx="3876571" cy="2788535"/>
          </a:xfrm>
          <a:prstGeom prst="rect">
            <a:avLst/>
          </a:prstGeom>
          <a:ln>
            <a:solidFill>
              <a:schemeClr val="tx1"/>
            </a:solidFill>
          </a:ln>
        </p:spPr>
      </p:pic>
      <p:cxnSp>
        <p:nvCxnSpPr>
          <p:cNvPr id="21" name="Straight Arrow Connector 20">
            <a:extLst>
              <a:ext uri="{FF2B5EF4-FFF2-40B4-BE49-F238E27FC236}">
                <a16:creationId xmlns:a16="http://schemas.microsoft.com/office/drawing/2014/main" id="{DA5EDE07-3FFD-3EAE-52BE-7035560F7772}"/>
              </a:ext>
            </a:extLst>
          </p:cNvPr>
          <p:cNvCxnSpPr>
            <a:stCxn id="5" idx="3"/>
            <a:endCxn id="7" idx="1"/>
          </p:cNvCxnSpPr>
          <p:nvPr/>
        </p:nvCxnSpPr>
        <p:spPr>
          <a:xfrm>
            <a:off x="6326106" y="1990593"/>
            <a:ext cx="179221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DDA8B604-7B4F-363D-54A5-B04A455D54D8}"/>
              </a:ext>
            </a:extLst>
          </p:cNvPr>
          <p:cNvCxnSpPr>
            <a:stCxn id="7" idx="3"/>
          </p:cNvCxnSpPr>
          <p:nvPr/>
        </p:nvCxnSpPr>
        <p:spPr>
          <a:xfrm>
            <a:off x="10347480" y="1990593"/>
            <a:ext cx="511020" cy="3307"/>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9ABD4178-E678-14B7-36C1-311FB0033ACD}"/>
              </a:ext>
            </a:extLst>
          </p:cNvPr>
          <p:cNvCxnSpPr/>
          <p:nvPr/>
        </p:nvCxnSpPr>
        <p:spPr>
          <a:xfrm>
            <a:off x="10845800" y="1990593"/>
            <a:ext cx="0" cy="11202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C82C8B67-7DE4-AD53-04FC-49FDB84ADBEA}"/>
              </a:ext>
            </a:extLst>
          </p:cNvPr>
          <p:cNvCxnSpPr>
            <a:stCxn id="11" idx="1"/>
            <a:endCxn id="15" idx="3"/>
          </p:cNvCxnSpPr>
          <p:nvPr/>
        </p:nvCxnSpPr>
        <p:spPr>
          <a:xfrm flipH="1">
            <a:off x="4741853" y="4505148"/>
            <a:ext cx="12389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08195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CAE2F-073C-5DD2-A2C7-08EDCE7DB8B4}"/>
              </a:ext>
            </a:extLst>
          </p:cNvPr>
          <p:cNvSpPr>
            <a:spLocks noGrp="1"/>
          </p:cNvSpPr>
          <p:nvPr>
            <p:ph type="title"/>
          </p:nvPr>
        </p:nvSpPr>
        <p:spPr>
          <a:xfrm>
            <a:off x="840335" y="0"/>
            <a:ext cx="10691265" cy="711200"/>
          </a:xfrm>
        </p:spPr>
        <p:txBody>
          <a:bodyPr/>
          <a:lstStyle/>
          <a:p>
            <a:pPr algn="ctr"/>
            <a:r>
              <a:rPr lang="en-US" dirty="0"/>
              <a:t>references</a:t>
            </a:r>
            <a:endParaRPr lang="en-IN" dirty="0"/>
          </a:p>
        </p:txBody>
      </p:sp>
      <p:sp>
        <p:nvSpPr>
          <p:cNvPr id="3" name="Content Placeholder 2">
            <a:extLst>
              <a:ext uri="{FF2B5EF4-FFF2-40B4-BE49-F238E27FC236}">
                <a16:creationId xmlns:a16="http://schemas.microsoft.com/office/drawing/2014/main" id="{1659EE26-C61F-8E2A-13F8-0024AAE7ED9C}"/>
              </a:ext>
            </a:extLst>
          </p:cNvPr>
          <p:cNvSpPr>
            <a:spLocks noGrp="1"/>
          </p:cNvSpPr>
          <p:nvPr>
            <p:ph idx="1"/>
          </p:nvPr>
        </p:nvSpPr>
        <p:spPr>
          <a:xfrm>
            <a:off x="700635" y="711200"/>
            <a:ext cx="10691265" cy="5410200"/>
          </a:xfrm>
        </p:spPr>
        <p:txBody>
          <a:bodyPr>
            <a:normAutofit/>
          </a:bodyPr>
          <a:lstStyle/>
          <a:p>
            <a:pPr marL="0" indent="0">
              <a:buNone/>
            </a:pPr>
            <a:r>
              <a:rPr lang="en-US" b="1" i="1" dirty="0"/>
              <a:t>1. David A. Patterson, John L. Hennessy</a:t>
            </a:r>
          </a:p>
          <a:p>
            <a:pPr marL="0" indent="0">
              <a:buNone/>
            </a:pPr>
            <a:r>
              <a:rPr lang="en-US" b="1" i="1" dirty="0"/>
              <a:t>Computer Organization and Design: The Hardware/Software Interface (5th Edition, RISC-V Edition)</a:t>
            </a:r>
          </a:p>
          <a:p>
            <a:pPr marL="0" indent="0">
              <a:buNone/>
            </a:pPr>
            <a:r>
              <a:rPr lang="en-US" b="1" i="1" dirty="0"/>
              <a:t>2. RISC-V Instruction Set Manual Volume I: User-Level ISA Version 2.2</a:t>
            </a:r>
          </a:p>
          <a:p>
            <a:pPr marL="0" indent="0">
              <a:buNone/>
            </a:pPr>
            <a:r>
              <a:rPr lang="en-US" b="1" i="1" dirty="0"/>
              <a:t>https://riscv.org/specifications/</a:t>
            </a:r>
          </a:p>
          <a:p>
            <a:pPr marL="0" indent="0">
              <a:buNone/>
            </a:pPr>
            <a:r>
              <a:rPr lang="en-US" b="1" i="1" dirty="0"/>
              <a:t>Official specification for RV32I base integer instruction set architecture. Critical for instruction formats and behavior.</a:t>
            </a:r>
          </a:p>
          <a:p>
            <a:pPr marL="0" indent="0">
              <a:buNone/>
            </a:pPr>
            <a:r>
              <a:rPr lang="en-US" b="1" i="1" dirty="0"/>
              <a:t>3. Wikipedia Contributors RISC-V – Wikipedia Entry : https://en.wikipedia.org/wiki/RISC-V</a:t>
            </a:r>
          </a:p>
          <a:p>
            <a:pPr marL="0" indent="0">
              <a:buNone/>
            </a:pPr>
            <a:r>
              <a:rPr lang="en-US" b="1" i="1" dirty="0"/>
              <a:t>Provides a quick, readable summary of the RISC-V architecture, licensing, and ecosystem.</a:t>
            </a:r>
          </a:p>
          <a:p>
            <a:pPr marL="0" indent="0">
              <a:buNone/>
            </a:pPr>
            <a:r>
              <a:rPr lang="en-US" b="1" i="1" dirty="0"/>
              <a:t>4. Fraser Innovations Blog RISC-V Instruction Set Explanation</a:t>
            </a:r>
          </a:p>
          <a:p>
            <a:pPr marL="0" indent="0">
              <a:buNone/>
            </a:pPr>
            <a:r>
              <a:rPr lang="en-US" b="1" i="1" dirty="0">
                <a:hlinkClick r:id="rId2"/>
              </a:rPr>
              <a:t>https://fraserinnovations.com/risc-v/risc-v-instruction-set-explanation/</a:t>
            </a:r>
            <a:endParaRPr lang="en-US" b="1" i="1" dirty="0"/>
          </a:p>
          <a:p>
            <a:pPr marL="0" indent="0">
              <a:buNone/>
            </a:pPr>
            <a:r>
              <a:rPr lang="en-US" b="1" i="1" dirty="0"/>
              <a:t>5. Verilog HDL by Samir Palnitkar</a:t>
            </a:r>
          </a:p>
          <a:p>
            <a:pPr marL="0" indent="0">
              <a:buNone/>
            </a:pPr>
            <a:endParaRPr lang="en-US" b="1" i="1" dirty="0"/>
          </a:p>
          <a:p>
            <a:pPr marL="0" indent="0">
              <a:buNone/>
            </a:pPr>
            <a:endParaRPr lang="en-IN" b="1" i="1" dirty="0"/>
          </a:p>
        </p:txBody>
      </p:sp>
    </p:spTree>
    <p:extLst>
      <p:ext uri="{BB962C8B-B14F-4D97-AF65-F5344CB8AC3E}">
        <p14:creationId xmlns:p14="http://schemas.microsoft.com/office/powerpoint/2010/main" val="231525471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7B3A4D7-85E4-4D15-A4F6-07624D84A15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TM04033937[[fn=Vapor Trail]]</Template>
  <TotalTime>1497</TotalTime>
  <Words>7075</Words>
  <Application>Microsoft Office PowerPoint</Application>
  <PresentationFormat>Widescreen</PresentationFormat>
  <Paragraphs>706</Paragraphs>
  <Slides>46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Aptos Narrow</vt:lpstr>
      <vt:lpstr>Arial</vt:lpstr>
      <vt:lpstr>Calibri</vt:lpstr>
      <vt:lpstr>Calisto MT</vt:lpstr>
      <vt:lpstr>Segoe UI</vt:lpstr>
      <vt:lpstr>Univers Condensed</vt:lpstr>
      <vt:lpstr>Wingdings</vt:lpstr>
      <vt:lpstr>ChronicleVTI</vt:lpstr>
      <vt:lpstr>Designing a Single Cycle RISCV Processor using Verilog HDL</vt:lpstr>
      <vt:lpstr>PowerPoint Presentation</vt:lpstr>
      <vt:lpstr>What happens when you run a c program</vt:lpstr>
      <vt:lpstr>PowerPoint Presentation</vt:lpstr>
      <vt:lpstr>Different types of instruction set computers</vt:lpstr>
      <vt:lpstr>OUR goal</vt:lpstr>
      <vt:lpstr>The risc-v Base instructions format</vt:lpstr>
      <vt:lpstr>RV32I Instruction Formats: A Classroom Analogy</vt:lpstr>
      <vt:lpstr>Risc-v base instruction formats</vt:lpstr>
      <vt:lpstr>R-type instructions</vt:lpstr>
      <vt:lpstr>The summary of r-type instructions</vt:lpstr>
      <vt:lpstr>i-type instructions</vt:lpstr>
      <vt:lpstr>The summary of I-type instructions</vt:lpstr>
      <vt:lpstr>S-type instructions</vt:lpstr>
      <vt:lpstr>b-type instructions</vt:lpstr>
      <vt:lpstr>Summary of B-type Instructions</vt:lpstr>
      <vt:lpstr>J-type instructions</vt:lpstr>
      <vt:lpstr>U-type instructions</vt:lpstr>
      <vt:lpstr>High level view of the system</vt:lpstr>
      <vt:lpstr>The datapath</vt:lpstr>
      <vt:lpstr>The control unit</vt:lpstr>
      <vt:lpstr>The overall system</vt:lpstr>
      <vt:lpstr>Designing the control unit</vt:lpstr>
      <vt:lpstr>Designing the control unit</vt:lpstr>
      <vt:lpstr>The Verilog code for the control unit</vt:lpstr>
      <vt:lpstr>Designing the alu control block</vt:lpstr>
      <vt:lpstr>The Verilog code for the alu control block</vt:lpstr>
      <vt:lpstr>Designing the arithmetic logic unit (alu)</vt:lpstr>
      <vt:lpstr>THE VERILOG CODE FOR THE ALU</vt:lpstr>
      <vt:lpstr>DESIGINING THE SIGN Extender</vt:lpstr>
      <vt:lpstr>The Verilog code for the Sign extender</vt:lpstr>
      <vt:lpstr>Designing the program counter</vt:lpstr>
      <vt:lpstr>DESIGNING THE INSTRUCTION MEMORY</vt:lpstr>
      <vt:lpstr>The Verilog code for the instruction memory</vt:lpstr>
      <vt:lpstr>Designing the register file</vt:lpstr>
      <vt:lpstr>Verilog code for the register file</vt:lpstr>
      <vt:lpstr>Designing the data memory</vt:lpstr>
      <vt:lpstr>The Verilog code of the data memory</vt:lpstr>
      <vt:lpstr>Designing the pc adder AND THE MUX</vt:lpstr>
      <vt:lpstr>Putting all together : Designing the Top Module</vt:lpstr>
      <vt:lpstr>The top module</vt:lpstr>
      <vt:lpstr>The top module</vt:lpstr>
      <vt:lpstr>The top module </vt:lpstr>
      <vt:lpstr>Testing and simulation</vt:lpstr>
      <vt:lpstr>A test Program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Anish Rooj</dc:creator>
  <cp:lastModifiedBy>Anish Rooj</cp:lastModifiedBy>
  <cp:revision>217</cp:revision>
  <dcterms:created xsi:type="dcterms:W3CDTF">2025-06-17T20:32:24Z</dcterms:created>
  <dcterms:modified xsi:type="dcterms:W3CDTF">2025-11-09T04:43:30Z</dcterms:modified>
</cp:coreProperties>
</file>